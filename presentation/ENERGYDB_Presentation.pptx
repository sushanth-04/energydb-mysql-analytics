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DADC"/>
    <a:srgbClr val="8BB4BA"/>
    <a:srgbClr val="2877A0"/>
    <a:srgbClr val="1720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Emission Share by Energy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A2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9D-4240-9C2C-D0AD7BA87F1D}"/>
              </c:ext>
            </c:extLst>
          </c:dPt>
          <c:dPt>
            <c:idx val="1"/>
            <c:invertIfNegative val="0"/>
            <c:bubble3D val="0"/>
            <c:spPr>
              <a:solidFill>
                <a:srgbClr val="2D8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39D-4240-9C2C-D0AD7BA87F1D}"/>
              </c:ext>
            </c:extLst>
          </c:dPt>
          <c:dPt>
            <c:idx val="2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39D-4240-9C2C-D0AD7BA87F1D}"/>
              </c:ext>
            </c:extLst>
          </c:dPt>
          <c:dPt>
            <c:idx val="3"/>
            <c:invertIfNegative val="0"/>
            <c:bubble3D val="0"/>
            <c:spPr>
              <a:solidFill>
                <a:srgbClr val="357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239D-4240-9C2C-D0AD7BA87F1D}"/>
              </c:ext>
            </c:extLst>
          </c:dPt>
          <c:dPt>
            <c:idx val="4"/>
            <c:invertIfNegative val="0"/>
            <c:bubble3D val="0"/>
            <c:spPr>
              <a:solidFill>
                <a:srgbClr val="2877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239D-4240-9C2C-D0AD7BA87F1D}"/>
              </c:ext>
            </c:extLst>
          </c:dPt>
          <c:dPt>
            <c:idx val="5"/>
            <c:invertIfNegative val="0"/>
            <c:bubble3D val="0"/>
            <c:spPr>
              <a:solidFill>
                <a:srgbClr val="7AA5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239D-4240-9C2C-D0AD7BA87F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Coal</c:v>
                </c:pt>
                <c:pt idx="1">
                  <c:v>Oil</c:v>
                </c:pt>
                <c:pt idx="2">
                  <c:v>Natural Gas</c:v>
                </c:pt>
                <c:pt idx="3">
                  <c:v>Biofuels</c:v>
                </c:pt>
                <c:pt idx="4">
                  <c:v>Flaring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31</c:v>
                </c:pt>
                <c:pt idx="2">
                  <c:v>21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9D-4240-9C2C-D0AD7BA87F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>
          <a:latin typeface="Aptos Display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Global Emission Trend (MMtonnes CO₂)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Emissions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2003</c:v>
                </c:pt>
                <c:pt idx="2">
                  <c:v>2006</c:v>
                </c:pt>
                <c:pt idx="3">
                  <c:v>2009</c:v>
                </c:pt>
                <c:pt idx="4">
                  <c:v>2012</c:v>
                </c:pt>
                <c:pt idx="5">
                  <c:v>2015</c:v>
                </c:pt>
                <c:pt idx="6">
                  <c:v>2018</c:v>
                </c:pt>
                <c:pt idx="7">
                  <c:v>2021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28000</c:v>
                </c:pt>
                <c:pt idx="1">
                  <c:v>30500</c:v>
                </c:pt>
                <c:pt idx="2">
                  <c:v>33200</c:v>
                </c:pt>
                <c:pt idx="3">
                  <c:v>31800</c:v>
                </c:pt>
                <c:pt idx="4">
                  <c:v>35600</c:v>
                </c:pt>
                <c:pt idx="5">
                  <c:v>37200</c:v>
                </c:pt>
                <c:pt idx="6">
                  <c:v>37800</c:v>
                </c:pt>
                <c:pt idx="7">
                  <c:v>34500</c:v>
                </c:pt>
                <c:pt idx="8">
                  <c:v>36900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156-44A8-A5C6-94D9F9AAD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6889B04-F7DC-B15E-36FE-C30B43F5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BBD8A58-213B-C0A4-8F7D-9ED8C6BC9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1F53E23-447A-C7C1-EE8E-DD1DB2E95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2438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A79502-90DC-238A-52D1-27D4546A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5425346-094E-995D-E6DD-1B60BEAB6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F39F53D-2016-EDBA-C4C2-0C1D801BE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32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F9F8209-5F22-639D-B46D-DA56E257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CC68FF1-EEDD-98F9-BF0F-5582DFA58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6A0B601-8B52-923E-7BB2-F11765A79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2576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3862E56-5FB8-D21F-363E-51BDDAA2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6D786F1-A047-4FBA-1DE9-501E53C4C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64F076B-3609-8FFA-1657-4CD53D85E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3307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18FB55B-8197-DC8A-3B5B-69696BBB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2653168-0C42-03ED-3519-DA7AA5CC7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E03EECE-27D8-E8DD-4053-4C69E74AB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938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CD47242-5126-2E6F-575B-001E72BC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058750D-32C5-CB33-5343-8D2B6893E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A387EC2-1566-18D6-A3B5-B58138179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719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E02A39-3825-F3BA-9670-6CD99B6C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8948484-10FA-0E45-C604-56552A66E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A436BC7-906F-22F6-8842-A8312A25D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429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AA39E6-9BCB-E020-3643-BAFC871A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BE105F2-DA8F-E43C-BBFC-887B69CD8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0B7E34E-FC9E-CA81-35CD-E48FCD9D2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650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D52D4C-9508-FA8F-43AC-0DC8A05B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CF04EAD-92CC-09A6-4C7A-02129B461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B70C974-D6FA-AEDC-940B-90FCAC18C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3362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4BB3741-A3FE-BF40-4E63-32356337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1C13311-97CE-BEC8-CA4E-2D198F30C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EE845AA-859C-2653-743F-701CFFA13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8361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DA1229D-8C3A-8993-187E-853AF6CD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C86F28A-F866-1E79-0A3D-7221D64E1D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90465E8-D34F-2766-BA67-6FAA634F6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051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81C7D72E-60AF-6CE6-BCB9-DE6BF4CA3171}"/>
              </a:ext>
            </a:extLst>
          </p:cNvPr>
          <p:cNvSpPr/>
          <p:nvPr/>
        </p:nvSpPr>
        <p:spPr>
          <a:xfrm>
            <a:off x="2499360" y="3574288"/>
            <a:ext cx="7223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ENERGY &amp; EMISSIONS ANALYSIS</a:t>
            </a:r>
            <a:endParaRPr lang="en-US" sz="36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6151F07F-A9B6-2099-7F29-22FB894E60E7}"/>
              </a:ext>
            </a:extLst>
          </p:cNvPr>
          <p:cNvSpPr/>
          <p:nvPr/>
        </p:nvSpPr>
        <p:spPr>
          <a:xfrm>
            <a:off x="5608320" y="4996180"/>
            <a:ext cx="1005840" cy="45720"/>
          </a:xfrm>
          <a:prstGeom prst="rect">
            <a:avLst/>
          </a:prstGeom>
          <a:solidFill>
            <a:srgbClr val="FF0000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09EE6FC-765E-B950-86E0-37A9836815AA}"/>
              </a:ext>
            </a:extLst>
          </p:cNvPr>
          <p:cNvSpPr/>
          <p:nvPr/>
        </p:nvSpPr>
        <p:spPr>
          <a:xfrm>
            <a:off x="3566160" y="5160772"/>
            <a:ext cx="505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 SQL-driven study of energy production, consumption,</a:t>
            </a: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</a:rPr>
              <a:t> </a:t>
            </a: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emissions, GDP &amp; population across 230+ countries.</a:t>
            </a:r>
            <a:endParaRPr 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B7EB1245-8C60-865B-D3DA-22529BAD10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908" y="3208381"/>
            <a:ext cx="1584452" cy="1584452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8FB70DBE-E756-B9E7-D7FC-570E74681808}"/>
              </a:ext>
            </a:extLst>
          </p:cNvPr>
          <p:cNvSpPr/>
          <p:nvPr/>
        </p:nvSpPr>
        <p:spPr>
          <a:xfrm>
            <a:off x="962766" y="5169516"/>
            <a:ext cx="1506114" cy="17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4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PROJECT</a:t>
            </a:r>
            <a:endParaRPr lang="en-US" sz="105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0E0DE0B-0598-2D77-4E12-7A544C83E910}"/>
              </a:ext>
            </a:extLst>
          </p:cNvPr>
          <p:cNvSpPr/>
          <p:nvPr/>
        </p:nvSpPr>
        <p:spPr>
          <a:xfrm>
            <a:off x="962766" y="5443228"/>
            <a:ext cx="1506114" cy="245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ENERGYDB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3F39B48E-2F09-BCAE-3693-C146DC1ECB16}"/>
              </a:ext>
            </a:extLst>
          </p:cNvPr>
          <p:cNvSpPr/>
          <p:nvPr/>
        </p:nvSpPr>
        <p:spPr>
          <a:xfrm>
            <a:off x="9692640" y="1707535"/>
            <a:ext cx="1635760" cy="640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9F42025-C4F9-2ECC-A8F4-F993EA57C86D}"/>
              </a:ext>
            </a:extLst>
          </p:cNvPr>
          <p:cNvSpPr/>
          <p:nvPr/>
        </p:nvSpPr>
        <p:spPr>
          <a:xfrm>
            <a:off x="9692640" y="1707535"/>
            <a:ext cx="163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230+ Countries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0551FBAB-7165-43D7-D407-10A2223B4C43}"/>
              </a:ext>
            </a:extLst>
          </p:cNvPr>
          <p:cNvSpPr/>
          <p:nvPr/>
        </p:nvSpPr>
        <p:spPr>
          <a:xfrm>
            <a:off x="9692640" y="2815917"/>
            <a:ext cx="1635760" cy="640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2389CD3-0729-8239-FEB1-351DC4F19718}"/>
              </a:ext>
            </a:extLst>
          </p:cNvPr>
          <p:cNvSpPr/>
          <p:nvPr/>
        </p:nvSpPr>
        <p:spPr>
          <a:xfrm>
            <a:off x="9692640" y="2815917"/>
            <a:ext cx="163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6 Datasets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AD13A898-39DC-4EB5-D024-A9D96CFA4F96}"/>
              </a:ext>
            </a:extLst>
          </p:cNvPr>
          <p:cNvSpPr/>
          <p:nvPr/>
        </p:nvSpPr>
        <p:spPr>
          <a:xfrm>
            <a:off x="9692640" y="3924299"/>
            <a:ext cx="1635760" cy="640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427B0E5E-887D-4BA5-A7CA-F15A42DB6BD7}"/>
              </a:ext>
            </a:extLst>
          </p:cNvPr>
          <p:cNvSpPr/>
          <p:nvPr/>
        </p:nvSpPr>
        <p:spPr>
          <a:xfrm>
            <a:off x="9692640" y="3912976"/>
            <a:ext cx="163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15 Queries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1D1BCF0E-E18D-559B-56E6-F0BD541D514B}"/>
              </a:ext>
            </a:extLst>
          </p:cNvPr>
          <p:cNvSpPr/>
          <p:nvPr/>
        </p:nvSpPr>
        <p:spPr>
          <a:xfrm>
            <a:off x="9692640" y="5049011"/>
            <a:ext cx="1635760" cy="64008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6D26144A-49AF-3EE7-0010-FD91841EC096}"/>
              </a:ext>
            </a:extLst>
          </p:cNvPr>
          <p:cNvSpPr/>
          <p:nvPr/>
        </p:nvSpPr>
        <p:spPr>
          <a:xfrm>
            <a:off x="9692640" y="5049011"/>
            <a:ext cx="163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Trend &amp; Ratio Analysis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Background? (B-tech or M-tech)</a:t>
            </a:r>
            <a:endParaRPr sz="24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Why you want to learn Data Science</a:t>
            </a:r>
            <a:endParaRPr sz="24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Any work experience</a:t>
            </a:r>
            <a:endParaRPr sz="24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 and </a:t>
            </a:r>
            <a:r>
              <a:rPr lang="en-IN" sz="2400" b="1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 profile </a:t>
            </a:r>
            <a:r>
              <a:rPr lang="en-IN" sz="2400" b="1" dirty="0">
                <a:solidFill>
                  <a:schemeClr val="dk1"/>
                </a:solidFill>
                <a:latin typeface="Aptos Display" panose="020B0004020202020204" pitchFamily="34" charset="0"/>
                <a:ea typeface="Calibri"/>
                <a:cs typeface="Calibri"/>
                <a:sym typeface="Calibri"/>
              </a:rPr>
              <a:t>URLs</a:t>
            </a:r>
            <a:endParaRPr sz="24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Aptos Display" panose="020B0004020202020204" pitchFamily="34" charset="0"/>
                <a:ea typeface="Lato Black"/>
                <a:cs typeface="Lato Black"/>
                <a:sym typeface="Lato Black"/>
              </a:rPr>
              <a:t>About me (Both T</a:t>
            </a:r>
            <a:r>
              <a:rPr lang="en-IN" sz="3200">
                <a:solidFill>
                  <a:srgbClr val="FF0000"/>
                </a:solidFill>
                <a:latin typeface="Aptos Display" panose="020B0004020202020204" pitchFamily="34" charset="0"/>
                <a:ea typeface="Lato Black"/>
                <a:cs typeface="Lato Black"/>
                <a:sym typeface="Lato Black"/>
              </a:rPr>
              <a:t>eam  Leader and Team Member</a:t>
            </a:r>
            <a:r>
              <a:rPr lang="en-IN" sz="3200" b="0" i="0" u="none" strike="noStrike" cap="none">
                <a:solidFill>
                  <a:srgbClr val="FF0000"/>
                </a:solidFill>
                <a:latin typeface="Aptos Display" panose="020B0004020202020204" pitchFamily="34" charset="0"/>
                <a:ea typeface="Lato Black"/>
                <a:cs typeface="Lato Black"/>
                <a:sym typeface="Lato Black"/>
              </a:rPr>
              <a:t>)</a:t>
            </a:r>
            <a:endParaRPr sz="1800" b="0" i="0" u="none" strike="noStrike" cap="none">
              <a:solidFill>
                <a:srgbClr val="FF0000"/>
              </a:solidFill>
              <a:latin typeface="Aptos Display" panose="020B0004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4B59693-7181-7BDA-8883-4B719323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F1B82AE-02EF-36B8-7410-A5DE0FA74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7928" y="502920"/>
            <a:ext cx="934231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chemeClr val="tx1"/>
                </a:solidFill>
                <a:latin typeface="Aptos Display" panose="020B0004020202020204" pitchFamily="34" charset="0"/>
              </a:rPr>
              <a:t>Project Overview &amp; Objectives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7C14B16-6E59-CE0A-6E9D-10F4A30907D5}"/>
              </a:ext>
            </a:extLst>
          </p:cNvPr>
          <p:cNvSpPr/>
          <p:nvPr/>
        </p:nvSpPr>
        <p:spPr>
          <a:xfrm>
            <a:off x="1419352" y="141374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en-US" sz="1800" b="1" kern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What is this project?</a:t>
            </a:r>
            <a:endParaRPr lang="en-US" sz="1800" kern="1200" dirty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871D507-1844-9CB1-6B0B-BF71EA2889F3}"/>
              </a:ext>
            </a:extLst>
          </p:cNvPr>
          <p:cNvSpPr/>
          <p:nvPr/>
        </p:nvSpPr>
        <p:spPr>
          <a:xfrm>
            <a:off x="1467928" y="1803716"/>
            <a:ext cx="9342312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  <a:buClrTx/>
              <a:buFontTx/>
              <a:buNone/>
            </a:pPr>
            <a:r>
              <a:rPr lang="en-US" kern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ENERGYDB is a relational MySQL database built to store and analyse global energy and climate data across 230+ countries. Six real-world CSV datasets are normalised into a structured schema enabling complex SQL queries for trend analysis, per-capita ratios, and global comparisons.</a:t>
            </a:r>
            <a:endParaRPr lang="en-US" kern="1200" dirty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5267268-0217-C207-4DD4-3BC4C320BC2E}"/>
              </a:ext>
            </a:extLst>
          </p:cNvPr>
          <p:cNvSpPr/>
          <p:nvPr/>
        </p:nvSpPr>
        <p:spPr>
          <a:xfrm>
            <a:off x="1467928" y="3068986"/>
            <a:ext cx="2011680" cy="263347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22AFA8F5-54A1-FBD7-9CB8-86D34C0D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736" y="3251866"/>
            <a:ext cx="502920" cy="502920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05EAF684-4E8D-CA58-DE13-E89330681688}"/>
              </a:ext>
            </a:extLst>
          </p:cNvPr>
          <p:cNvSpPr/>
          <p:nvPr/>
        </p:nvSpPr>
        <p:spPr>
          <a:xfrm>
            <a:off x="1541080" y="3846226"/>
            <a:ext cx="1874520" cy="29260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Design Schema</a:t>
            </a:r>
            <a:endParaRPr lang="en-US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A7CCB03D-4A00-5AF4-E037-A37B92A783DA}"/>
              </a:ext>
            </a:extLst>
          </p:cNvPr>
          <p:cNvSpPr/>
          <p:nvPr/>
        </p:nvSpPr>
        <p:spPr>
          <a:xfrm>
            <a:off x="1559368" y="4184554"/>
            <a:ext cx="1828800" cy="1389888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Normalised relational tables with FK constraints on country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251CA87C-A502-F55D-BEE5-A822D9C35144}"/>
              </a:ext>
            </a:extLst>
          </p:cNvPr>
          <p:cNvSpPr/>
          <p:nvPr/>
        </p:nvSpPr>
        <p:spPr>
          <a:xfrm>
            <a:off x="3869944" y="3068986"/>
            <a:ext cx="2011680" cy="263347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1C80C06A-689C-6FF2-FD0B-07F5EEC1B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752" y="3251866"/>
            <a:ext cx="502920" cy="502920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2" name="Text 10">
            <a:extLst>
              <a:ext uri="{FF2B5EF4-FFF2-40B4-BE49-F238E27FC236}">
                <a16:creationId xmlns:a16="http://schemas.microsoft.com/office/drawing/2014/main" id="{5F6E75F4-C3BC-7AA3-0D7A-AA38FF39447D}"/>
              </a:ext>
            </a:extLst>
          </p:cNvPr>
          <p:cNvSpPr/>
          <p:nvPr/>
        </p:nvSpPr>
        <p:spPr>
          <a:xfrm>
            <a:off x="3943096" y="3846226"/>
            <a:ext cx="1874520" cy="29260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Trend Analysis</a:t>
            </a:r>
            <a:endParaRPr lang="en-US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6713A07-54C7-3D47-9B5F-B585C779D1F8}"/>
              </a:ext>
            </a:extLst>
          </p:cNvPr>
          <p:cNvSpPr/>
          <p:nvPr/>
        </p:nvSpPr>
        <p:spPr>
          <a:xfrm>
            <a:off x="3961384" y="4184554"/>
            <a:ext cx="1828800" cy="1389888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Year-over-year changes using LAG &amp; window functions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6B557A59-7141-979C-7E7C-6E3E400723B1}"/>
              </a:ext>
            </a:extLst>
          </p:cNvPr>
          <p:cNvSpPr/>
          <p:nvPr/>
        </p:nvSpPr>
        <p:spPr>
          <a:xfrm>
            <a:off x="6332536" y="3068986"/>
            <a:ext cx="2011680" cy="263347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1524FE4D-30AD-09DF-7276-8D414F3C5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344" y="3251866"/>
            <a:ext cx="502920" cy="502920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6" name="Text 13">
            <a:extLst>
              <a:ext uri="{FF2B5EF4-FFF2-40B4-BE49-F238E27FC236}">
                <a16:creationId xmlns:a16="http://schemas.microsoft.com/office/drawing/2014/main" id="{680B82F8-85AD-2BCC-17CF-D489E53535BB}"/>
              </a:ext>
            </a:extLst>
          </p:cNvPr>
          <p:cNvSpPr/>
          <p:nvPr/>
        </p:nvSpPr>
        <p:spPr>
          <a:xfrm>
            <a:off x="6405688" y="3846226"/>
            <a:ext cx="1874520" cy="29260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Ratio Analysis</a:t>
            </a:r>
            <a:endParaRPr lang="en-US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C1D41C09-29F7-E6CC-8FA9-D115915FDBC1}"/>
              </a:ext>
            </a:extLst>
          </p:cNvPr>
          <p:cNvSpPr/>
          <p:nvPr/>
        </p:nvSpPr>
        <p:spPr>
          <a:xfrm>
            <a:off x="6423976" y="4184554"/>
            <a:ext cx="1828800" cy="1389888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Per-capita, per-GDP &amp; emission intensity metrics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3CF7A9FC-D426-6DC4-6ABB-20739A9A74B7}"/>
              </a:ext>
            </a:extLst>
          </p:cNvPr>
          <p:cNvSpPr/>
          <p:nvPr/>
        </p:nvSpPr>
        <p:spPr>
          <a:xfrm>
            <a:off x="8798560" y="3068986"/>
            <a:ext cx="2011680" cy="263347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B3711F7F-48FA-D0C8-283E-9527956EC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2940" y="3251866"/>
            <a:ext cx="502920" cy="502920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30" name="Text 16">
            <a:extLst>
              <a:ext uri="{FF2B5EF4-FFF2-40B4-BE49-F238E27FC236}">
                <a16:creationId xmlns:a16="http://schemas.microsoft.com/office/drawing/2014/main" id="{15138218-AA37-9BA5-C8FF-75864E3AD2B7}"/>
              </a:ext>
            </a:extLst>
          </p:cNvPr>
          <p:cNvSpPr/>
          <p:nvPr/>
        </p:nvSpPr>
        <p:spPr>
          <a:xfrm>
            <a:off x="8867140" y="3869086"/>
            <a:ext cx="1874520" cy="29260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Compare</a:t>
            </a:r>
            <a:endParaRPr lang="en-US" sz="16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F66F88F9-9086-04E2-B266-DDD72F95C652}"/>
              </a:ext>
            </a:extLst>
          </p:cNvPr>
          <p:cNvSpPr/>
          <p:nvPr/>
        </p:nvSpPr>
        <p:spPr>
          <a:xfrm>
            <a:off x="8890000" y="4184554"/>
            <a:ext cx="1828800" cy="1389888"/>
          </a:xfrm>
          <a:prstGeom prst="round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Rankings, emission shares &amp; cross-country benchmarking</a:t>
            </a:r>
            <a:endParaRPr lang="en-US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E60A78F-1DD6-99A1-DB78-1868188AB7A5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65685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540F8AA-D699-7A23-BB18-9AB9971F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CC261342-569E-21BF-0119-9BBFE8320E62}"/>
              </a:ext>
            </a:extLst>
          </p:cNvPr>
          <p:cNvSpPr/>
          <p:nvPr/>
        </p:nvSpPr>
        <p:spPr>
          <a:xfrm>
            <a:off x="1466088" y="502920"/>
            <a:ext cx="93441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Dataset Overview —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Six Source CSV Files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5BCC6C4-51BB-C7C0-858F-179AA2C63F14}"/>
              </a:ext>
            </a:extLst>
          </p:cNvPr>
          <p:cNvSpPr/>
          <p:nvPr/>
        </p:nvSpPr>
        <p:spPr>
          <a:xfrm>
            <a:off x="1464056" y="2011680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4C6F3DF-B255-75DD-DB52-8D2268713A8C}"/>
              </a:ext>
            </a:extLst>
          </p:cNvPr>
          <p:cNvSpPr/>
          <p:nvPr/>
        </p:nvSpPr>
        <p:spPr>
          <a:xfrm>
            <a:off x="1464056" y="2011680"/>
            <a:ext cx="64008" cy="11704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0F3DC35-2317-8293-F9A1-073301EEE0C3}"/>
              </a:ext>
            </a:extLst>
          </p:cNvPr>
          <p:cNvSpPr/>
          <p:nvPr/>
        </p:nvSpPr>
        <p:spPr>
          <a:xfrm>
            <a:off x="4618736" y="2093976"/>
            <a:ext cx="960120" cy="2926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D8EB972-F759-E6E8-0507-2104296C9E0D}"/>
              </a:ext>
            </a:extLst>
          </p:cNvPr>
          <p:cNvSpPr/>
          <p:nvPr/>
        </p:nvSpPr>
        <p:spPr>
          <a:xfrm>
            <a:off x="4646168" y="21031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230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4DDB73D-75AB-4507-2536-DC3EA7459358}"/>
              </a:ext>
            </a:extLst>
          </p:cNvPr>
          <p:cNvSpPr/>
          <p:nvPr/>
        </p:nvSpPr>
        <p:spPr>
          <a:xfrm>
            <a:off x="1601216" y="20848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country_3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9EABB62-3E88-6179-43BB-30B300935813}"/>
              </a:ext>
            </a:extLst>
          </p:cNvPr>
          <p:cNvSpPr/>
          <p:nvPr/>
        </p:nvSpPr>
        <p:spPr>
          <a:xfrm>
            <a:off x="1601216" y="24688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Country, CID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2989B28-F5AC-946A-2123-6B89033139AA}"/>
              </a:ext>
            </a:extLst>
          </p:cNvPr>
          <p:cNvSpPr/>
          <p:nvPr/>
        </p:nvSpPr>
        <p:spPr>
          <a:xfrm>
            <a:off x="6585712" y="2011680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7A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5CA5E06-AA84-3125-785F-DFD8A49C1D5A}"/>
              </a:ext>
            </a:extLst>
          </p:cNvPr>
          <p:cNvSpPr/>
          <p:nvPr/>
        </p:nvSpPr>
        <p:spPr>
          <a:xfrm>
            <a:off x="6585712" y="2011680"/>
            <a:ext cx="64008" cy="1170432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8EA3E91C-6EAA-58B1-4354-797A7AFCEDA1}"/>
              </a:ext>
            </a:extLst>
          </p:cNvPr>
          <p:cNvSpPr/>
          <p:nvPr/>
        </p:nvSpPr>
        <p:spPr>
          <a:xfrm>
            <a:off x="9767824" y="2103120"/>
            <a:ext cx="960120" cy="292608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653E6FE-04AA-7A52-4868-30A743B9A28E}"/>
              </a:ext>
            </a:extLst>
          </p:cNvPr>
          <p:cNvSpPr/>
          <p:nvPr/>
        </p:nvSpPr>
        <p:spPr>
          <a:xfrm>
            <a:off x="9767824" y="21031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3,517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3384336-7537-03A3-0DAC-0FE86C9A7E8E}"/>
              </a:ext>
            </a:extLst>
          </p:cNvPr>
          <p:cNvSpPr/>
          <p:nvPr/>
        </p:nvSpPr>
        <p:spPr>
          <a:xfrm>
            <a:off x="6722872" y="20848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emission_3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0F1DF5A-6797-8F3D-0A28-7249964853B8}"/>
              </a:ext>
            </a:extLst>
          </p:cNvPr>
          <p:cNvSpPr/>
          <p:nvPr/>
        </p:nvSpPr>
        <p:spPr>
          <a:xfrm>
            <a:off x="6722872" y="24688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country, energy_type, year, emission, per_capita_emission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6FA4CF16-6E64-40CE-195F-6CB26FB624D2}"/>
              </a:ext>
            </a:extLst>
          </p:cNvPr>
          <p:cNvSpPr/>
          <p:nvPr/>
        </p:nvSpPr>
        <p:spPr>
          <a:xfrm>
            <a:off x="1464056" y="3346704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357A7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B31EED7-1CD7-6FEA-7ECE-4A53D8F5626C}"/>
              </a:ext>
            </a:extLst>
          </p:cNvPr>
          <p:cNvSpPr/>
          <p:nvPr/>
        </p:nvSpPr>
        <p:spPr>
          <a:xfrm>
            <a:off x="1464056" y="3346704"/>
            <a:ext cx="64008" cy="1170432"/>
          </a:xfrm>
          <a:prstGeom prst="rect">
            <a:avLst/>
          </a:prstGeom>
          <a:solidFill>
            <a:srgbClr val="357A7A"/>
          </a:solidFill>
          <a:ln w="12700">
            <a:solidFill>
              <a:srgbClr val="357A7A"/>
            </a:solidFill>
            <a:prstDash val="solid"/>
          </a:ln>
        </p:spPr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8979E868-BE1B-0957-5D89-EFBBA1DCB7C5}"/>
              </a:ext>
            </a:extLst>
          </p:cNvPr>
          <p:cNvSpPr/>
          <p:nvPr/>
        </p:nvSpPr>
        <p:spPr>
          <a:xfrm>
            <a:off x="4646168" y="3438144"/>
            <a:ext cx="960120" cy="292608"/>
          </a:xfrm>
          <a:prstGeom prst="rect">
            <a:avLst/>
          </a:prstGeom>
          <a:solidFill>
            <a:srgbClr val="357A7A"/>
          </a:solidFill>
          <a:ln w="12700">
            <a:solidFill>
              <a:srgbClr val="357A7A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37B8570-399F-E3C6-8B25-D1252C01D920}"/>
              </a:ext>
            </a:extLst>
          </p:cNvPr>
          <p:cNvSpPr/>
          <p:nvPr/>
        </p:nvSpPr>
        <p:spPr>
          <a:xfrm>
            <a:off x="4646168" y="343814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5,281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CD39894-4E71-31BA-08F0-930FBC08F8CB}"/>
              </a:ext>
            </a:extLst>
          </p:cNvPr>
          <p:cNvSpPr/>
          <p:nvPr/>
        </p:nvSpPr>
        <p:spPr>
          <a:xfrm>
            <a:off x="1601216" y="3419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consum_3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36AD192-28DF-429C-7926-F11F979BF50B}"/>
              </a:ext>
            </a:extLst>
          </p:cNvPr>
          <p:cNvSpPr/>
          <p:nvPr/>
        </p:nvSpPr>
        <p:spPr>
          <a:xfrm>
            <a:off x="1601216" y="380390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country, energy, year, consumption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55DC7DE9-8AD6-6E8A-7099-57A39528501C}"/>
              </a:ext>
            </a:extLst>
          </p:cNvPr>
          <p:cNvSpPr/>
          <p:nvPr/>
        </p:nvSpPr>
        <p:spPr>
          <a:xfrm>
            <a:off x="6585712" y="3346704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7A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E92AD99-FB51-EE7D-076F-56A3A0D18764}"/>
              </a:ext>
            </a:extLst>
          </p:cNvPr>
          <p:cNvSpPr/>
          <p:nvPr/>
        </p:nvSpPr>
        <p:spPr>
          <a:xfrm>
            <a:off x="6585712" y="3346704"/>
            <a:ext cx="64008" cy="1170432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C71CAF3A-33B1-5BDB-9E50-8C14C172FFC1}"/>
              </a:ext>
            </a:extLst>
          </p:cNvPr>
          <p:cNvSpPr/>
          <p:nvPr/>
        </p:nvSpPr>
        <p:spPr>
          <a:xfrm>
            <a:off x="9767824" y="3438144"/>
            <a:ext cx="960120" cy="292608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551AC84B-BBB8-51A2-D75D-74594CEF984E}"/>
              </a:ext>
            </a:extLst>
          </p:cNvPr>
          <p:cNvSpPr/>
          <p:nvPr/>
        </p:nvSpPr>
        <p:spPr>
          <a:xfrm>
            <a:off x="9767824" y="343814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5,297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65E0B00E-04E4-4D10-4E90-B8C06F7D05EA}"/>
              </a:ext>
            </a:extLst>
          </p:cNvPr>
          <p:cNvSpPr/>
          <p:nvPr/>
        </p:nvSpPr>
        <p:spPr>
          <a:xfrm>
            <a:off x="6722872" y="34198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production_3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C946E2C9-BC3F-CF90-E086-AB5B174A3F02}"/>
              </a:ext>
            </a:extLst>
          </p:cNvPr>
          <p:cNvSpPr/>
          <p:nvPr/>
        </p:nvSpPr>
        <p:spPr>
          <a:xfrm>
            <a:off x="6722872" y="380390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country, energy, year, production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A0DC3C48-5222-8EA5-5869-446414436F82}"/>
              </a:ext>
            </a:extLst>
          </p:cNvPr>
          <p:cNvSpPr/>
          <p:nvPr/>
        </p:nvSpPr>
        <p:spPr>
          <a:xfrm>
            <a:off x="1464056" y="4681728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D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72923B45-F000-E62B-5425-46C3D2DCF640}"/>
              </a:ext>
            </a:extLst>
          </p:cNvPr>
          <p:cNvSpPr/>
          <p:nvPr/>
        </p:nvSpPr>
        <p:spPr>
          <a:xfrm>
            <a:off x="1464056" y="4681728"/>
            <a:ext cx="64008" cy="11704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5F3D7D3B-7ECF-70E4-CB71-92704FFAD35F}"/>
              </a:ext>
            </a:extLst>
          </p:cNvPr>
          <p:cNvSpPr/>
          <p:nvPr/>
        </p:nvSpPr>
        <p:spPr>
          <a:xfrm>
            <a:off x="4646168" y="4773168"/>
            <a:ext cx="960120" cy="2926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809865C-465D-25AF-D433-60B1B3F2EE5C}"/>
              </a:ext>
            </a:extLst>
          </p:cNvPr>
          <p:cNvSpPr/>
          <p:nvPr/>
        </p:nvSpPr>
        <p:spPr>
          <a:xfrm>
            <a:off x="4646168" y="47731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1,000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8647430F-C135-E838-FCCF-3A4ED82E9321}"/>
              </a:ext>
            </a:extLst>
          </p:cNvPr>
          <p:cNvSpPr/>
          <p:nvPr/>
        </p:nvSpPr>
        <p:spPr>
          <a:xfrm>
            <a:off x="1601216" y="4754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gdp_3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D767D6DF-B343-40CB-02E7-2FECC7BA1A7D}"/>
              </a:ext>
            </a:extLst>
          </p:cNvPr>
          <p:cNvSpPr/>
          <p:nvPr/>
        </p:nvSpPr>
        <p:spPr>
          <a:xfrm>
            <a:off x="1601216" y="51389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Country, year, Value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67D3834C-0E1D-E214-DFC9-5C57CFBC6F48}"/>
              </a:ext>
            </a:extLst>
          </p:cNvPr>
          <p:cNvSpPr/>
          <p:nvPr/>
        </p:nvSpPr>
        <p:spPr>
          <a:xfrm>
            <a:off x="6585712" y="4681728"/>
            <a:ext cx="4224528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7A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6535A2BC-4895-8ED9-97F4-38C2091F195C}"/>
              </a:ext>
            </a:extLst>
          </p:cNvPr>
          <p:cNvSpPr/>
          <p:nvPr/>
        </p:nvSpPr>
        <p:spPr>
          <a:xfrm>
            <a:off x="6585712" y="4681728"/>
            <a:ext cx="64008" cy="1170432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188C2901-BCCB-C55F-BAF0-74B3A870DC46}"/>
              </a:ext>
            </a:extLst>
          </p:cNvPr>
          <p:cNvSpPr/>
          <p:nvPr/>
        </p:nvSpPr>
        <p:spPr>
          <a:xfrm>
            <a:off x="9767824" y="4773168"/>
            <a:ext cx="960120" cy="292608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C2BF6F3B-797C-7CF9-39A8-D9954E3D49D0}"/>
              </a:ext>
            </a:extLst>
          </p:cNvPr>
          <p:cNvSpPr/>
          <p:nvPr/>
        </p:nvSpPr>
        <p:spPr>
          <a:xfrm>
            <a:off x="9767824" y="4773168"/>
            <a:ext cx="960120" cy="292608"/>
          </a:xfrm>
          <a:prstGeom prst="rect">
            <a:avLst/>
          </a:prstGeom>
          <a:noFill/>
          <a:ln>
            <a:solidFill>
              <a:srgbClr val="2877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1,001 rows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A37EEA12-8F72-1EC1-A8AF-F29B8D4C1C25}"/>
              </a:ext>
            </a:extLst>
          </p:cNvPr>
          <p:cNvSpPr/>
          <p:nvPr/>
        </p:nvSpPr>
        <p:spPr>
          <a:xfrm>
            <a:off x="6722872" y="4754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population_3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4E98DBEB-2158-7967-E967-9B4D83C6EE92}"/>
              </a:ext>
            </a:extLst>
          </p:cNvPr>
          <p:cNvSpPr/>
          <p:nvPr/>
        </p:nvSpPr>
        <p:spPr>
          <a:xfrm>
            <a:off x="6722872" y="51389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Columns: countries, year, Value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8B30CE97-FBAF-C648-0598-AD6E81FCF6BF}"/>
              </a:ext>
            </a:extLst>
          </p:cNvPr>
          <p:cNvSpPr/>
          <p:nvPr/>
        </p:nvSpPr>
        <p:spPr>
          <a:xfrm>
            <a:off x="1466088" y="5879592"/>
            <a:ext cx="9344152" cy="310896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ACAA4322-1CEE-3209-BB8C-E96E609E9A5E}"/>
              </a:ext>
            </a:extLst>
          </p:cNvPr>
          <p:cNvSpPr/>
          <p:nvPr/>
        </p:nvSpPr>
        <p:spPr>
          <a:xfrm>
            <a:off x="1466088" y="5879592"/>
            <a:ext cx="9344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Total: ~16,326 rows  |  Time span: 2000 – 2024  |  Countries: 230+  |  Import tool: MySQL Import Wizard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48" name="Shape 0">
            <a:extLst>
              <a:ext uri="{FF2B5EF4-FFF2-40B4-BE49-F238E27FC236}">
                <a16:creationId xmlns:a16="http://schemas.microsoft.com/office/drawing/2014/main" id="{0FB0DF95-4B9F-AA1F-3263-B3A6B642DDDE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33348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FC97F3C-9213-41FF-4EF9-C1491AA0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">
            <a:extLst>
              <a:ext uri="{FF2B5EF4-FFF2-40B4-BE49-F238E27FC236}">
                <a16:creationId xmlns:a16="http://schemas.microsoft.com/office/drawing/2014/main" id="{CEA3A160-9121-D8B2-8EEC-725E72091A1F}"/>
              </a:ext>
            </a:extLst>
          </p:cNvPr>
          <p:cNvSpPr/>
          <p:nvPr/>
        </p:nvSpPr>
        <p:spPr>
          <a:xfrm>
            <a:off x="1422400" y="510031"/>
            <a:ext cx="9367520" cy="802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en-US" sz="4400" b="1" kern="12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Database Schema &amp; Relationships</a:t>
            </a:r>
            <a:endParaRPr lang="en-US" sz="4400" kern="1200" dirty="0">
              <a:solidFill>
                <a:schemeClr val="tx1"/>
              </a:solidFill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64" name="Shape 0">
            <a:extLst>
              <a:ext uri="{FF2B5EF4-FFF2-40B4-BE49-F238E27FC236}">
                <a16:creationId xmlns:a16="http://schemas.microsoft.com/office/drawing/2014/main" id="{A3A5A2E2-1909-50A3-7A99-0E1D0BAFC211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9B60F8-76A8-C6D0-B57E-42D8991E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1" y="1565833"/>
            <a:ext cx="8217298" cy="48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82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A939377-B48B-C665-F5D3-06CAD4CE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D5911A0B-29BD-C33D-B5DD-5A7F52856869}"/>
              </a:ext>
            </a:extLst>
          </p:cNvPr>
          <p:cNvSpPr/>
          <p:nvPr/>
        </p:nvSpPr>
        <p:spPr>
          <a:xfrm>
            <a:off x="1442720" y="502920"/>
            <a:ext cx="9337040" cy="763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General &amp; Comparative Analysis</a:t>
            </a:r>
            <a:endParaRPr lang="en-US" sz="4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974B80A-54A2-E5CA-BB8F-FBDD31C130DC}"/>
              </a:ext>
            </a:extLst>
          </p:cNvPr>
          <p:cNvSpPr/>
          <p:nvPr/>
        </p:nvSpPr>
        <p:spPr>
          <a:xfrm>
            <a:off x="1442720" y="1468120"/>
            <a:ext cx="8503920" cy="1261872"/>
          </a:xfrm>
          <a:prstGeom prst="rect">
            <a:avLst/>
          </a:prstGeom>
          <a:noFill/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2D4B131-73DF-C224-61F7-2037DFE972F9}"/>
              </a:ext>
            </a:extLst>
          </p:cNvPr>
          <p:cNvSpPr/>
          <p:nvPr/>
        </p:nvSpPr>
        <p:spPr>
          <a:xfrm>
            <a:off x="1579880" y="1541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1.  Total emission per country — most recent year</a:t>
            </a:r>
            <a:endParaRPr lang="en-US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AA838EE-7A42-E8AF-BEE2-3E1376B2C834}"/>
              </a:ext>
            </a:extLst>
          </p:cNvPr>
          <p:cNvSpPr/>
          <p:nvPr/>
        </p:nvSpPr>
        <p:spPr>
          <a:xfrm>
            <a:off x="1579880" y="1852168"/>
            <a:ext cx="5989320" cy="768096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2C5FD10-87A9-A775-7783-3B8F4642B12A}"/>
              </a:ext>
            </a:extLst>
          </p:cNvPr>
          <p:cNvSpPr/>
          <p:nvPr/>
        </p:nvSpPr>
        <p:spPr>
          <a:xfrm>
            <a:off x="1653032" y="1907032"/>
            <a:ext cx="58430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SUM(emission) AS total_emission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emission_3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 = (SELECT MAX(year) FROM emission_3)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 ORDER BY total_emission DESC;</a:t>
            </a:r>
            <a:endParaRPr lang="en-US" sz="9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126AFE7-DCDB-B288-1468-5E40FF3C366B}"/>
              </a:ext>
            </a:extLst>
          </p:cNvPr>
          <p:cNvSpPr/>
          <p:nvPr/>
        </p:nvSpPr>
        <p:spPr>
          <a:xfrm>
            <a:off x="7660640" y="1852168"/>
            <a:ext cx="2176272" cy="768096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6F3A404-25ED-D7D2-04F1-6B0767FE7508}"/>
              </a:ext>
            </a:extLst>
          </p:cNvPr>
          <p:cNvSpPr/>
          <p:nvPr/>
        </p:nvSpPr>
        <p:spPr>
          <a:xfrm>
            <a:off x="7706360" y="1870456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💡  SUM needed — multiple energy_type rows per country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0F40AF8-D4D6-9B03-E0BD-8F765390DB50}"/>
              </a:ext>
            </a:extLst>
          </p:cNvPr>
          <p:cNvSpPr/>
          <p:nvPr/>
        </p:nvSpPr>
        <p:spPr>
          <a:xfrm>
            <a:off x="2275840" y="3004312"/>
            <a:ext cx="8503920" cy="1261872"/>
          </a:xfrm>
          <a:prstGeom prst="rect">
            <a:avLst/>
          </a:prstGeom>
          <a:noFill/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C9CD30-333C-CB34-32CB-D4DF0F5A62F2}"/>
              </a:ext>
            </a:extLst>
          </p:cNvPr>
          <p:cNvSpPr/>
          <p:nvPr/>
        </p:nvSpPr>
        <p:spPr>
          <a:xfrm>
            <a:off x="2413000" y="3077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2.  Top 5 countries by GDP — most recent year</a:t>
            </a:r>
            <a:endParaRPr lang="en-US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6034376B-DE29-62AA-DBE3-F15F35323A21}"/>
              </a:ext>
            </a:extLst>
          </p:cNvPr>
          <p:cNvSpPr/>
          <p:nvPr/>
        </p:nvSpPr>
        <p:spPr>
          <a:xfrm>
            <a:off x="2413000" y="3388360"/>
            <a:ext cx="5989320" cy="768096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2E10C4F4-E45B-428D-304C-4CFF6A1F138D}"/>
              </a:ext>
            </a:extLst>
          </p:cNvPr>
          <p:cNvSpPr/>
          <p:nvPr/>
        </p:nvSpPr>
        <p:spPr>
          <a:xfrm>
            <a:off x="2486152" y="3443224"/>
            <a:ext cx="58430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Value AS gdp FROM gdp_3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 = (SELECT MAX(year) FROM gdp_3)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gdp DESC LIMIT 5;</a:t>
            </a:r>
            <a:endParaRPr lang="en-US" sz="9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361923A4-FB5E-D490-E359-17DF32AEF07D}"/>
              </a:ext>
            </a:extLst>
          </p:cNvPr>
          <p:cNvSpPr/>
          <p:nvPr/>
        </p:nvSpPr>
        <p:spPr>
          <a:xfrm>
            <a:off x="8493760" y="3388360"/>
            <a:ext cx="2176272" cy="768096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5626EAA-C11B-E92B-88DD-054BE856BCBB}"/>
              </a:ext>
            </a:extLst>
          </p:cNvPr>
          <p:cNvSpPr/>
          <p:nvPr/>
        </p:nvSpPr>
        <p:spPr>
          <a:xfrm>
            <a:off x="8539480" y="3406648"/>
            <a:ext cx="20848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💡  No SUM — one GDP row per country per year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BE2CCAB-AF6F-7BBA-6EFF-D7A092E21BB3}"/>
              </a:ext>
            </a:extLst>
          </p:cNvPr>
          <p:cNvSpPr/>
          <p:nvPr/>
        </p:nvSpPr>
        <p:spPr>
          <a:xfrm>
            <a:off x="1442720" y="4540504"/>
            <a:ext cx="8503920" cy="1585976"/>
          </a:xfrm>
          <a:prstGeom prst="rect">
            <a:avLst/>
          </a:prstGeom>
          <a:noFill/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2153033-96C1-E575-126B-1F9CDF8C4A7E}"/>
              </a:ext>
            </a:extLst>
          </p:cNvPr>
          <p:cNvSpPr/>
          <p:nvPr/>
        </p:nvSpPr>
        <p:spPr>
          <a:xfrm>
            <a:off x="1579880" y="46136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3.  Energy production vs consumption by country &amp; year</a:t>
            </a:r>
            <a:endParaRPr lang="en-US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67AA44F9-0A39-66F0-BB4D-0EB4CF963C7B}"/>
              </a:ext>
            </a:extLst>
          </p:cNvPr>
          <p:cNvSpPr/>
          <p:nvPr/>
        </p:nvSpPr>
        <p:spPr>
          <a:xfrm>
            <a:off x="1579880" y="4924552"/>
            <a:ext cx="5989320" cy="1080008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1960CCB-3347-1C9D-10D5-3A358EA90A15}"/>
              </a:ext>
            </a:extLst>
          </p:cNvPr>
          <p:cNvSpPr/>
          <p:nvPr/>
        </p:nvSpPr>
        <p:spPr>
          <a:xfrm>
            <a:off x="1653032" y="4979416"/>
            <a:ext cx="584301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p.country, p.year, p.energy,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SUM(p.production), SUM(c.consumption)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production p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consumption c ON p.country=c.country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p.year=c.year AND p.energy=c.energy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p.country, p.year, p.energy;</a:t>
            </a:r>
            <a:endParaRPr lang="en-US" sz="9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CEC7EA27-A68F-2657-0C82-153635A309EB}"/>
              </a:ext>
            </a:extLst>
          </p:cNvPr>
          <p:cNvSpPr/>
          <p:nvPr/>
        </p:nvSpPr>
        <p:spPr>
          <a:xfrm>
            <a:off x="7660640" y="4924552"/>
            <a:ext cx="2176272" cy="10800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A15E480B-3E32-47EA-8DE8-38287F382FBF}"/>
              </a:ext>
            </a:extLst>
          </p:cNvPr>
          <p:cNvSpPr/>
          <p:nvPr/>
        </p:nvSpPr>
        <p:spPr>
          <a:xfrm>
            <a:off x="7706360" y="4942840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💡  3-key JOIN: country + year + energy type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B82F33A0-39AB-4578-386E-F36AE9DD60F2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83245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F4C27FE-42D4-16A2-3342-CB50F3A83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419F8FC4-A2C8-6DF5-F0F8-73C3A16EA0D3}"/>
              </a:ext>
            </a:extLst>
          </p:cNvPr>
          <p:cNvSpPr/>
          <p:nvPr/>
        </p:nvSpPr>
        <p:spPr>
          <a:xfrm>
            <a:off x="1477264" y="502920"/>
            <a:ext cx="9312656" cy="142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Which Energy Types Contribute Most to Emissions?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A8D57D8C-ACA9-1B6E-CE4B-457A6D3B4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9312126"/>
              </p:ext>
            </p:extLst>
          </p:nvPr>
        </p:nvGraphicFramePr>
        <p:xfrm>
          <a:off x="1477264" y="2039112"/>
          <a:ext cx="5349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78814911-FF9B-85B8-0BD4-812403668174}"/>
              </a:ext>
            </a:extLst>
          </p:cNvPr>
          <p:cNvSpPr/>
          <p:nvPr/>
        </p:nvSpPr>
        <p:spPr>
          <a:xfrm>
            <a:off x="7385304" y="2130552"/>
            <a:ext cx="385978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D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E5F3244-0B59-D74F-0205-1A3427109BF2}"/>
              </a:ext>
            </a:extLst>
          </p:cNvPr>
          <p:cNvSpPr/>
          <p:nvPr/>
        </p:nvSpPr>
        <p:spPr>
          <a:xfrm>
            <a:off x="7385304" y="2121408"/>
            <a:ext cx="54864" cy="7863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2896A1-A8DB-7E39-895F-256939F1D4F4}"/>
              </a:ext>
            </a:extLst>
          </p:cNvPr>
          <p:cNvSpPr/>
          <p:nvPr/>
        </p:nvSpPr>
        <p:spPr>
          <a:xfrm>
            <a:off x="10237216" y="230428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8B8B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41%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1ACAF8D-6976-2767-90E8-C3D279E08431}"/>
              </a:ext>
            </a:extLst>
          </p:cNvPr>
          <p:cNvSpPr/>
          <p:nvPr/>
        </p:nvSpPr>
        <p:spPr>
          <a:xfrm>
            <a:off x="7440168" y="2221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Coal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27ED8FB-5708-4950-0EC8-238BA03ECBE9}"/>
              </a:ext>
            </a:extLst>
          </p:cNvPr>
          <p:cNvSpPr/>
          <p:nvPr/>
        </p:nvSpPr>
        <p:spPr>
          <a:xfrm>
            <a:off x="7440168" y="25694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Dominant; Asia-Pacific economies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807725C-F3BF-C5D5-C65F-AF37C5A47922}"/>
              </a:ext>
            </a:extLst>
          </p:cNvPr>
          <p:cNvSpPr/>
          <p:nvPr/>
        </p:nvSpPr>
        <p:spPr>
          <a:xfrm>
            <a:off x="7385304" y="3026664"/>
            <a:ext cx="385978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D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F905BBD-4EAF-346E-93F9-034394D1433A}"/>
              </a:ext>
            </a:extLst>
          </p:cNvPr>
          <p:cNvSpPr/>
          <p:nvPr/>
        </p:nvSpPr>
        <p:spPr>
          <a:xfrm>
            <a:off x="7385304" y="3017520"/>
            <a:ext cx="54864" cy="7863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968CF24-62D7-C750-7DC6-14BEE0462ECD}"/>
              </a:ext>
            </a:extLst>
          </p:cNvPr>
          <p:cNvSpPr/>
          <p:nvPr/>
        </p:nvSpPr>
        <p:spPr>
          <a:xfrm>
            <a:off x="10237216" y="320040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8B8B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31%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A527F9D-4575-AD48-DE6A-93EA96975B68}"/>
              </a:ext>
            </a:extLst>
          </p:cNvPr>
          <p:cNvSpPr/>
          <p:nvPr/>
        </p:nvSpPr>
        <p:spPr>
          <a:xfrm>
            <a:off x="7440168" y="31181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Oil Products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14BD0EA-CC94-B3D5-ADC0-30CD5C4A53A5}"/>
              </a:ext>
            </a:extLst>
          </p:cNvPr>
          <p:cNvSpPr/>
          <p:nvPr/>
        </p:nvSpPr>
        <p:spPr>
          <a:xfrm>
            <a:off x="7440168" y="34655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Transport &amp; industrial sectors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83C39C2-6131-F2C9-0E9B-6FDF588EE325}"/>
              </a:ext>
            </a:extLst>
          </p:cNvPr>
          <p:cNvSpPr/>
          <p:nvPr/>
        </p:nvSpPr>
        <p:spPr>
          <a:xfrm>
            <a:off x="7385304" y="3922776"/>
            <a:ext cx="385978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D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EC2EA6E-5EFD-1B8B-7438-CE54B0124D90}"/>
              </a:ext>
            </a:extLst>
          </p:cNvPr>
          <p:cNvSpPr/>
          <p:nvPr/>
        </p:nvSpPr>
        <p:spPr>
          <a:xfrm>
            <a:off x="7385304" y="3913632"/>
            <a:ext cx="54864" cy="7863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69352D9-9D3A-3AD8-8C55-8407DCE3B6FD}"/>
              </a:ext>
            </a:extLst>
          </p:cNvPr>
          <p:cNvSpPr/>
          <p:nvPr/>
        </p:nvSpPr>
        <p:spPr>
          <a:xfrm>
            <a:off x="10237216" y="409651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8B8B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21%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A11C7E2-E158-3FDC-7FD7-819A50FAF341}"/>
              </a:ext>
            </a:extLst>
          </p:cNvPr>
          <p:cNvSpPr/>
          <p:nvPr/>
        </p:nvSpPr>
        <p:spPr>
          <a:xfrm>
            <a:off x="7440168" y="4014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Natural Gas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72633CE-C99A-F0D5-F4A4-9AE3D9C12F95}"/>
              </a:ext>
            </a:extLst>
          </p:cNvPr>
          <p:cNvSpPr/>
          <p:nvPr/>
        </p:nvSpPr>
        <p:spPr>
          <a:xfrm>
            <a:off x="7440168" y="4361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Cleaner but rising demand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AEE3D84-00B2-5B8F-ACA1-C7650D73384E}"/>
              </a:ext>
            </a:extLst>
          </p:cNvPr>
          <p:cNvSpPr/>
          <p:nvPr/>
        </p:nvSpPr>
        <p:spPr>
          <a:xfrm>
            <a:off x="7385304" y="4818888"/>
            <a:ext cx="385978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2D8B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1A80E12-E601-F219-EFC1-E953298AC07C}"/>
              </a:ext>
            </a:extLst>
          </p:cNvPr>
          <p:cNvSpPr/>
          <p:nvPr/>
        </p:nvSpPr>
        <p:spPr>
          <a:xfrm>
            <a:off x="7386320" y="4828032"/>
            <a:ext cx="54864" cy="7863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6322210-5977-F7A6-60E9-F286199EEA3F}"/>
              </a:ext>
            </a:extLst>
          </p:cNvPr>
          <p:cNvSpPr/>
          <p:nvPr/>
        </p:nvSpPr>
        <p:spPr>
          <a:xfrm>
            <a:off x="10237216" y="499262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8B8B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7%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3440777-D9FF-20F8-AEC4-AA94F0A88BBB}"/>
              </a:ext>
            </a:extLst>
          </p:cNvPr>
          <p:cNvSpPr/>
          <p:nvPr/>
        </p:nvSpPr>
        <p:spPr>
          <a:xfrm>
            <a:off x="7440168" y="4910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Others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B4B0896-BBC0-BAE9-2CED-D1E5F2B86BBE}"/>
              </a:ext>
            </a:extLst>
          </p:cNvPr>
          <p:cNvSpPr/>
          <p:nvPr/>
        </p:nvSpPr>
        <p:spPr>
          <a:xfrm>
            <a:off x="7440168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Biofuels, flaring, waste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81E20C3-A688-160A-3D95-A7DC19CB5E74}"/>
              </a:ext>
            </a:extLst>
          </p:cNvPr>
          <p:cNvSpPr/>
          <p:nvPr/>
        </p:nvSpPr>
        <p:spPr>
          <a:xfrm>
            <a:off x="7385304" y="5821680"/>
            <a:ext cx="3859784" cy="311912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307EA49-3266-F6E3-D9F7-E0B947D68AE9}"/>
              </a:ext>
            </a:extLst>
          </p:cNvPr>
          <p:cNvSpPr/>
          <p:nvPr/>
        </p:nvSpPr>
        <p:spPr>
          <a:xfrm>
            <a:off x="7385304" y="5821680"/>
            <a:ext cx="3859784" cy="31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GROUP BY energy_type ORDER BY SUM(emission) DESC</a:t>
            </a:r>
            <a:endParaRPr lang="en-US" sz="1000" dirty="0">
              <a:latin typeface="Aptos Display" panose="020B0004020202020204" pitchFamily="34" charset="0"/>
            </a:endParaRP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D538EA47-76E2-22DE-E354-FD36CCB3BF36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33202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C0D900-56A7-00DE-7867-8724313F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85EEC5ED-7ED1-82F8-38A1-51A71D5FF3DF}"/>
              </a:ext>
            </a:extLst>
          </p:cNvPr>
          <p:cNvSpPr/>
          <p:nvPr/>
        </p:nvSpPr>
        <p:spPr>
          <a:xfrm>
            <a:off x="1402080" y="502920"/>
            <a:ext cx="9387840" cy="70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Trend Analysis Over Time</a:t>
            </a:r>
            <a:endParaRPr lang="en-US" sz="4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5FDE9574-B34B-7AC4-012D-08BA0A8DC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735684"/>
              </p:ext>
            </p:extLst>
          </p:nvPr>
        </p:nvGraphicFramePr>
        <p:xfrm>
          <a:off x="1402080" y="1499108"/>
          <a:ext cx="5563784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4">
            <a:extLst>
              <a:ext uri="{FF2B5EF4-FFF2-40B4-BE49-F238E27FC236}">
                <a16:creationId xmlns:a16="http://schemas.microsoft.com/office/drawing/2014/main" id="{4F8CD3C2-5E12-BF25-59AD-66023CD8CB22}"/>
              </a:ext>
            </a:extLst>
          </p:cNvPr>
          <p:cNvSpPr/>
          <p:nvPr/>
        </p:nvSpPr>
        <p:spPr>
          <a:xfrm>
            <a:off x="4023360" y="5352495"/>
            <a:ext cx="2942504" cy="916940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976988A-FBA0-D68A-792D-EBA6526E5038}"/>
              </a:ext>
            </a:extLst>
          </p:cNvPr>
          <p:cNvSpPr/>
          <p:nvPr/>
        </p:nvSpPr>
        <p:spPr>
          <a:xfrm>
            <a:off x="4128087" y="5407359"/>
            <a:ext cx="274633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YoY Global Emissions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77AF5AC-DEAA-84EF-B03A-E431793DAF25}"/>
              </a:ext>
            </a:extLst>
          </p:cNvPr>
          <p:cNvSpPr/>
          <p:nvPr/>
        </p:nvSpPr>
        <p:spPr>
          <a:xfrm>
            <a:off x="4128087" y="5672535"/>
            <a:ext cx="2746337" cy="548640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79B63D6-C8E3-7B58-57D0-04F6045A1ADC}"/>
              </a:ext>
            </a:extLst>
          </p:cNvPr>
          <p:cNvSpPr/>
          <p:nvPr/>
        </p:nvSpPr>
        <p:spPr>
          <a:xfrm>
            <a:off x="4211868" y="5672535"/>
            <a:ext cx="25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SUM(emission) -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LAG(SUM(emission))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OVER (ORDER BY year)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4988AEC2-824B-1771-5A39-1AB34849BE7A}"/>
              </a:ext>
            </a:extLst>
          </p:cNvPr>
          <p:cNvSpPr/>
          <p:nvPr/>
        </p:nvSpPr>
        <p:spPr>
          <a:xfrm>
            <a:off x="7335370" y="1504965"/>
            <a:ext cx="3772707" cy="541148"/>
          </a:xfrm>
          <a:prstGeom prst="rect">
            <a:avLst/>
          </a:prstGeom>
          <a:solidFill>
            <a:srgbClr val="223045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76AB6C-DC12-A1BA-3B2C-1C6E10EC0ADC}"/>
              </a:ext>
            </a:extLst>
          </p:cNvPr>
          <p:cNvSpPr/>
          <p:nvPr/>
        </p:nvSpPr>
        <p:spPr>
          <a:xfrm>
            <a:off x="7429254" y="1539460"/>
            <a:ext cx="3563112" cy="479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1FAEE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Uses LAG() — MySQL 8.0+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4CAD4B0-344E-405D-BF9C-67E33D172B8E}"/>
              </a:ext>
            </a:extLst>
          </p:cNvPr>
          <p:cNvSpPr/>
          <p:nvPr/>
        </p:nvSpPr>
        <p:spPr>
          <a:xfrm>
            <a:off x="1249680" y="5350670"/>
            <a:ext cx="2553507" cy="916940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DF02510-F4AB-BFB8-1DD4-997C646CF592}"/>
              </a:ext>
            </a:extLst>
          </p:cNvPr>
          <p:cNvSpPr/>
          <p:nvPr/>
        </p:nvSpPr>
        <p:spPr>
          <a:xfrm>
            <a:off x="1257808" y="5405534"/>
            <a:ext cx="23832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GDP Trend / Country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A480B9D2-283D-5AD2-B006-F261838AF7DD}"/>
              </a:ext>
            </a:extLst>
          </p:cNvPr>
          <p:cNvSpPr/>
          <p:nvPr/>
        </p:nvSpPr>
        <p:spPr>
          <a:xfrm>
            <a:off x="1403927" y="5672535"/>
            <a:ext cx="2237154" cy="548640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50AF603-45FD-2B25-C787-6A1AD99C15DD}"/>
              </a:ext>
            </a:extLst>
          </p:cNvPr>
          <p:cNvSpPr/>
          <p:nvPr/>
        </p:nvSpPr>
        <p:spPr>
          <a:xfrm>
            <a:off x="1402079" y="5672535"/>
            <a:ext cx="2237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Value - LAG(Value)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OVER (PARTITION BY Country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    ORDER BY year)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CFE5E55F-FEBF-8C38-946A-381DB2406589}"/>
              </a:ext>
            </a:extLst>
          </p:cNvPr>
          <p:cNvSpPr/>
          <p:nvPr/>
        </p:nvSpPr>
        <p:spPr>
          <a:xfrm>
            <a:off x="7335370" y="2309368"/>
            <a:ext cx="3772707" cy="541148"/>
          </a:xfrm>
          <a:prstGeom prst="rect">
            <a:avLst/>
          </a:prstGeom>
          <a:solidFill>
            <a:srgbClr val="223045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11683FB3-783C-AE53-EE93-FDA9B42C09A1}"/>
              </a:ext>
            </a:extLst>
          </p:cNvPr>
          <p:cNvSpPr/>
          <p:nvPr/>
        </p:nvSpPr>
        <p:spPr>
          <a:xfrm>
            <a:off x="7453525" y="2316145"/>
            <a:ext cx="3563112" cy="480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1FAEE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PARTITION BY isolates country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6A978F0-A770-80B8-E340-849DED6513F3}"/>
              </a:ext>
            </a:extLst>
          </p:cNvPr>
          <p:cNvSpPr/>
          <p:nvPr/>
        </p:nvSpPr>
        <p:spPr>
          <a:xfrm>
            <a:off x="7348727" y="3896868"/>
            <a:ext cx="3772707" cy="916940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A9C34D6B-9549-E107-DCA4-DFC15AF4152C}"/>
              </a:ext>
            </a:extLst>
          </p:cNvPr>
          <p:cNvSpPr/>
          <p:nvPr/>
        </p:nvSpPr>
        <p:spPr>
          <a:xfrm>
            <a:off x="7455968" y="3951732"/>
            <a:ext cx="35211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Avg Yearly Per-Capita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A5947925-7EA4-CF59-A5FF-DBA0D0FDA137}"/>
              </a:ext>
            </a:extLst>
          </p:cNvPr>
          <p:cNvSpPr/>
          <p:nvPr/>
        </p:nvSpPr>
        <p:spPr>
          <a:xfrm>
            <a:off x="7455968" y="4160520"/>
            <a:ext cx="3521194" cy="605028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2C6DBA24-13B5-CB36-D0AE-2E8042D7F4C9}"/>
              </a:ext>
            </a:extLst>
          </p:cNvPr>
          <p:cNvSpPr/>
          <p:nvPr/>
        </p:nvSpPr>
        <p:spPr>
          <a:xfrm>
            <a:off x="7541762" y="4160520"/>
            <a:ext cx="3319981" cy="605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(MAX - MIN per_capita)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/ (COUNT(DISTINCT year) - 1)</a:t>
            </a:r>
            <a:endParaRPr lang="en-US" sz="9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→ avg_yearly_change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AFBA6AE8-D60E-F60C-8F52-DFCFA9903613}"/>
              </a:ext>
            </a:extLst>
          </p:cNvPr>
          <p:cNvSpPr/>
          <p:nvPr/>
        </p:nvSpPr>
        <p:spPr>
          <a:xfrm>
            <a:off x="7348727" y="3074933"/>
            <a:ext cx="3772707" cy="567599"/>
          </a:xfrm>
          <a:prstGeom prst="rect">
            <a:avLst/>
          </a:prstGeom>
          <a:solidFill>
            <a:srgbClr val="223045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DC9DAA86-7813-0996-3A30-55C235E70765}"/>
              </a:ext>
            </a:extLst>
          </p:cNvPr>
          <p:cNvSpPr/>
          <p:nvPr/>
        </p:nvSpPr>
        <p:spPr>
          <a:xfrm>
            <a:off x="7466882" y="3074933"/>
            <a:ext cx="3563112" cy="51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1FAEE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NULLIF prevents ÷ 0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0A890D35-496F-B428-9EAC-562140D3409F}"/>
              </a:ext>
            </a:extLst>
          </p:cNvPr>
          <p:cNvSpPr/>
          <p:nvPr/>
        </p:nvSpPr>
        <p:spPr>
          <a:xfrm>
            <a:off x="7322014" y="5010980"/>
            <a:ext cx="3561103" cy="15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Key Insight</a:t>
            </a:r>
            <a:endParaRPr lang="en-US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7628F7F6-2028-C29A-3757-3BFDF77D0594}"/>
              </a:ext>
            </a:extLst>
          </p:cNvPr>
          <p:cNvSpPr/>
          <p:nvPr/>
        </p:nvSpPr>
        <p:spPr>
          <a:xfrm>
            <a:off x="7322014" y="5350670"/>
            <a:ext cx="3772706" cy="9169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Emissions dipped visibly ~2009 (financial crisis) &amp; ~2020 (COVID-19) — confirming economic activity directly drives energy demand.</a:t>
            </a:r>
            <a:endParaRPr lang="en-US" sz="13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3F34A2A3-1D48-8294-CF1E-7D51D3D07C2E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6001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D701D87-F9E3-3A6A-83F3-AD17D7CC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CAE08D42-9830-FE64-CD8E-BFB539772B10}"/>
              </a:ext>
            </a:extLst>
          </p:cNvPr>
          <p:cNvSpPr/>
          <p:nvPr/>
        </p:nvSpPr>
        <p:spPr>
          <a:xfrm>
            <a:off x="1422400" y="502920"/>
            <a:ext cx="937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Ratio &amp; Per Capita Analysis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75E8114-6DFF-B77F-3227-80BAA54B6916}"/>
              </a:ext>
            </a:extLst>
          </p:cNvPr>
          <p:cNvSpPr/>
          <p:nvPr/>
        </p:nvSpPr>
        <p:spPr>
          <a:xfrm>
            <a:off x="1422400" y="1645919"/>
            <a:ext cx="4493768" cy="1353437"/>
          </a:xfrm>
          <a:prstGeom prst="rect">
            <a:avLst/>
          </a:prstGeom>
          <a:solidFill>
            <a:srgbClr val="FFFFFF"/>
          </a:solidFill>
          <a:ln w="16510">
            <a:solidFill>
              <a:srgbClr val="2D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94C2A55-5EDF-1F94-7684-CE732CFA7E03}"/>
              </a:ext>
            </a:extLst>
          </p:cNvPr>
          <p:cNvSpPr/>
          <p:nvPr/>
        </p:nvSpPr>
        <p:spPr>
          <a:xfrm>
            <a:off x="1422400" y="1645919"/>
            <a:ext cx="4493768" cy="297619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91FED9F-227B-FAD5-BC9C-1B9D988E755E}"/>
              </a:ext>
            </a:extLst>
          </p:cNvPr>
          <p:cNvSpPr/>
          <p:nvPr/>
        </p:nvSpPr>
        <p:spPr>
          <a:xfrm>
            <a:off x="1525495" y="1673352"/>
            <a:ext cx="4299233" cy="257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1.  Emission-to-GDP Ratio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B66E3C5-E999-131D-BA8A-DBDFBC60B59A}"/>
              </a:ext>
            </a:extLst>
          </p:cNvPr>
          <p:cNvSpPr/>
          <p:nvPr/>
        </p:nvSpPr>
        <p:spPr>
          <a:xfrm>
            <a:off x="1519666" y="2054137"/>
            <a:ext cx="4299233" cy="427827"/>
          </a:xfrm>
          <a:prstGeom prst="rect">
            <a:avLst/>
          </a:prstGeom>
          <a:solidFill>
            <a:srgbClr val="EBF8F9"/>
          </a:solidFill>
          <a:ln w="6350">
            <a:solidFill>
              <a:srgbClr val="A8DADC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DDB351E-9AD4-5F75-998C-ACE80CE93BD4}"/>
              </a:ext>
            </a:extLst>
          </p:cNvPr>
          <p:cNvSpPr/>
          <p:nvPr/>
        </p:nvSpPr>
        <p:spPr>
          <a:xfrm>
            <a:off x="1577043" y="2064439"/>
            <a:ext cx="4201965" cy="39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SUM(emission) / NULLIF(gdp, 0)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9961822-674D-F599-1B1B-72EDDBBD6B0A}"/>
              </a:ext>
            </a:extLst>
          </p:cNvPr>
          <p:cNvSpPr/>
          <p:nvPr/>
        </p:nvSpPr>
        <p:spPr>
          <a:xfrm>
            <a:off x="1519667" y="2521079"/>
            <a:ext cx="4299233" cy="353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Measures carbon intensity of economic output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3633C1E-6F80-8555-83A1-072F7E7BD7B4}"/>
              </a:ext>
            </a:extLst>
          </p:cNvPr>
          <p:cNvSpPr/>
          <p:nvPr/>
        </p:nvSpPr>
        <p:spPr>
          <a:xfrm>
            <a:off x="6172200" y="1645920"/>
            <a:ext cx="4627880" cy="1364182"/>
          </a:xfrm>
          <a:prstGeom prst="rect">
            <a:avLst/>
          </a:prstGeom>
          <a:solidFill>
            <a:srgbClr val="FFFFFF"/>
          </a:solidFill>
          <a:ln w="16510">
            <a:solidFill>
              <a:srgbClr val="2D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E39F056-4951-77B6-2C39-1EFE441F9372}"/>
              </a:ext>
            </a:extLst>
          </p:cNvPr>
          <p:cNvSpPr/>
          <p:nvPr/>
        </p:nvSpPr>
        <p:spPr>
          <a:xfrm>
            <a:off x="6172200" y="1645919"/>
            <a:ext cx="4627880" cy="279017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B1F9DA8-1A90-82E5-12CD-E035C86A0EF2}"/>
              </a:ext>
            </a:extLst>
          </p:cNvPr>
          <p:cNvSpPr/>
          <p:nvPr/>
        </p:nvSpPr>
        <p:spPr>
          <a:xfrm>
            <a:off x="6263639" y="1673351"/>
            <a:ext cx="4427539" cy="241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2.  Energy Consumption / Capita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79F0B5DA-7589-F5DA-36C7-AB58CE75E544}"/>
              </a:ext>
            </a:extLst>
          </p:cNvPr>
          <p:cNvSpPr/>
          <p:nvPr/>
        </p:nvSpPr>
        <p:spPr>
          <a:xfrm>
            <a:off x="6263639" y="2046668"/>
            <a:ext cx="4427539" cy="427827"/>
          </a:xfrm>
          <a:prstGeom prst="rect">
            <a:avLst/>
          </a:prstGeom>
          <a:solidFill>
            <a:srgbClr val="EBF8F9"/>
          </a:solidFill>
          <a:ln w="6350">
            <a:solidFill>
              <a:srgbClr val="A8DADC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F0878DF-BE78-8DD3-9554-5CAA235037E4}"/>
              </a:ext>
            </a:extLst>
          </p:cNvPr>
          <p:cNvSpPr/>
          <p:nvPr/>
        </p:nvSpPr>
        <p:spPr>
          <a:xfrm>
            <a:off x="6313724" y="2054449"/>
            <a:ext cx="4327368" cy="39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SUM(consumption) / NULLIF(population, 0)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C35CFF0A-2BAB-856F-4146-618A0A660F88}"/>
              </a:ext>
            </a:extLst>
          </p:cNvPr>
          <p:cNvSpPr/>
          <p:nvPr/>
        </p:nvSpPr>
        <p:spPr>
          <a:xfrm>
            <a:off x="6263639" y="2520508"/>
            <a:ext cx="4427539" cy="353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Lifestyle &amp; industrial energy demand indicator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31E6D2C-2AE3-CBFA-3005-8E0BA70F8769}"/>
              </a:ext>
            </a:extLst>
          </p:cNvPr>
          <p:cNvSpPr/>
          <p:nvPr/>
        </p:nvSpPr>
        <p:spPr>
          <a:xfrm>
            <a:off x="1422400" y="3132507"/>
            <a:ext cx="4493768" cy="1392702"/>
          </a:xfrm>
          <a:prstGeom prst="rect">
            <a:avLst/>
          </a:prstGeom>
          <a:solidFill>
            <a:srgbClr val="FFFFFF"/>
          </a:solidFill>
          <a:ln w="16510">
            <a:solidFill>
              <a:srgbClr val="2D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B7F2C5F8-147C-6CCB-BAA8-6B53281EE93B}"/>
              </a:ext>
            </a:extLst>
          </p:cNvPr>
          <p:cNvSpPr/>
          <p:nvPr/>
        </p:nvSpPr>
        <p:spPr>
          <a:xfrm>
            <a:off x="1422400" y="3143495"/>
            <a:ext cx="4493768" cy="316523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770D338-50E9-5F8B-53FB-470FE2E9F28E}"/>
              </a:ext>
            </a:extLst>
          </p:cNvPr>
          <p:cNvSpPr/>
          <p:nvPr/>
        </p:nvSpPr>
        <p:spPr>
          <a:xfrm>
            <a:off x="1525495" y="3167410"/>
            <a:ext cx="4299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3.  Production / Capita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044C8BCB-A14B-132A-D016-67086C12286F}"/>
              </a:ext>
            </a:extLst>
          </p:cNvPr>
          <p:cNvSpPr/>
          <p:nvPr/>
        </p:nvSpPr>
        <p:spPr>
          <a:xfrm>
            <a:off x="1525495" y="3582674"/>
            <a:ext cx="4299233" cy="485335"/>
          </a:xfrm>
          <a:prstGeom prst="rect">
            <a:avLst/>
          </a:prstGeom>
          <a:solidFill>
            <a:srgbClr val="EBF8F9"/>
          </a:solidFill>
          <a:ln w="6350">
            <a:solidFill>
              <a:srgbClr val="A8DADC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703F002-BFC6-51AD-DBF4-94B9D073D57E}"/>
              </a:ext>
            </a:extLst>
          </p:cNvPr>
          <p:cNvSpPr/>
          <p:nvPr/>
        </p:nvSpPr>
        <p:spPr>
          <a:xfrm>
            <a:off x="1577043" y="3606589"/>
            <a:ext cx="4201965" cy="443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SUM(production) / NULLIF(population, 0)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B1E1BBD-6926-D72D-B604-3CA24D568DB8}"/>
              </a:ext>
            </a:extLst>
          </p:cNvPr>
          <p:cNvSpPr/>
          <p:nvPr/>
        </p:nvSpPr>
        <p:spPr>
          <a:xfrm>
            <a:off x="1525495" y="4069416"/>
            <a:ext cx="4299233" cy="400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Self-sufficiency of a country's energy supply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16A510A3-F7FC-224A-795A-11AF569937B1}"/>
              </a:ext>
            </a:extLst>
          </p:cNvPr>
          <p:cNvSpPr/>
          <p:nvPr/>
        </p:nvSpPr>
        <p:spPr>
          <a:xfrm>
            <a:off x="6172200" y="3132507"/>
            <a:ext cx="4627880" cy="1392702"/>
          </a:xfrm>
          <a:prstGeom prst="rect">
            <a:avLst/>
          </a:prstGeom>
          <a:solidFill>
            <a:srgbClr val="FFFFFF"/>
          </a:solidFill>
          <a:ln w="16510">
            <a:solidFill>
              <a:srgbClr val="2D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8C16E277-AD30-BCC8-49DD-F0056EAB6886}"/>
              </a:ext>
            </a:extLst>
          </p:cNvPr>
          <p:cNvSpPr/>
          <p:nvPr/>
        </p:nvSpPr>
        <p:spPr>
          <a:xfrm>
            <a:off x="6172200" y="3132505"/>
            <a:ext cx="4627880" cy="323869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9E6639B-67B3-4A4A-844E-FF0CE885957A}"/>
              </a:ext>
            </a:extLst>
          </p:cNvPr>
          <p:cNvSpPr/>
          <p:nvPr/>
        </p:nvSpPr>
        <p:spPr>
          <a:xfrm>
            <a:off x="6263639" y="3164158"/>
            <a:ext cx="442753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4.  Consumption / GDP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174E5D22-08FB-A98A-2C84-1695E0858E5D}"/>
              </a:ext>
            </a:extLst>
          </p:cNvPr>
          <p:cNvSpPr/>
          <p:nvPr/>
        </p:nvSpPr>
        <p:spPr>
          <a:xfrm>
            <a:off x="6303264" y="3578777"/>
            <a:ext cx="4427539" cy="469158"/>
          </a:xfrm>
          <a:prstGeom prst="rect">
            <a:avLst/>
          </a:prstGeom>
          <a:solidFill>
            <a:srgbClr val="EBF8F9"/>
          </a:solidFill>
          <a:ln w="6350">
            <a:solidFill>
              <a:srgbClr val="A8DADC"/>
            </a:solidFill>
            <a:prstDash val="solid"/>
          </a:ln>
        </p:spPr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FD98186-0ABC-2284-6E06-F22423C7C0CA}"/>
              </a:ext>
            </a:extLst>
          </p:cNvPr>
          <p:cNvSpPr/>
          <p:nvPr/>
        </p:nvSpPr>
        <p:spPr>
          <a:xfrm>
            <a:off x="6348985" y="3601286"/>
            <a:ext cx="4327368" cy="428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SUM(consumption) / NULLIF(gdp, 0)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E334B41-F3C9-AA7C-8975-64A3F5E99E1D}"/>
              </a:ext>
            </a:extLst>
          </p:cNvPr>
          <p:cNvSpPr/>
          <p:nvPr/>
        </p:nvSpPr>
        <p:spPr>
          <a:xfrm>
            <a:off x="6263639" y="4082780"/>
            <a:ext cx="4427539" cy="38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Highlights energy-intensive vs efficient economies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378B6758-F8F1-6F09-41D4-3424850CF556}"/>
              </a:ext>
            </a:extLst>
          </p:cNvPr>
          <p:cNvSpPr/>
          <p:nvPr/>
        </p:nvSpPr>
        <p:spPr>
          <a:xfrm>
            <a:off x="3882136" y="4717502"/>
            <a:ext cx="4224528" cy="1637578"/>
          </a:xfrm>
          <a:prstGeom prst="rect">
            <a:avLst/>
          </a:prstGeom>
          <a:solidFill>
            <a:srgbClr val="FFFFFF"/>
          </a:solidFill>
          <a:ln w="16510">
            <a:solidFill>
              <a:srgbClr val="2D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11956E14-B2DB-EA73-790C-5C0C5DDDCA07}"/>
              </a:ext>
            </a:extLst>
          </p:cNvPr>
          <p:cNvSpPr/>
          <p:nvPr/>
        </p:nvSpPr>
        <p:spPr>
          <a:xfrm>
            <a:off x="3882136" y="4717501"/>
            <a:ext cx="4224528" cy="372177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F1B1CC04-CF67-71AE-75DB-BF8EEF41C52F}"/>
              </a:ext>
            </a:extLst>
          </p:cNvPr>
          <p:cNvSpPr/>
          <p:nvPr/>
        </p:nvSpPr>
        <p:spPr>
          <a:xfrm>
            <a:off x="3973576" y="4744933"/>
            <a:ext cx="4041648" cy="322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5.  GDP Growth vs Prod. Growth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172D4940-721A-0334-8FD2-1D0FF8C058EA}"/>
              </a:ext>
            </a:extLst>
          </p:cNvPr>
          <p:cNvSpPr/>
          <p:nvPr/>
        </p:nvSpPr>
        <p:spPr>
          <a:xfrm>
            <a:off x="3973576" y="5212080"/>
            <a:ext cx="4041648" cy="570671"/>
          </a:xfrm>
          <a:prstGeom prst="rect">
            <a:avLst/>
          </a:prstGeom>
          <a:solidFill>
            <a:srgbClr val="EBF8F9"/>
          </a:solidFill>
          <a:ln w="6350">
            <a:solidFill>
              <a:srgbClr val="A8DADC"/>
            </a:solidFill>
            <a:prstDash val="solid"/>
          </a:ln>
        </p:spPr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526F997-96AE-9686-B07A-C805A77B5726}"/>
              </a:ext>
            </a:extLst>
          </p:cNvPr>
          <p:cNvSpPr/>
          <p:nvPr/>
        </p:nvSpPr>
        <p:spPr>
          <a:xfrm>
            <a:off x="4019296" y="5230369"/>
            <a:ext cx="3950208" cy="521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LAG(production) OVER</a:t>
            </a:r>
            <a:endParaRPr lang="en-US" sz="12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(PARTITION BY country ORDER BY year)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06375E2F-8C4D-79B2-06CD-C241207F7B94}"/>
              </a:ext>
            </a:extLst>
          </p:cNvPr>
          <p:cNvSpPr/>
          <p:nvPr/>
        </p:nvSpPr>
        <p:spPr>
          <a:xfrm>
            <a:off x="3973576" y="5750506"/>
            <a:ext cx="4041648" cy="47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Proxy for economy ↔ energy output correlation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60C57A8C-CA71-18D6-66E3-B2EB6F069B49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75980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99A866-5246-68D6-ED81-EF856D11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7965ECD2-1EC4-BAFF-AFB2-346F6C2B5FA5}"/>
              </a:ext>
            </a:extLst>
          </p:cNvPr>
          <p:cNvSpPr/>
          <p:nvPr/>
        </p:nvSpPr>
        <p:spPr>
          <a:xfrm>
            <a:off x="1422400" y="502920"/>
            <a:ext cx="934720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Comparisons</a:t>
            </a:r>
            <a:endParaRPr lang="en-US" sz="4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CF6F44F-6252-800D-DD7C-8286EA79995C}"/>
              </a:ext>
            </a:extLst>
          </p:cNvPr>
          <p:cNvSpPr/>
          <p:nvPr/>
        </p:nvSpPr>
        <p:spPr>
          <a:xfrm>
            <a:off x="1450848" y="1503680"/>
            <a:ext cx="4328160" cy="2302256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7E2F747-5C58-10C9-B92A-1EDCD198BCEC}"/>
              </a:ext>
            </a:extLst>
          </p:cNvPr>
          <p:cNvSpPr/>
          <p:nvPr/>
        </p:nvSpPr>
        <p:spPr>
          <a:xfrm>
            <a:off x="1563401" y="1503680"/>
            <a:ext cx="4114079" cy="44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Top 10 by Population &amp; Emissions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1A95515-1237-2501-F78D-CFA846CED006}"/>
              </a:ext>
            </a:extLst>
          </p:cNvPr>
          <p:cNvSpPr/>
          <p:nvPr/>
        </p:nvSpPr>
        <p:spPr>
          <a:xfrm>
            <a:off x="1560575" y="1936821"/>
            <a:ext cx="4114079" cy="1783218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38C6960-17F6-90EC-E3FF-056B64719139}"/>
              </a:ext>
            </a:extLst>
          </p:cNvPr>
          <p:cNvSpPr/>
          <p:nvPr/>
        </p:nvSpPr>
        <p:spPr>
          <a:xfrm>
            <a:off x="1564345" y="1936820"/>
            <a:ext cx="4104657" cy="1783217"/>
          </a:xfrm>
          <a:prstGeom prst="rect">
            <a:avLst/>
          </a:prstGeom>
          <a:solidFill>
            <a:srgbClr val="172030"/>
          </a:solidFill>
          <a:ln>
            <a:solidFill>
              <a:srgbClr val="8BB4BA"/>
            </a:solidFill>
          </a:ln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SELECT p.countries, p.Value AS pop,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SUM(e.emission) AS total_emission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FROM population p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JOIN emission_3 e ON p.countries=e.country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AND p.year=e.year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WHERE p.year=(SELECT MAX(year) FROM population)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GROUP BY p.countries, p.Value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ORDER BY pop DESC LIMIT 10;</a:t>
            </a:r>
            <a:endParaRPr lang="en-US" sz="1100" dirty="0">
              <a:solidFill>
                <a:srgbClr val="A8DADC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56E3C18-721E-5149-19F0-40EB57798A35}"/>
              </a:ext>
            </a:extLst>
          </p:cNvPr>
          <p:cNvSpPr/>
          <p:nvPr/>
        </p:nvSpPr>
        <p:spPr>
          <a:xfrm>
            <a:off x="6469890" y="1503680"/>
            <a:ext cx="4299710" cy="2302256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6DA13B9-E827-B6C7-C077-5D08483680D6}"/>
              </a:ext>
            </a:extLst>
          </p:cNvPr>
          <p:cNvSpPr/>
          <p:nvPr/>
        </p:nvSpPr>
        <p:spPr>
          <a:xfrm>
            <a:off x="6570196" y="1503680"/>
            <a:ext cx="4087036" cy="433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Countries That Reduced Per-Capita Emissions Most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CDE4F3F0-C6A4-451D-3A72-24364CC8CAC5}"/>
              </a:ext>
            </a:extLst>
          </p:cNvPr>
          <p:cNvSpPr/>
          <p:nvPr/>
        </p:nvSpPr>
        <p:spPr>
          <a:xfrm>
            <a:off x="6581980" y="1936819"/>
            <a:ext cx="4087036" cy="1783220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0FFF0A8-E0A8-9EE3-E113-7460837EDDC7}"/>
              </a:ext>
            </a:extLst>
          </p:cNvPr>
          <p:cNvSpPr/>
          <p:nvPr/>
        </p:nvSpPr>
        <p:spPr>
          <a:xfrm>
            <a:off x="6579618" y="1936820"/>
            <a:ext cx="4077614" cy="1783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SELECT country,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MIN(per_capita_emission) AS earliest,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MAX(per_capita_emission) AS latest,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MIN - MAX AS reduction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FROM emission_3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WHERE year &gt;= (SELECT MAX(year)...) - 10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HAVING reduction &gt; 0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ORDER BY reduction DESC LIMIT 10;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21D762AE-5EB7-913A-ABF6-B62002AF41A3}"/>
              </a:ext>
            </a:extLst>
          </p:cNvPr>
          <p:cNvSpPr/>
          <p:nvPr/>
        </p:nvSpPr>
        <p:spPr>
          <a:xfrm>
            <a:off x="1450848" y="3927084"/>
            <a:ext cx="4328160" cy="2302254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B7EB52E-7F5A-359A-7BF9-5304EF6DC028}"/>
              </a:ext>
            </a:extLst>
          </p:cNvPr>
          <p:cNvSpPr/>
          <p:nvPr/>
        </p:nvSpPr>
        <p:spPr>
          <a:xfrm>
            <a:off x="1554923" y="3948999"/>
            <a:ext cx="4114079" cy="375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Emission Share (%) by Country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E7BC85C0-E135-E91A-50EF-EE57F1D0CCC8}"/>
              </a:ext>
            </a:extLst>
          </p:cNvPr>
          <p:cNvSpPr/>
          <p:nvPr/>
        </p:nvSpPr>
        <p:spPr>
          <a:xfrm>
            <a:off x="1564345" y="4324086"/>
            <a:ext cx="4114079" cy="1793493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D62693C2-D329-AB14-866A-ED745776A2BF}"/>
              </a:ext>
            </a:extLst>
          </p:cNvPr>
          <p:cNvSpPr/>
          <p:nvPr/>
        </p:nvSpPr>
        <p:spPr>
          <a:xfrm>
            <a:off x="1554923" y="4324086"/>
            <a:ext cx="4123501" cy="1793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SELECT country,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SUM(emission),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ROUND(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  SUM(emission)*100.0 /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  SUM(SUM(emission)) OVER (),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2) AS emission_share_pct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FROM emission_3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05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ORDER BY emission_share_pct DESC;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BD0094F-8433-7DD2-4A73-465076DED1AC}"/>
              </a:ext>
            </a:extLst>
          </p:cNvPr>
          <p:cNvSpPr/>
          <p:nvPr/>
        </p:nvSpPr>
        <p:spPr>
          <a:xfrm>
            <a:off x="6469890" y="3927083"/>
            <a:ext cx="4299710" cy="2302255"/>
          </a:xfrm>
          <a:prstGeom prst="rect">
            <a:avLst/>
          </a:prstGeom>
          <a:solidFill>
            <a:srgbClr val="223045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64A014F-695B-D0C9-8A58-9CBFE4F8562E}"/>
              </a:ext>
            </a:extLst>
          </p:cNvPr>
          <p:cNvSpPr/>
          <p:nvPr/>
        </p:nvSpPr>
        <p:spPr>
          <a:xfrm>
            <a:off x="6570196" y="3948999"/>
            <a:ext cx="4087036" cy="375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Average GDP, Emission &amp; Population / Year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94895C5-5571-5044-B00A-085A60C78278}"/>
              </a:ext>
            </a:extLst>
          </p:cNvPr>
          <p:cNvSpPr/>
          <p:nvPr/>
        </p:nvSpPr>
        <p:spPr>
          <a:xfrm>
            <a:off x="6579618" y="4324087"/>
            <a:ext cx="4087036" cy="1793492"/>
          </a:xfrm>
          <a:prstGeom prst="rect">
            <a:avLst/>
          </a:prstGeom>
          <a:solidFill>
            <a:srgbClr val="172030"/>
          </a:solidFill>
          <a:ln w="6350">
            <a:solidFill>
              <a:srgbClr val="7AA5B0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22D41E6-72FC-D20D-69F6-458DAE0DD4A6}"/>
              </a:ext>
            </a:extLst>
          </p:cNvPr>
          <p:cNvSpPr/>
          <p:nvPr/>
        </p:nvSpPr>
        <p:spPr>
          <a:xfrm>
            <a:off x="6579618" y="4324087"/>
            <a:ext cx="4087035" cy="1793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SELECT g.year,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AVG(g.Value)           AS avg_gdp,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AVG(e.total_emission)  AS avg_emission,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  AVG(p.Value)           AS avg_population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FROM gdp_3 g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JOIN (...sum subquery...) e ...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JOIN population p ...</a:t>
            </a:r>
            <a:endParaRPr lang="en-US" sz="1100" dirty="0">
              <a:latin typeface="Aptos Display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8DADC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GROUP BY g.year ORDER BY g.year;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3206DFEC-DB4E-FEA3-8E75-BBB863B2BE59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9176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945A16C-B1F7-0EB0-0B90-C08A848C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AF02FD2F-A68E-1A8E-2FBB-30A44F095B6F}"/>
              </a:ext>
            </a:extLst>
          </p:cNvPr>
          <p:cNvSpPr/>
          <p:nvPr/>
        </p:nvSpPr>
        <p:spPr>
          <a:xfrm>
            <a:off x="1432560" y="502920"/>
            <a:ext cx="9347200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Key SQL Concepts Used in This Project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CA3DF5D-B48D-A7E0-81A1-538D72CF74DB}"/>
              </a:ext>
            </a:extLst>
          </p:cNvPr>
          <p:cNvSpPr/>
          <p:nvPr/>
        </p:nvSpPr>
        <p:spPr>
          <a:xfrm>
            <a:off x="1432560" y="16235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D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064B401-A65C-CE6F-ECB8-0DFA7F888521}"/>
              </a:ext>
            </a:extLst>
          </p:cNvPr>
          <p:cNvSpPr/>
          <p:nvPr/>
        </p:nvSpPr>
        <p:spPr>
          <a:xfrm>
            <a:off x="1432560" y="1623568"/>
            <a:ext cx="450088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6AE69E9-B0FC-62E3-9FEA-76A0ABAF0F95}"/>
              </a:ext>
            </a:extLst>
          </p:cNvPr>
          <p:cNvSpPr/>
          <p:nvPr/>
        </p:nvSpPr>
        <p:spPr>
          <a:xfrm>
            <a:off x="1524000" y="1660144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Subquery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095042B-0D50-6CC0-8EA0-D691A058FFE2}"/>
              </a:ext>
            </a:extLst>
          </p:cNvPr>
          <p:cNvSpPr/>
          <p:nvPr/>
        </p:nvSpPr>
        <p:spPr>
          <a:xfrm>
            <a:off x="1560576" y="20076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2D8B8B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A393459-7A8D-9DA4-ECB2-DFFB4E4738A7}"/>
              </a:ext>
            </a:extLst>
          </p:cNvPr>
          <p:cNvSpPr/>
          <p:nvPr/>
        </p:nvSpPr>
        <p:spPr>
          <a:xfrm>
            <a:off x="1560576" y="20259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WHERE year = (SELECT MAX(year) FROM ...)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C07EBAA-8569-72AB-22EC-4F00859EC43B}"/>
              </a:ext>
            </a:extLst>
          </p:cNvPr>
          <p:cNvSpPr/>
          <p:nvPr/>
        </p:nvSpPr>
        <p:spPr>
          <a:xfrm>
            <a:off x="1560576" y="24465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Dynamically isolates the most recent year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A7B338BE-3854-2872-86AA-87A71E6431D5}"/>
              </a:ext>
            </a:extLst>
          </p:cNvPr>
          <p:cNvSpPr/>
          <p:nvPr/>
        </p:nvSpPr>
        <p:spPr>
          <a:xfrm>
            <a:off x="6278880" y="16235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7A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1979AD6D-4D2B-D163-2D73-30A6B226F41C}"/>
              </a:ext>
            </a:extLst>
          </p:cNvPr>
          <p:cNvSpPr/>
          <p:nvPr/>
        </p:nvSpPr>
        <p:spPr>
          <a:xfrm>
            <a:off x="6278880" y="1623568"/>
            <a:ext cx="4500880" cy="320040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718A78C-C799-9A81-CD1C-54FCBF8BD2E9}"/>
              </a:ext>
            </a:extLst>
          </p:cNvPr>
          <p:cNvSpPr/>
          <p:nvPr/>
        </p:nvSpPr>
        <p:spPr>
          <a:xfrm>
            <a:off x="6350000" y="1660144"/>
            <a:ext cx="433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JOIN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EB2B9AE1-372D-3FF4-F174-606076A08F97}"/>
              </a:ext>
            </a:extLst>
          </p:cNvPr>
          <p:cNvSpPr/>
          <p:nvPr/>
        </p:nvSpPr>
        <p:spPr>
          <a:xfrm>
            <a:off x="6451600" y="20076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2877A0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D8C37F0-C460-47EC-8AF6-5E3DCC40F91B}"/>
              </a:ext>
            </a:extLst>
          </p:cNvPr>
          <p:cNvSpPr/>
          <p:nvPr/>
        </p:nvSpPr>
        <p:spPr>
          <a:xfrm>
            <a:off x="6655816" y="20259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JOIN population p ON p.countries = e.country AND p.year = e.year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336EBDA-9B07-5E6F-1596-A0135F4D0A8C}"/>
              </a:ext>
            </a:extLst>
          </p:cNvPr>
          <p:cNvSpPr/>
          <p:nvPr/>
        </p:nvSpPr>
        <p:spPr>
          <a:xfrm>
            <a:off x="6451600" y="24465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Links records across multiple tables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0557CCBD-AD8B-DFE3-A82B-7CB9470BB8F8}"/>
              </a:ext>
            </a:extLst>
          </p:cNvPr>
          <p:cNvSpPr/>
          <p:nvPr/>
        </p:nvSpPr>
        <p:spPr>
          <a:xfrm>
            <a:off x="1432560" y="29951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357A7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DA131E96-1633-D02D-09D9-50A48000EEF4}"/>
              </a:ext>
            </a:extLst>
          </p:cNvPr>
          <p:cNvSpPr/>
          <p:nvPr/>
        </p:nvSpPr>
        <p:spPr>
          <a:xfrm>
            <a:off x="1432560" y="2995168"/>
            <a:ext cx="4500880" cy="320040"/>
          </a:xfrm>
          <a:prstGeom prst="rect">
            <a:avLst/>
          </a:prstGeom>
          <a:solidFill>
            <a:srgbClr val="357A7A"/>
          </a:solidFill>
          <a:ln w="12700">
            <a:solidFill>
              <a:srgbClr val="357A7A"/>
            </a:solidFill>
            <a:prstDash val="solid"/>
          </a:ln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29D315C-38FA-1FB4-1805-2A00EE96DE82}"/>
              </a:ext>
            </a:extLst>
          </p:cNvPr>
          <p:cNvSpPr/>
          <p:nvPr/>
        </p:nvSpPr>
        <p:spPr>
          <a:xfrm>
            <a:off x="1524000" y="3031744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LAG()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82D43AA0-F802-BB00-87D3-2D19C462A3E5}"/>
              </a:ext>
            </a:extLst>
          </p:cNvPr>
          <p:cNvSpPr/>
          <p:nvPr/>
        </p:nvSpPr>
        <p:spPr>
          <a:xfrm>
            <a:off x="1560576" y="33792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357A7A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5C0185BA-39CC-32D5-DA6B-BD133056CED2}"/>
              </a:ext>
            </a:extLst>
          </p:cNvPr>
          <p:cNvSpPr/>
          <p:nvPr/>
        </p:nvSpPr>
        <p:spPr>
          <a:xfrm>
            <a:off x="1560576" y="33975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LAG(Value) OVER (PARTITION BY Country ORDER BY year)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10B3FDC-263A-8CA6-79FB-8D09FA84109D}"/>
              </a:ext>
            </a:extLst>
          </p:cNvPr>
          <p:cNvSpPr/>
          <p:nvPr/>
        </p:nvSpPr>
        <p:spPr>
          <a:xfrm>
            <a:off x="1560576" y="38181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Compare this year vs previous year's value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786DD173-BB05-6943-6870-AB8F67D9EEFA}"/>
              </a:ext>
            </a:extLst>
          </p:cNvPr>
          <p:cNvSpPr/>
          <p:nvPr/>
        </p:nvSpPr>
        <p:spPr>
          <a:xfrm>
            <a:off x="6278880" y="29951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D8B8B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D37F200-E814-1ED3-B5B5-7894986C3F3E}"/>
              </a:ext>
            </a:extLst>
          </p:cNvPr>
          <p:cNvSpPr/>
          <p:nvPr/>
        </p:nvSpPr>
        <p:spPr>
          <a:xfrm>
            <a:off x="6278880" y="2995168"/>
            <a:ext cx="450088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3DE2507-DEE9-B561-AB1C-E1CBE9A16F6C}"/>
              </a:ext>
            </a:extLst>
          </p:cNvPr>
          <p:cNvSpPr/>
          <p:nvPr/>
        </p:nvSpPr>
        <p:spPr>
          <a:xfrm>
            <a:off x="6350000" y="3031744"/>
            <a:ext cx="433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NULLIF()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D45E96FF-9C8C-C7E0-37C4-704866483F93}"/>
              </a:ext>
            </a:extLst>
          </p:cNvPr>
          <p:cNvSpPr/>
          <p:nvPr/>
        </p:nvSpPr>
        <p:spPr>
          <a:xfrm>
            <a:off x="6451600" y="33792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2D8B8B"/>
            </a:solidFill>
            <a:prstDash val="solid"/>
          </a:ln>
        </p:spPr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761A0F2-8AAB-E911-367C-B87A6A9B33E5}"/>
              </a:ext>
            </a:extLst>
          </p:cNvPr>
          <p:cNvSpPr/>
          <p:nvPr/>
        </p:nvSpPr>
        <p:spPr>
          <a:xfrm>
            <a:off x="6655816" y="33975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SUM(emission) / NULLIF(gdp, 0)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C49D9FE-0D1A-3976-EB45-2F42FAEF31D1}"/>
              </a:ext>
            </a:extLst>
          </p:cNvPr>
          <p:cNvSpPr/>
          <p:nvPr/>
        </p:nvSpPr>
        <p:spPr>
          <a:xfrm>
            <a:off x="6451600" y="38181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Prevents divide-by-zero runtime errors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AC66749E-8CFD-06A1-4ED5-1F8C9212D893}"/>
              </a:ext>
            </a:extLst>
          </p:cNvPr>
          <p:cNvSpPr/>
          <p:nvPr/>
        </p:nvSpPr>
        <p:spPr>
          <a:xfrm>
            <a:off x="1432560" y="43667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877A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08083953-BFC9-A9F8-0153-C9AA907EF4E5}"/>
              </a:ext>
            </a:extLst>
          </p:cNvPr>
          <p:cNvSpPr/>
          <p:nvPr/>
        </p:nvSpPr>
        <p:spPr>
          <a:xfrm>
            <a:off x="1432560" y="4366768"/>
            <a:ext cx="4500880" cy="320040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0988C504-3301-6327-A2A0-B9DC6B13C0F9}"/>
              </a:ext>
            </a:extLst>
          </p:cNvPr>
          <p:cNvSpPr/>
          <p:nvPr/>
        </p:nvSpPr>
        <p:spPr>
          <a:xfrm>
            <a:off x="1524000" y="4403344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SUM + GROUP BY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6D3BC6D7-DF4E-AD96-CBB8-F0EA3F548E74}"/>
              </a:ext>
            </a:extLst>
          </p:cNvPr>
          <p:cNvSpPr/>
          <p:nvPr/>
        </p:nvSpPr>
        <p:spPr>
          <a:xfrm>
            <a:off x="1560576" y="47508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2877A0"/>
            </a:solidFill>
            <a:prstDash val="solid"/>
          </a:ln>
        </p:spPr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0D936DBC-161B-4B38-BEDB-75EF9275ED6E}"/>
              </a:ext>
            </a:extLst>
          </p:cNvPr>
          <p:cNvSpPr/>
          <p:nvPr/>
        </p:nvSpPr>
        <p:spPr>
          <a:xfrm>
            <a:off x="1560576" y="47691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SUM(emission) ... GROUP BY country, year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D0FECF1D-AB7C-4E17-933F-1D4159C25FD9}"/>
              </a:ext>
            </a:extLst>
          </p:cNvPr>
          <p:cNvSpPr/>
          <p:nvPr/>
        </p:nvSpPr>
        <p:spPr>
          <a:xfrm>
            <a:off x="1560576" y="51897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Aggregates multi-row energy data per entity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03A2C603-52F2-A495-0ADA-F92111EB4555}"/>
              </a:ext>
            </a:extLst>
          </p:cNvPr>
          <p:cNvSpPr/>
          <p:nvPr/>
        </p:nvSpPr>
        <p:spPr>
          <a:xfrm>
            <a:off x="6278880" y="4366768"/>
            <a:ext cx="45008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357A7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C4D79975-1AE8-FDBD-E1D8-FB18ADC9A8A0}"/>
              </a:ext>
            </a:extLst>
          </p:cNvPr>
          <p:cNvSpPr/>
          <p:nvPr/>
        </p:nvSpPr>
        <p:spPr>
          <a:xfrm>
            <a:off x="6278880" y="4366768"/>
            <a:ext cx="4500880" cy="320040"/>
          </a:xfrm>
          <a:prstGeom prst="rect">
            <a:avLst/>
          </a:prstGeom>
          <a:solidFill>
            <a:srgbClr val="357A7A"/>
          </a:solidFill>
          <a:ln w="12700">
            <a:solidFill>
              <a:srgbClr val="357A7A"/>
            </a:solidFill>
            <a:prstDash val="solid"/>
          </a:ln>
        </p:spPr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50FA2C2B-2ED7-FCC1-1F5E-679FD7091551}"/>
              </a:ext>
            </a:extLst>
          </p:cNvPr>
          <p:cNvSpPr/>
          <p:nvPr/>
        </p:nvSpPr>
        <p:spPr>
          <a:xfrm>
            <a:off x="6350000" y="4403344"/>
            <a:ext cx="433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Window Function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9125618D-A4AB-7813-8CB0-3570D0A63FBB}"/>
              </a:ext>
            </a:extLst>
          </p:cNvPr>
          <p:cNvSpPr/>
          <p:nvPr/>
        </p:nvSpPr>
        <p:spPr>
          <a:xfrm>
            <a:off x="6451600" y="4750816"/>
            <a:ext cx="4179824" cy="384048"/>
          </a:xfrm>
          <a:prstGeom prst="rect">
            <a:avLst/>
          </a:prstGeom>
          <a:solidFill>
            <a:srgbClr val="EBF8F9"/>
          </a:solidFill>
          <a:ln w="6350">
            <a:solidFill>
              <a:srgbClr val="357A7A"/>
            </a:solidFill>
            <a:prstDash val="solid"/>
          </a:ln>
        </p:spPr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6B07D539-FAE9-657E-C43B-7C72BB924F20}"/>
              </a:ext>
            </a:extLst>
          </p:cNvPr>
          <p:cNvSpPr/>
          <p:nvPr/>
        </p:nvSpPr>
        <p:spPr>
          <a:xfrm>
            <a:off x="6655816" y="4769104"/>
            <a:ext cx="3995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344"/>
                </a:solidFill>
                <a:latin typeface="Aptos Display" panose="020B0004020202020204" pitchFamily="34" charset="0"/>
                <a:ea typeface="Courier New" pitchFamily="34" charset="-122"/>
                <a:cs typeface="Courier New" pitchFamily="34" charset="-120"/>
              </a:rPr>
              <a:t>SUM(emission)*100 / SUM(SUM(emission)) OVER ()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B3884D4C-962D-9689-2A57-30E0ADFD3890}"/>
              </a:ext>
            </a:extLst>
          </p:cNvPr>
          <p:cNvSpPr/>
          <p:nvPr/>
        </p:nvSpPr>
        <p:spPr>
          <a:xfrm>
            <a:off x="6451600" y="5189728"/>
            <a:ext cx="417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Global % share without a self-join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C2BB5D66-BED0-9549-D72C-AC4B613313B5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55888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E16E1C9-A8EE-B25A-173C-6216B94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64644BF2-E706-B899-AF65-62E9EF8BC82E}"/>
              </a:ext>
            </a:extLst>
          </p:cNvPr>
          <p:cNvSpPr/>
          <p:nvPr/>
        </p:nvSpPr>
        <p:spPr>
          <a:xfrm>
            <a:off x="1422400" y="502920"/>
            <a:ext cx="9357360" cy="129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Alternative Approaches &amp; When to Choose</a:t>
            </a:r>
            <a:endParaRPr lang="en-US" sz="4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5925AE9-30A3-EC94-672D-29F13470E886}"/>
              </a:ext>
            </a:extLst>
          </p:cNvPr>
          <p:cNvSpPr/>
          <p:nvPr/>
        </p:nvSpPr>
        <p:spPr>
          <a:xfrm>
            <a:off x="1367249" y="2044192"/>
            <a:ext cx="9412511" cy="123444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DF243E3-0F0B-5E6D-D034-806363FCBC86}"/>
              </a:ext>
            </a:extLst>
          </p:cNvPr>
          <p:cNvSpPr/>
          <p:nvPr/>
        </p:nvSpPr>
        <p:spPr>
          <a:xfrm>
            <a:off x="1367249" y="2044192"/>
            <a:ext cx="2442751" cy="12344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7745A70-C110-11E8-8695-4430E231D467}"/>
              </a:ext>
            </a:extLst>
          </p:cNvPr>
          <p:cNvSpPr/>
          <p:nvPr/>
        </p:nvSpPr>
        <p:spPr>
          <a:xfrm>
            <a:off x="1412240" y="2227072"/>
            <a:ext cx="2323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CTE  (WITH clause)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00AA2F8-F866-D39A-36C6-F7C5001CBC12}"/>
              </a:ext>
            </a:extLst>
          </p:cNvPr>
          <p:cNvSpPr/>
          <p:nvPr/>
        </p:nvSpPr>
        <p:spPr>
          <a:xfrm>
            <a:off x="1412240" y="2794000"/>
            <a:ext cx="232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vs  Subquery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F7ECAE8-C91B-C4FA-7CAE-39F5C33A2552}"/>
              </a:ext>
            </a:extLst>
          </p:cNvPr>
          <p:cNvSpPr/>
          <p:nvPr/>
        </p:nvSpPr>
        <p:spPr>
          <a:xfrm>
            <a:off x="3864863" y="2117344"/>
            <a:ext cx="77405" cy="1078992"/>
          </a:xfrm>
          <a:prstGeom prst="rect">
            <a:avLst/>
          </a:prstGeom>
          <a:solidFill>
            <a:srgbClr val="002060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A08D4EB-B891-6CBF-B770-28ACDB0C821A}"/>
              </a:ext>
            </a:extLst>
          </p:cNvPr>
          <p:cNvSpPr/>
          <p:nvPr/>
        </p:nvSpPr>
        <p:spPr>
          <a:xfrm>
            <a:off x="4011168" y="2135632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✓  When to choose:</a:t>
            </a:r>
            <a:endParaRPr lang="en-US" sz="11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32C3F5A-B812-2D08-6FD1-CA8F95E29988}"/>
              </a:ext>
            </a:extLst>
          </p:cNvPr>
          <p:cNvSpPr/>
          <p:nvPr/>
        </p:nvSpPr>
        <p:spPr>
          <a:xfrm>
            <a:off x="4011168" y="2373376"/>
            <a:ext cx="6656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Use when the same derived result is needed multiple times in one query, or for improved readability.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1FD470C-5D1C-5C18-BA0F-0014B2F808AF}"/>
              </a:ext>
            </a:extLst>
          </p:cNvPr>
          <p:cNvSpPr/>
          <p:nvPr/>
        </p:nvSpPr>
        <p:spPr>
          <a:xfrm>
            <a:off x="4011168" y="2757424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✗  When to avoid: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0C970B1-F6AD-971E-1E65-9CE6F2041234}"/>
              </a:ext>
            </a:extLst>
          </p:cNvPr>
          <p:cNvSpPr/>
          <p:nvPr/>
        </p:nvSpPr>
        <p:spPr>
          <a:xfrm>
            <a:off x="4011168" y="2995168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Avoid for simple one-time lookups — a subquery is shorter and equally fast.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DA2C601-13B2-0442-431E-5A49DAC506F1}"/>
              </a:ext>
            </a:extLst>
          </p:cNvPr>
          <p:cNvSpPr/>
          <p:nvPr/>
        </p:nvSpPr>
        <p:spPr>
          <a:xfrm>
            <a:off x="1367249" y="3397504"/>
            <a:ext cx="9412511" cy="123444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7CBAE1B-C5DC-737D-36C4-BAF22B5E8EDE}"/>
              </a:ext>
            </a:extLst>
          </p:cNvPr>
          <p:cNvSpPr/>
          <p:nvPr/>
        </p:nvSpPr>
        <p:spPr>
          <a:xfrm>
            <a:off x="1367249" y="3397504"/>
            <a:ext cx="2442751" cy="1234440"/>
          </a:xfrm>
          <a:prstGeom prst="rect">
            <a:avLst/>
          </a:prstGeom>
          <a:solidFill>
            <a:srgbClr val="2877A0"/>
          </a:solidFill>
          <a:ln w="12700">
            <a:solidFill>
              <a:srgbClr val="2877A0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3A588E1-3C07-5FD5-105D-C39128ECB72E}"/>
              </a:ext>
            </a:extLst>
          </p:cNvPr>
          <p:cNvSpPr/>
          <p:nvPr/>
        </p:nvSpPr>
        <p:spPr>
          <a:xfrm>
            <a:off x="1412240" y="3580384"/>
            <a:ext cx="2323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Self-JOIN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D0470A0-1921-9DC0-1A7E-5DBF6726DEB4}"/>
              </a:ext>
            </a:extLst>
          </p:cNvPr>
          <p:cNvSpPr/>
          <p:nvPr/>
        </p:nvSpPr>
        <p:spPr>
          <a:xfrm>
            <a:off x="1412240" y="4147312"/>
            <a:ext cx="232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vs  LAG() Window Function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6F57010-882A-B982-EFAB-85EA30A15960}"/>
              </a:ext>
            </a:extLst>
          </p:cNvPr>
          <p:cNvSpPr/>
          <p:nvPr/>
        </p:nvSpPr>
        <p:spPr>
          <a:xfrm>
            <a:off x="3864863" y="3470656"/>
            <a:ext cx="77405" cy="1078992"/>
          </a:xfrm>
          <a:prstGeom prst="rect">
            <a:avLst/>
          </a:prstGeom>
          <a:solidFill>
            <a:srgbClr val="002060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42F7CCD0-8913-3082-A1E1-8D8E9D31B8EA}"/>
              </a:ext>
            </a:extLst>
          </p:cNvPr>
          <p:cNvSpPr/>
          <p:nvPr/>
        </p:nvSpPr>
        <p:spPr>
          <a:xfrm>
            <a:off x="4011168" y="3488944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✓  When to choose:</a:t>
            </a:r>
            <a:endParaRPr lang="en-US" sz="11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F528FDC-CA56-ECB6-23FF-953485092263}"/>
              </a:ext>
            </a:extLst>
          </p:cNvPr>
          <p:cNvSpPr/>
          <p:nvPr/>
        </p:nvSpPr>
        <p:spPr>
          <a:xfrm>
            <a:off x="4011168" y="3726688"/>
            <a:ext cx="6656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Use on MySQL versions below 8.0 where LAG() is unavailable.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B3FECF8-9C89-527D-0649-7D4B4B70BD54}"/>
              </a:ext>
            </a:extLst>
          </p:cNvPr>
          <p:cNvSpPr/>
          <p:nvPr/>
        </p:nvSpPr>
        <p:spPr>
          <a:xfrm>
            <a:off x="4011168" y="4110736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✗  When to avoid: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6AE9CD38-8502-11A2-BFBE-A563FB75E066}"/>
              </a:ext>
            </a:extLst>
          </p:cNvPr>
          <p:cNvSpPr/>
          <p:nvPr/>
        </p:nvSpPr>
        <p:spPr>
          <a:xfrm>
            <a:off x="4011168" y="4348480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Avoid on MySQL 8.0+ — LAG() is faster (single scan) and far more readable.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582E34E7-1664-8E45-72C9-EA6CDD00C3D1}"/>
              </a:ext>
            </a:extLst>
          </p:cNvPr>
          <p:cNvSpPr/>
          <p:nvPr/>
        </p:nvSpPr>
        <p:spPr>
          <a:xfrm>
            <a:off x="1367249" y="4750816"/>
            <a:ext cx="9412511" cy="123444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5FC1D9A-18E0-5CB4-F59B-F2D74DF066CD}"/>
              </a:ext>
            </a:extLst>
          </p:cNvPr>
          <p:cNvSpPr/>
          <p:nvPr/>
        </p:nvSpPr>
        <p:spPr>
          <a:xfrm>
            <a:off x="1367249" y="4750816"/>
            <a:ext cx="2442751" cy="1234440"/>
          </a:xfrm>
          <a:prstGeom prst="rect">
            <a:avLst/>
          </a:prstGeom>
          <a:solidFill>
            <a:srgbClr val="357A7A"/>
          </a:solidFill>
          <a:ln w="12700">
            <a:solidFill>
              <a:srgbClr val="357A7A"/>
            </a:solidFill>
            <a:prstDash val="solid"/>
          </a:ln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ADAF3994-24E4-70F0-2306-D72C4374F584}"/>
              </a:ext>
            </a:extLst>
          </p:cNvPr>
          <p:cNvSpPr/>
          <p:nvPr/>
        </p:nvSpPr>
        <p:spPr>
          <a:xfrm>
            <a:off x="1412240" y="4933696"/>
            <a:ext cx="2323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Correlated Subquery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D861328D-326E-42C8-5022-4843356C733D}"/>
              </a:ext>
            </a:extLst>
          </p:cNvPr>
          <p:cNvSpPr/>
          <p:nvPr/>
        </p:nvSpPr>
        <p:spPr>
          <a:xfrm>
            <a:off x="1412240" y="5500624"/>
            <a:ext cx="2323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vs  MIN/MAX Aggregation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0168D8CE-3E5C-94F8-DB71-8191D8591F20}"/>
              </a:ext>
            </a:extLst>
          </p:cNvPr>
          <p:cNvSpPr/>
          <p:nvPr/>
        </p:nvSpPr>
        <p:spPr>
          <a:xfrm>
            <a:off x="3864863" y="4823968"/>
            <a:ext cx="77405" cy="1078992"/>
          </a:xfrm>
          <a:prstGeom prst="rect">
            <a:avLst/>
          </a:prstGeom>
          <a:solidFill>
            <a:srgbClr val="002060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5642317-72CC-AFAD-DFC1-DE54A5CC484F}"/>
              </a:ext>
            </a:extLst>
          </p:cNvPr>
          <p:cNvSpPr/>
          <p:nvPr/>
        </p:nvSpPr>
        <p:spPr>
          <a:xfrm>
            <a:off x="4011168" y="4842256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✓  When to choose:</a:t>
            </a:r>
            <a:endParaRPr lang="en-US" sz="11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8D5767A-A9F1-1651-84A9-41A846D2D284}"/>
              </a:ext>
            </a:extLst>
          </p:cNvPr>
          <p:cNvSpPr/>
          <p:nvPr/>
        </p:nvSpPr>
        <p:spPr>
          <a:xfrm>
            <a:off x="4011168" y="5080000"/>
            <a:ext cx="6656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Use when you need to explicitly pin exact first/last year values per country for precision.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36C5D78C-CC08-1397-5EEB-88B3A5178E2D}"/>
              </a:ext>
            </a:extLst>
          </p:cNvPr>
          <p:cNvSpPr/>
          <p:nvPr/>
        </p:nvSpPr>
        <p:spPr>
          <a:xfrm>
            <a:off x="4011168" y="5464048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✗  When to avoid: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FDC5187B-3433-2AE4-DBF1-EB7280B5FE35}"/>
              </a:ext>
            </a:extLst>
          </p:cNvPr>
          <p:cNvSpPr/>
          <p:nvPr/>
        </p:nvSpPr>
        <p:spPr>
          <a:xfrm>
            <a:off x="4011168" y="5701792"/>
            <a:ext cx="6656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Avoid if data is clean and MIN/MAX ranges are reliable — correlated subqueries are slower.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58666C24-FFAA-134C-E031-F625B900EDDE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48880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1E2ECB-C213-8F6A-6423-046598E9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28C51A60-1596-4A0E-9030-BD61829D90DC}"/>
              </a:ext>
            </a:extLst>
          </p:cNvPr>
          <p:cNvSpPr/>
          <p:nvPr/>
        </p:nvSpPr>
        <p:spPr>
          <a:xfrm>
            <a:off x="1427480" y="502920"/>
            <a:ext cx="9337042" cy="7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Key Insights &amp; Findings</a:t>
            </a:r>
            <a:endParaRPr lang="en-US" sz="4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CDBCDAF-802E-E820-6F64-04EB67D3AAB3}"/>
              </a:ext>
            </a:extLst>
          </p:cNvPr>
          <p:cNvSpPr/>
          <p:nvPr/>
        </p:nvSpPr>
        <p:spPr>
          <a:xfrm>
            <a:off x="1427480" y="1750568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3326904-EF77-1DDB-F5C9-B5682FD6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208" y="1860296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2F16BFC5-3D80-052B-F4B5-2A7F35CD3311}"/>
              </a:ext>
            </a:extLst>
          </p:cNvPr>
          <p:cNvSpPr/>
          <p:nvPr/>
        </p:nvSpPr>
        <p:spPr>
          <a:xfrm>
            <a:off x="2070506" y="1842008"/>
            <a:ext cx="2089504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~41%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7A8A0F5-295D-086A-46E1-6C25ABEFAF95}"/>
              </a:ext>
            </a:extLst>
          </p:cNvPr>
          <p:cNvSpPr/>
          <p:nvPr/>
        </p:nvSpPr>
        <p:spPr>
          <a:xfrm>
            <a:off x="1518920" y="2381504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Coal's Emission Share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69767E4-1E69-FD1E-FB7A-EA87C616C3AD}"/>
              </a:ext>
            </a:extLst>
          </p:cNvPr>
          <p:cNvSpPr/>
          <p:nvPr/>
        </p:nvSpPr>
        <p:spPr>
          <a:xfrm>
            <a:off x="1518920" y="2610104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Coal is the single largest CO₂ source globally, driven by Asia-Pacific industrial growth.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19CCE7C-98F5-3455-D4C1-3464069FD7BD}"/>
              </a:ext>
            </a:extLst>
          </p:cNvPr>
          <p:cNvSpPr/>
          <p:nvPr/>
        </p:nvSpPr>
        <p:spPr>
          <a:xfrm>
            <a:off x="4670554" y="1750568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8B2BD00-F8F9-88C0-B549-FDB0281DA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22" y="1860296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74E92882-91D7-D858-98FA-7526719817EA}"/>
              </a:ext>
            </a:extLst>
          </p:cNvPr>
          <p:cNvSpPr/>
          <p:nvPr/>
        </p:nvSpPr>
        <p:spPr>
          <a:xfrm>
            <a:off x="5405120" y="1842008"/>
            <a:ext cx="2024888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Top 3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388F33-7462-8D53-EDC4-CAC1AC896235}"/>
              </a:ext>
            </a:extLst>
          </p:cNvPr>
          <p:cNvSpPr/>
          <p:nvPr/>
        </p:nvSpPr>
        <p:spPr>
          <a:xfrm>
            <a:off x="4769174" y="2381504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Highest Emitters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B857571-5F32-98E8-5F25-82502760D439}"/>
              </a:ext>
            </a:extLst>
          </p:cNvPr>
          <p:cNvSpPr/>
          <p:nvPr/>
        </p:nvSpPr>
        <p:spPr>
          <a:xfrm>
            <a:off x="4769174" y="2610104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China, USA &amp; India account for 50%+ of global emissions consistently across all recent years.</a:t>
            </a:r>
            <a:endParaRPr lang="en-US" sz="1350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885CD746-2A5F-5B8F-26A1-08781FC5009F}"/>
              </a:ext>
            </a:extLst>
          </p:cNvPr>
          <p:cNvSpPr/>
          <p:nvPr/>
        </p:nvSpPr>
        <p:spPr>
          <a:xfrm>
            <a:off x="7913628" y="1735328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5BE44C73-0A10-B8C6-5FBD-CFE73F177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896" y="1845056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23C36F24-01F2-CCD8-FA12-D20919D31936}"/>
              </a:ext>
            </a:extLst>
          </p:cNvPr>
          <p:cNvSpPr/>
          <p:nvPr/>
        </p:nvSpPr>
        <p:spPr>
          <a:xfrm>
            <a:off x="8636000" y="1826768"/>
            <a:ext cx="2037082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↓ Trend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72167C7-8248-4B76-D524-21E8D03CD083}"/>
              </a:ext>
            </a:extLst>
          </p:cNvPr>
          <p:cNvSpPr/>
          <p:nvPr/>
        </p:nvSpPr>
        <p:spPr>
          <a:xfrm>
            <a:off x="8012248" y="2366264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European Per-Capita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095AC2F1-F3F8-C228-B146-1A5AA718B8D7}"/>
              </a:ext>
            </a:extLst>
          </p:cNvPr>
          <p:cNvSpPr/>
          <p:nvPr/>
        </p:nvSpPr>
        <p:spPr>
          <a:xfrm>
            <a:off x="8012248" y="2594864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Several EU countries steadily reduced per-capita emissions despite continued GDP growth.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3E1CB668-2F6D-ABEE-F260-A0D921E473BA}"/>
              </a:ext>
            </a:extLst>
          </p:cNvPr>
          <p:cNvSpPr/>
          <p:nvPr/>
        </p:nvSpPr>
        <p:spPr>
          <a:xfrm>
            <a:off x="1427480" y="4057904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6F2244C3-7FCF-D475-4FAB-B893AA1C1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208" y="4167632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ED92D459-A8A0-E46C-AA5D-D2CF454495DD}"/>
              </a:ext>
            </a:extLst>
          </p:cNvPr>
          <p:cNvSpPr/>
          <p:nvPr/>
        </p:nvSpPr>
        <p:spPr>
          <a:xfrm>
            <a:off x="2058312" y="4149344"/>
            <a:ext cx="2101698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2020 Dip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5E9A95DB-D7DD-4969-3C60-35F05C506E82}"/>
              </a:ext>
            </a:extLst>
          </p:cNvPr>
          <p:cNvSpPr/>
          <p:nvPr/>
        </p:nvSpPr>
        <p:spPr>
          <a:xfrm>
            <a:off x="1518920" y="4688840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COVID Impact Visible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F6DBBA70-49CA-E51D-82DB-2123B3DEB109}"/>
              </a:ext>
            </a:extLst>
          </p:cNvPr>
          <p:cNvSpPr/>
          <p:nvPr/>
        </p:nvSpPr>
        <p:spPr>
          <a:xfrm>
            <a:off x="1518920" y="4917440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Measurable drop in consumption &amp; emissions in 2020 — sharp recovery by 2022 confirmed.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B2294466-0A6E-9B2E-C769-8ECB12297B2E}"/>
              </a:ext>
            </a:extLst>
          </p:cNvPr>
          <p:cNvSpPr/>
          <p:nvPr/>
        </p:nvSpPr>
        <p:spPr>
          <a:xfrm>
            <a:off x="4670554" y="4057904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774C178E-5343-C585-C91C-DCB5E7E26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822" y="4167632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7C0CE926-31B0-D719-BDC6-DE1930D88A4B}"/>
              </a:ext>
            </a:extLst>
          </p:cNvPr>
          <p:cNvSpPr/>
          <p:nvPr/>
        </p:nvSpPr>
        <p:spPr>
          <a:xfrm>
            <a:off x="5405120" y="4149344"/>
            <a:ext cx="2024888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5×+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8A246C4D-EDA4-D034-3BB0-2FA215714D00}"/>
              </a:ext>
            </a:extLst>
          </p:cNvPr>
          <p:cNvSpPr/>
          <p:nvPr/>
        </p:nvSpPr>
        <p:spPr>
          <a:xfrm>
            <a:off x="4769174" y="4688840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Production &gt; Consumption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FCF47DFC-25BF-CACB-3039-BE95E4334B01}"/>
              </a:ext>
            </a:extLst>
          </p:cNvPr>
          <p:cNvSpPr/>
          <p:nvPr/>
        </p:nvSpPr>
        <p:spPr>
          <a:xfrm>
            <a:off x="4769174" y="4917440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Major oil-producing nations export far more than they consume domestically.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64ECD8E0-6EED-7815-B225-61E8D1B0D828}"/>
              </a:ext>
            </a:extLst>
          </p:cNvPr>
          <p:cNvSpPr/>
          <p:nvPr/>
        </p:nvSpPr>
        <p:spPr>
          <a:xfrm>
            <a:off x="7913628" y="4042664"/>
            <a:ext cx="2850894" cy="1828800"/>
          </a:xfrm>
          <a:prstGeom prst="rect">
            <a:avLst/>
          </a:prstGeom>
          <a:solidFill>
            <a:schemeClr val="tx2"/>
          </a:solidFill>
          <a:ln w="15240">
            <a:solidFill>
              <a:srgbClr val="2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B5452A25-34DC-7122-28FB-6C2D1806A6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4896" y="4152392"/>
            <a:ext cx="427634" cy="41148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7" name="Text 25">
            <a:extLst>
              <a:ext uri="{FF2B5EF4-FFF2-40B4-BE49-F238E27FC236}">
                <a16:creationId xmlns:a16="http://schemas.microsoft.com/office/drawing/2014/main" id="{10F64659-FB4C-13B2-6CB5-119F3909D9DB}"/>
              </a:ext>
            </a:extLst>
          </p:cNvPr>
          <p:cNvSpPr/>
          <p:nvPr/>
        </p:nvSpPr>
        <p:spPr>
          <a:xfrm>
            <a:off x="8636000" y="4134104"/>
            <a:ext cx="2037082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GDP ≠</a:t>
            </a:r>
            <a:endParaRPr lang="en-US" sz="18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3364627C-A4B3-602E-04DB-8DC7F95E2D00}"/>
              </a:ext>
            </a:extLst>
          </p:cNvPr>
          <p:cNvSpPr/>
          <p:nvPr/>
        </p:nvSpPr>
        <p:spPr>
          <a:xfrm>
            <a:off x="8012248" y="4673600"/>
            <a:ext cx="2660834" cy="2743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Decoupling Observed</a:t>
            </a:r>
            <a:endParaRPr lang="en-US" sz="1200" dirty="0">
              <a:solidFill>
                <a:srgbClr val="002060"/>
              </a:solidFill>
              <a:latin typeface="Aptos Display" panose="020B0004020202020204" pitchFamily="34" charset="0"/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025E1D11-E0E4-94AB-78C0-09FE1E5230A7}"/>
              </a:ext>
            </a:extLst>
          </p:cNvPr>
          <p:cNvSpPr/>
          <p:nvPr/>
        </p:nvSpPr>
        <p:spPr>
          <a:xfrm>
            <a:off x="8012248" y="4902200"/>
            <a:ext cx="2660834" cy="87782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High-GDP economies (Germany, Japan) show falling emission-to-GDP ratios — growth decoupling.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26145D4C-BB6D-1EC3-04FC-6B36E2AE2F95}"/>
              </a:ext>
            </a:extLst>
          </p:cNvPr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83548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1760" y="178978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834640"/>
            <a:ext cx="4465642" cy="122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YOU!!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1484</Words>
  <Application>Microsoft Office PowerPoint</Application>
  <PresentationFormat>Widescreen</PresentationFormat>
  <Paragraphs>214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Lato Black</vt:lpstr>
      <vt:lpstr>Aptos Display</vt:lpstr>
      <vt:lpstr>Libre Baskerville</vt:lpstr>
      <vt:lpstr>Office Theme</vt:lpstr>
      <vt:lpstr>PowerPoint Presentation</vt:lpstr>
      <vt:lpstr>PowerPoint Presentation</vt:lpstr>
      <vt:lpstr>Project Overview &amp;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Sushanth Bongarala</cp:lastModifiedBy>
  <cp:revision>5</cp:revision>
  <dcterms:created xsi:type="dcterms:W3CDTF">2021-02-16T05:19:01Z</dcterms:created>
  <dcterms:modified xsi:type="dcterms:W3CDTF">2026-03-28T06:41:44Z</dcterms:modified>
</cp:coreProperties>
</file>