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72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1" r:id="rId13"/>
    <p:sldId id="259" r:id="rId14"/>
  </p:sldIdLst>
  <p:sldSz cx="12192000" cy="6858000"/>
  <p:notesSz cx="6858000" cy="9144000"/>
  <p:embeddedFontLst>
    <p:embeddedFont>
      <p:font typeface="Libre Baskerville" panose="02000000000000000000" pitchFamily="2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3" roundtripDataSignature="AMtx7mi4HmEECUlll0m8HTY06QsqsmZGG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8DADC"/>
    <a:srgbClr val="8BB4BA"/>
    <a:srgbClr val="2877A0"/>
    <a:srgbClr val="17203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customschemas.google.com/relationships/presentationmetadata" Target="meta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en-US"/>
              <a:t>Emission Share by Energy Type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%</c:v>
                </c:pt>
              </c:strCache>
            </c:strRef>
          </c:tx>
          <c:spPr>
            <a:solidFill>
              <a:srgbClr val="1A2332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239D-4240-9C2C-D0AD7BA87F1D}"/>
              </c:ext>
            </c:extLst>
          </c:dPt>
          <c:dPt>
            <c:idx val="1"/>
            <c:invertIfNegative val="0"/>
            <c:bubble3D val="0"/>
            <c:spPr>
              <a:solidFill>
                <a:srgbClr val="2D8B8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239D-4240-9C2C-D0AD7BA87F1D}"/>
              </c:ext>
            </c:extLst>
          </c:dPt>
          <c:dPt>
            <c:idx val="2"/>
            <c:invertIfNegative val="0"/>
            <c:bubble3D val="0"/>
            <c:spPr>
              <a:solidFill>
                <a:srgbClr val="A8DA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4-239D-4240-9C2C-D0AD7BA87F1D}"/>
              </c:ext>
            </c:extLst>
          </c:dPt>
          <c:dPt>
            <c:idx val="3"/>
            <c:invertIfNegative val="0"/>
            <c:bubble3D val="0"/>
            <c:spPr>
              <a:solidFill>
                <a:srgbClr val="357A7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6-239D-4240-9C2C-D0AD7BA87F1D}"/>
              </c:ext>
            </c:extLst>
          </c:dPt>
          <c:dPt>
            <c:idx val="4"/>
            <c:invertIfNegative val="0"/>
            <c:bubble3D val="0"/>
            <c:spPr>
              <a:solidFill>
                <a:srgbClr val="2877A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8-239D-4240-9C2C-D0AD7BA87F1D}"/>
              </c:ext>
            </c:extLst>
          </c:dPt>
          <c:dPt>
            <c:idx val="5"/>
            <c:invertIfNegative val="0"/>
            <c:bubble3D val="0"/>
            <c:spPr>
              <a:solidFill>
                <a:srgbClr val="7AA5B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A-239D-4240-9C2C-D0AD7BA87F1D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Coal</c:v>
                </c:pt>
                <c:pt idx="1">
                  <c:v>Oil</c:v>
                </c:pt>
                <c:pt idx="2">
                  <c:v>Natural Gas</c:v>
                </c:pt>
                <c:pt idx="3">
                  <c:v>Biofuels</c:v>
                </c:pt>
                <c:pt idx="4">
                  <c:v>Flaring</c:v>
                </c:pt>
                <c:pt idx="5">
                  <c:v>Other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41</c:v>
                </c:pt>
                <c:pt idx="1">
                  <c:v>31</c:v>
                </c:pt>
                <c:pt idx="2">
                  <c:v>21</c:v>
                </c:pt>
                <c:pt idx="3">
                  <c:v>3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239D-4240-9C2C-D0AD7BA87F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E8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txPr>
    <a:bodyPr/>
    <a:lstStyle/>
    <a:p>
      <a:pPr>
        <a:defRPr>
          <a:latin typeface="Aptos Display" panose="020B0004020202020204" pitchFamily="34" charset="0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cap="none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fr-FR"/>
              <a:t>Global Emission Trend (MMtonnes CO₂)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cap="none" baseline="0">
              <a:solidFill>
                <a:schemeClr val="lt1">
                  <a:lumMod val="8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Global Emissions</c:v>
                </c:pt>
              </c:strCache>
            </c:strRef>
          </c:tx>
          <c:spPr>
            <a:ln w="22225" cap="rnd">
              <a:solidFill>
                <a:schemeClr val="accent1"/>
              </a:solidFill>
            </a:ln>
            <a:effectLst>
              <a:glow rad="139700">
                <a:schemeClr val="accent1">
                  <a:satMod val="175000"/>
                  <a:alpha val="14000"/>
                </a:schemeClr>
              </a:glow>
            </a:effectLst>
          </c:spPr>
          <c:marker>
            <c:symbol val="none"/>
          </c:marke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2003</c:v>
                </c:pt>
                <c:pt idx="2">
                  <c:v>2006</c:v>
                </c:pt>
                <c:pt idx="3">
                  <c:v>2009</c:v>
                </c:pt>
                <c:pt idx="4">
                  <c:v>2012</c:v>
                </c:pt>
                <c:pt idx="5">
                  <c:v>2015</c:v>
                </c:pt>
                <c:pt idx="6">
                  <c:v>2018</c:v>
                </c:pt>
                <c:pt idx="7">
                  <c:v>2021</c:v>
                </c:pt>
                <c:pt idx="8">
                  <c:v>2024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28000</c:v>
                </c:pt>
                <c:pt idx="1">
                  <c:v>30500</c:v>
                </c:pt>
                <c:pt idx="2">
                  <c:v>33200</c:v>
                </c:pt>
                <c:pt idx="3">
                  <c:v>31800</c:v>
                </c:pt>
                <c:pt idx="4">
                  <c:v>35600</c:v>
                </c:pt>
                <c:pt idx="5">
                  <c:v>37200</c:v>
                </c:pt>
                <c:pt idx="6">
                  <c:v>37800</c:v>
                </c:pt>
                <c:pt idx="7">
                  <c:v>34500</c:v>
                </c:pt>
                <c:pt idx="8">
                  <c:v>36900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1156-44A8-A5C6-94D9F9AAD2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majorGridlines>
          <c:spPr>
            <a:ln w="9525" cap="flat" cmpd="sng" algn="ctr">
              <a:gradFill>
                <a:gsLst>
                  <a:gs pos="100000">
                    <a:schemeClr val="dk1">
                      <a:lumMod val="75000"/>
                      <a:lumOff val="25000"/>
                    </a:schemeClr>
                  </a:gs>
                  <a:gs pos="0">
                    <a:schemeClr val="dk1">
                      <a:lumMod val="65000"/>
                      <a:lumOff val="35000"/>
                    </a:schemeClr>
                  </a:gs>
                </a:gsLst>
                <a:lin ang="5400000" scaled="0"/>
              </a:gra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low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l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 cmpd="sng" algn="ctr">
              <a:gradFill>
                <a:gsLst>
                  <a:gs pos="100000">
                    <a:schemeClr val="dk1">
                      <a:lumMod val="75000"/>
                      <a:lumOff val="25000"/>
                    </a:schemeClr>
                  </a:gs>
                  <a:gs pos="0">
                    <a:schemeClr val="dk1">
                      <a:lumMod val="65000"/>
                      <a:lumOff val="35000"/>
                    </a:schemeClr>
                  </a:gs>
                </a:gsLst>
                <a:lin ang="5400000" scaled="0"/>
              </a:gra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l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chemeClr val="dk1">
        <a:lumMod val="75000"/>
        <a:lumOff val="25000"/>
      </a:schemeClr>
    </a:solidFill>
    <a:ln w="9525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36">
  <cs:axisTitle>
    <cs:lnRef idx="0"/>
    <cs:fillRef idx="0"/>
    <cs:effectRef idx="0"/>
    <cs:fontRef idx="minor">
      <a:schemeClr val="lt1">
        <a:lumMod val="75000"/>
      </a:schemeClr>
    </cs:fontRef>
    <cs:defRPr sz="1197" b="1" kern="1200"/>
  </cs:axisTitle>
  <cs:categoryAxis>
    <cs:lnRef idx="0"/>
    <cs:fillRef idx="0"/>
    <cs:effectRef idx="0"/>
    <cs:fontRef idx="minor">
      <a:schemeClr val="lt1">
        <a:lumMod val="75000"/>
      </a:schemeClr>
    </cs:fontRef>
    <cs:defRPr sz="1197" kern="1200"/>
  </cs:categoryAxis>
  <cs:chartArea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>
        <a:lumMod val="75000"/>
      </a:schemeClr>
    </cs:fontRef>
    <cs:defRPr sz="1197" kern="1200"/>
  </cs:dataLabel>
  <cs:dataLabelCallout>
    <cs:lnRef idx="0"/>
    <cs:fillRef idx="0"/>
    <cs:effectRef idx="0"/>
    <cs:fontRef idx="minor">
      <a:schemeClr val="lt1">
        <a:lumMod val="15000"/>
        <a:lumOff val="85000"/>
      </a:schemeClr>
    </cs:fontRef>
    <cs:spPr>
      <a:solidFill>
        <a:schemeClr val="dk1">
          <a:lumMod val="65000"/>
          <a:lumOff val="35000"/>
        </a:schemeClr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/>
    <cs:effectRef idx="0">
      <cs:styleClr val="auto"/>
    </cs:effectRef>
    <cs:fontRef idx="minor">
      <a:schemeClr val="dk1"/>
    </cs:fontRef>
    <cs:spPr>
      <a:ln w="9525" cap="flat" cmpd="sng" algn="ctr">
        <a:solidFill>
          <a:schemeClr val="phClr"/>
        </a:solidFill>
        <a:miter lim="800000"/>
      </a:ln>
      <a:effectLst>
        <a:glow rad="63500">
          <a:schemeClr val="phClr">
            <a:satMod val="175000"/>
            <a:alpha val="25000"/>
          </a:schemeClr>
        </a:glow>
      </a:effectLst>
    </cs:spPr>
  </cs:dataPoint>
  <cs:dataPoint3D>
    <cs:lnRef idx="0">
      <cs:styleClr val="auto"/>
    </cs:lnRef>
    <cs:fillRef idx="0">
      <cs:styleClr val="auto"/>
    </cs:fillRef>
    <cs:effectRef idx="0">
      <cs:styleClr val="auto"/>
    </cs:effectRef>
    <cs:fontRef idx="minor">
      <a:schemeClr val="dk1"/>
    </cs:fontRef>
    <cs:spPr>
      <a:ln w="9525" cap="flat" cmpd="sng" algn="ctr">
        <a:solidFill>
          <a:schemeClr val="phClr"/>
        </a:solidFill>
        <a:miter lim="800000"/>
      </a:ln>
      <a:effectLst>
        <a:glow rad="63500">
          <a:schemeClr val="phClr">
            <a:satMod val="175000"/>
            <a:alpha val="25000"/>
          </a:schemeClr>
        </a:glow>
      </a:effectLst>
    </cs:spPr>
  </cs:dataPoint3D>
  <cs:dataPointLine>
    <cs:lnRef idx="0">
      <cs:styleClr val="auto"/>
    </cs:lnRef>
    <cs:fillRef idx="0">
      <cs:styleClr val="auto"/>
    </cs:fillRef>
    <cs:effectRef idx="0">
      <cs:styleClr val="auto"/>
    </cs:effectRef>
    <cs:fontRef idx="minor">
      <a:schemeClr val="dk1"/>
    </cs:fontRef>
    <cs:spPr>
      <a:ln w="22225" cap="rnd">
        <a:solidFill>
          <a:schemeClr val="phClr"/>
        </a:solidFill>
      </a:ln>
      <a:effectLst>
        <a:glow rad="139700">
          <a:schemeClr val="phClr">
            <a:satMod val="175000"/>
            <a:alpha val="14000"/>
          </a:schemeClr>
        </a:glow>
      </a:effectLst>
    </cs:spPr>
  </cs:dataPointLine>
  <cs:dataPointMarker>
    <cs:lnRef idx="0">
      <cs:styleClr val="auto"/>
    </cs:lnRef>
    <cs:fillRef idx="0">
      <cs:styleClr val="auto"/>
    </cs:fillRef>
    <cs:effectRef idx="0">
      <cs:styleClr val="auto"/>
    </cs:effectRef>
    <cs:fontRef idx="minor">
      <a:schemeClr val="dk1"/>
    </cs:fontRef>
    <cs:spPr>
      <a:solidFill>
        <a:schemeClr val="phClr">
          <a:lumMod val="60000"/>
          <a:lumOff val="40000"/>
        </a:schemeClr>
      </a:solidFill>
      <a:effectLst>
        <a:glow rad="63500">
          <a:schemeClr val="phClr">
            <a:satMod val="175000"/>
            <a:alpha val="25000"/>
          </a:schemeClr>
        </a:glow>
      </a:effectLst>
    </cs:spPr>
  </cs:dataPointMarker>
  <cs:dataPointMarkerLayout symbol="circle" size="4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75000"/>
      </a:schemeClr>
    </cs:fontRef>
    <cs:spPr>
      <a:ln w="9525">
        <a:solidFill>
          <a:schemeClr val="dk1">
            <a:lumMod val="50000"/>
            <a:lumOff val="50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lt1"/>
    </cs:fontRef>
    <cs:spPr>
      <a:solidFill>
        <a:schemeClr val="dk1">
          <a:lumMod val="50000"/>
          <a:lumOff val="50000"/>
        </a:schemeClr>
      </a:solidFill>
      <a:ln w="9525">
        <a:solidFill>
          <a:schemeClr val="dk1">
            <a:lumMod val="75000"/>
          </a:schemeClr>
        </a:solidFill>
        <a:round/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lt1">
            <a:lumMod val="50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lt1">
            <a:lumMod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dk1">
                <a:lumMod val="75000"/>
                <a:lumOff val="25000"/>
              </a:schemeClr>
            </a:gs>
            <a:gs pos="0">
              <a:schemeClr val="dk1">
                <a:lumMod val="65000"/>
                <a:lumOff val="3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dk1">
                <a:lumMod val="75000"/>
                <a:lumOff val="25000"/>
                <a:alpha val="25000"/>
              </a:schemeClr>
            </a:gs>
            <a:gs pos="0">
              <a:schemeClr val="dk1">
                <a:lumMod val="65000"/>
                <a:lumOff val="35000"/>
                <a:alpha val="2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lt1">
            <a:lumMod val="50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lt1">
            <a:lumMod val="50000"/>
          </a:schemeClr>
        </a:solidFill>
        <a:round/>
      </a:ln>
    </cs:spPr>
  </cs:leaderLine>
  <cs:legend>
    <cs:lnRef idx="0"/>
    <cs:fillRef idx="0"/>
    <cs:effectRef idx="0"/>
    <cs:fontRef idx="minor">
      <a:schemeClr val="lt1">
        <a:lumMod val="75000"/>
      </a:schemeClr>
    </cs:fontRef>
    <cs:defRPr sz="1197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lt1">
        <a:lumMod val="75000"/>
      </a:schemeClr>
    </cs:fontRef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lt1">
            <a:lumMod val="50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85000"/>
      </a:schemeClr>
    </cs:fontRef>
    <cs:defRPr sz="1862" b="1" kern="1200" cap="none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25400" cap="rnd">
        <a:solidFill>
          <a:schemeClr val="phClr">
            <a:alpha val="50000"/>
          </a:schemeClr>
        </a:solidFill>
      </a:ln>
    </cs:spPr>
  </cs:trendline>
  <cs:trendlineLabel>
    <cs:lnRef idx="0"/>
    <cs:fillRef idx="0"/>
    <cs:effectRef idx="0"/>
    <cs:fontRef idx="minor">
      <a:schemeClr val="lt1">
        <a:lumMod val="7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>
          <a:lumMod val="85000"/>
        </a:schemeClr>
      </a:solidFill>
      <a:ln w="9525">
        <a:solidFill>
          <a:schemeClr val="dk1">
            <a:lumMod val="50000"/>
          </a:schemeClr>
        </a:solidFill>
        <a:round/>
      </a:ln>
    </cs:spPr>
  </cs:upBar>
  <cs:valueAxis>
    <cs:lnRef idx="0"/>
    <cs:fillRef idx="0"/>
    <cs:effectRef idx="0"/>
    <cs:fontRef idx="minor">
      <a:schemeClr val="lt1">
        <a:lumMod val="7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/>
          </a:p>
        </p:txBody>
      </p:sp>
      <p:sp>
        <p:nvSpPr>
          <p:cNvPr id="96" name="Google Shape;9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>
          <a:extLst>
            <a:ext uri="{FF2B5EF4-FFF2-40B4-BE49-F238E27FC236}">
              <a16:creationId xmlns:a16="http://schemas.microsoft.com/office/drawing/2014/main" id="{E6889B04-F7DC-B15E-36FE-C30B43F52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:notes">
            <a:extLst>
              <a:ext uri="{FF2B5EF4-FFF2-40B4-BE49-F238E27FC236}">
                <a16:creationId xmlns:a16="http://schemas.microsoft.com/office/drawing/2014/main" id="{4BBD8A58-213B-C0A4-8F7D-9ED8C6BC99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8" name="Google Shape;108;p4:notes">
            <a:extLst>
              <a:ext uri="{FF2B5EF4-FFF2-40B4-BE49-F238E27FC236}">
                <a16:creationId xmlns:a16="http://schemas.microsoft.com/office/drawing/2014/main" id="{F1F53E23-447A-C7C1-EE8E-DD1DB2E952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124380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>
          <a:extLst>
            <a:ext uri="{FF2B5EF4-FFF2-40B4-BE49-F238E27FC236}">
              <a16:creationId xmlns:a16="http://schemas.microsoft.com/office/drawing/2014/main" id="{9DA79502-90DC-238A-52D1-27D4546AB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:notes">
            <a:extLst>
              <a:ext uri="{FF2B5EF4-FFF2-40B4-BE49-F238E27FC236}">
                <a16:creationId xmlns:a16="http://schemas.microsoft.com/office/drawing/2014/main" id="{95425346-094E-995D-E6DD-1B60BEAB66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8" name="Google Shape;108;p4:notes">
            <a:extLst>
              <a:ext uri="{FF2B5EF4-FFF2-40B4-BE49-F238E27FC236}">
                <a16:creationId xmlns:a16="http://schemas.microsoft.com/office/drawing/2014/main" id="{BF39F53D-2016-EDBA-C4C2-0C1D801BE2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32677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>
          <a:extLst>
            <a:ext uri="{FF2B5EF4-FFF2-40B4-BE49-F238E27FC236}">
              <a16:creationId xmlns:a16="http://schemas.microsoft.com/office/drawing/2014/main" id="{7F9F8209-5F22-639D-B46D-DA56E2573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:notes">
            <a:extLst>
              <a:ext uri="{FF2B5EF4-FFF2-40B4-BE49-F238E27FC236}">
                <a16:creationId xmlns:a16="http://schemas.microsoft.com/office/drawing/2014/main" id="{DCC68FF1-EEDD-98F9-BF0F-5582DFA580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8" name="Google Shape;108;p4:notes">
            <a:extLst>
              <a:ext uri="{FF2B5EF4-FFF2-40B4-BE49-F238E27FC236}">
                <a16:creationId xmlns:a16="http://schemas.microsoft.com/office/drawing/2014/main" id="{56A0B601-8B52-923E-7BB2-F11765A797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192576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>
          <a:extLst>
            <a:ext uri="{FF2B5EF4-FFF2-40B4-BE49-F238E27FC236}">
              <a16:creationId xmlns:a16="http://schemas.microsoft.com/office/drawing/2014/main" id="{D3862E56-5FB8-D21F-363E-51BDDAA2D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:notes">
            <a:extLst>
              <a:ext uri="{FF2B5EF4-FFF2-40B4-BE49-F238E27FC236}">
                <a16:creationId xmlns:a16="http://schemas.microsoft.com/office/drawing/2014/main" id="{06D786F1-A047-4FBA-1DE9-501E53C4C1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8" name="Google Shape;108;p4:notes">
            <a:extLst>
              <a:ext uri="{FF2B5EF4-FFF2-40B4-BE49-F238E27FC236}">
                <a16:creationId xmlns:a16="http://schemas.microsoft.com/office/drawing/2014/main" id="{D64F076B-3609-8FFA-1657-4CD53D85E0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9833078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>
          <a:extLst>
            <a:ext uri="{FF2B5EF4-FFF2-40B4-BE49-F238E27FC236}">
              <a16:creationId xmlns:a16="http://schemas.microsoft.com/office/drawing/2014/main" id="{918FB55B-8197-DC8A-3B5B-69696BBB5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:notes">
            <a:extLst>
              <a:ext uri="{FF2B5EF4-FFF2-40B4-BE49-F238E27FC236}">
                <a16:creationId xmlns:a16="http://schemas.microsoft.com/office/drawing/2014/main" id="{02653168-0C42-03ED-3519-DA7AA5CC7D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8" name="Google Shape;108;p4:notes">
            <a:extLst>
              <a:ext uri="{FF2B5EF4-FFF2-40B4-BE49-F238E27FC236}">
                <a16:creationId xmlns:a16="http://schemas.microsoft.com/office/drawing/2014/main" id="{0E03EECE-27D8-E8DD-4053-4C69E74AB0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093827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>
          <a:extLst>
            <a:ext uri="{FF2B5EF4-FFF2-40B4-BE49-F238E27FC236}">
              <a16:creationId xmlns:a16="http://schemas.microsoft.com/office/drawing/2014/main" id="{ACD47242-5126-2E6F-575B-001E72BC3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:notes">
            <a:extLst>
              <a:ext uri="{FF2B5EF4-FFF2-40B4-BE49-F238E27FC236}">
                <a16:creationId xmlns:a16="http://schemas.microsoft.com/office/drawing/2014/main" id="{2058750D-32C5-CB33-5343-8D2B6893E4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8" name="Google Shape;108;p4:notes">
            <a:extLst>
              <a:ext uri="{FF2B5EF4-FFF2-40B4-BE49-F238E27FC236}">
                <a16:creationId xmlns:a16="http://schemas.microsoft.com/office/drawing/2014/main" id="{9A387EC2-1566-18D6-A3B5-B58138179B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871965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>
          <a:extLst>
            <a:ext uri="{FF2B5EF4-FFF2-40B4-BE49-F238E27FC236}">
              <a16:creationId xmlns:a16="http://schemas.microsoft.com/office/drawing/2014/main" id="{0CE02A39-3825-F3BA-9670-6CD99B6CA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:notes">
            <a:extLst>
              <a:ext uri="{FF2B5EF4-FFF2-40B4-BE49-F238E27FC236}">
                <a16:creationId xmlns:a16="http://schemas.microsoft.com/office/drawing/2014/main" id="{88948484-10FA-0E45-C604-56552A66E7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8" name="Google Shape;108;p4:notes">
            <a:extLst>
              <a:ext uri="{FF2B5EF4-FFF2-40B4-BE49-F238E27FC236}">
                <a16:creationId xmlns:a16="http://schemas.microsoft.com/office/drawing/2014/main" id="{DA436BC7-906F-22F6-8842-A8312A25DB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84297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>
          <a:extLst>
            <a:ext uri="{FF2B5EF4-FFF2-40B4-BE49-F238E27FC236}">
              <a16:creationId xmlns:a16="http://schemas.microsoft.com/office/drawing/2014/main" id="{F4AA39E6-9BCB-E020-3643-BAFC871AE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:notes">
            <a:extLst>
              <a:ext uri="{FF2B5EF4-FFF2-40B4-BE49-F238E27FC236}">
                <a16:creationId xmlns:a16="http://schemas.microsoft.com/office/drawing/2014/main" id="{5BE105F2-DA8F-E43C-BBFC-887B69CD8F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8" name="Google Shape;108;p4:notes">
            <a:extLst>
              <a:ext uri="{FF2B5EF4-FFF2-40B4-BE49-F238E27FC236}">
                <a16:creationId xmlns:a16="http://schemas.microsoft.com/office/drawing/2014/main" id="{00B7E34E-FC9E-CA81-35CD-E48FCD9D2F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765059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>
          <a:extLst>
            <a:ext uri="{FF2B5EF4-FFF2-40B4-BE49-F238E27FC236}">
              <a16:creationId xmlns:a16="http://schemas.microsoft.com/office/drawing/2014/main" id="{56D52D4C-9508-FA8F-43AC-0DC8A05B7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:notes">
            <a:extLst>
              <a:ext uri="{FF2B5EF4-FFF2-40B4-BE49-F238E27FC236}">
                <a16:creationId xmlns:a16="http://schemas.microsoft.com/office/drawing/2014/main" id="{5CF04EAD-92CC-09A6-4C7A-02129B4612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8" name="Google Shape;108;p4:notes">
            <a:extLst>
              <a:ext uri="{FF2B5EF4-FFF2-40B4-BE49-F238E27FC236}">
                <a16:creationId xmlns:a16="http://schemas.microsoft.com/office/drawing/2014/main" id="{DB70C974-D6FA-AEDC-940B-90FCAC18C4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033624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>
          <a:extLst>
            <a:ext uri="{FF2B5EF4-FFF2-40B4-BE49-F238E27FC236}">
              <a16:creationId xmlns:a16="http://schemas.microsoft.com/office/drawing/2014/main" id="{B4BB3741-A3FE-BF40-4E63-32356337C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:notes">
            <a:extLst>
              <a:ext uri="{FF2B5EF4-FFF2-40B4-BE49-F238E27FC236}">
                <a16:creationId xmlns:a16="http://schemas.microsoft.com/office/drawing/2014/main" id="{A1C13311-97CE-BEC8-CA4E-2D198F30C3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8" name="Google Shape;108;p4:notes">
            <a:extLst>
              <a:ext uri="{FF2B5EF4-FFF2-40B4-BE49-F238E27FC236}">
                <a16:creationId xmlns:a16="http://schemas.microsoft.com/office/drawing/2014/main" id="{3EE845AA-859C-2653-743F-701CFFA134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483610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>
          <a:extLst>
            <a:ext uri="{FF2B5EF4-FFF2-40B4-BE49-F238E27FC236}">
              <a16:creationId xmlns:a16="http://schemas.microsoft.com/office/drawing/2014/main" id="{5DA1229D-8C3A-8993-187E-853AF6CDC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:notes">
            <a:extLst>
              <a:ext uri="{FF2B5EF4-FFF2-40B4-BE49-F238E27FC236}">
                <a16:creationId xmlns:a16="http://schemas.microsoft.com/office/drawing/2014/main" id="{2C86F28A-F866-1E79-0A3D-7221D64E1D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8" name="Google Shape;108;p4:notes">
            <a:extLst>
              <a:ext uri="{FF2B5EF4-FFF2-40B4-BE49-F238E27FC236}">
                <a16:creationId xmlns:a16="http://schemas.microsoft.com/office/drawing/2014/main" id="{790465E8-D34F-2766-BA67-6FAA634F65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20517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14" name="Google Shape;11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20" name="Google Shape;20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25" name="Google Shape;25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32" name="Google Shape;32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39" name="Google Shape;39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1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1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46" name="Google Shape;46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54" name="Google Shape;54;p1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64" name="Google Shape;64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8" name="Google Shape;68;p14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72" name="Google Shape;72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5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6" name="Google Shape;76;p15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7" name="Google Shape;77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80" name="Google Shape;80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6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87" name="Google Shape;87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7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5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2" y="0"/>
            <a:ext cx="1219081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Text 7">
            <a:extLst>
              <a:ext uri="{FF2B5EF4-FFF2-40B4-BE49-F238E27FC236}">
                <a16:creationId xmlns:a16="http://schemas.microsoft.com/office/drawing/2014/main" id="{81C7D72E-60AF-6CE6-BCB9-DE6BF4CA3171}"/>
              </a:ext>
            </a:extLst>
          </p:cNvPr>
          <p:cNvSpPr/>
          <p:nvPr/>
        </p:nvSpPr>
        <p:spPr>
          <a:xfrm>
            <a:off x="2499360" y="3574288"/>
            <a:ext cx="722376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GLOBAL ENERGY &amp; EMISSIONS ANALYSIS</a:t>
            </a:r>
            <a:endParaRPr lang="en-US" sz="3600" dirty="0">
              <a:solidFill>
                <a:schemeClr val="tx1"/>
              </a:solidFill>
              <a:latin typeface="Aptos Display" panose="020B0004020202020204" pitchFamily="34" charset="0"/>
            </a:endParaRPr>
          </a:p>
        </p:txBody>
      </p:sp>
      <p:sp>
        <p:nvSpPr>
          <p:cNvPr id="21" name="Shape 10">
            <a:extLst>
              <a:ext uri="{FF2B5EF4-FFF2-40B4-BE49-F238E27FC236}">
                <a16:creationId xmlns:a16="http://schemas.microsoft.com/office/drawing/2014/main" id="{6151F07F-A9B6-2099-7F29-22FB894E60E7}"/>
              </a:ext>
            </a:extLst>
          </p:cNvPr>
          <p:cNvSpPr/>
          <p:nvPr/>
        </p:nvSpPr>
        <p:spPr>
          <a:xfrm>
            <a:off x="5608320" y="4996180"/>
            <a:ext cx="1005840" cy="45720"/>
          </a:xfrm>
          <a:prstGeom prst="rect">
            <a:avLst/>
          </a:prstGeom>
          <a:solidFill>
            <a:srgbClr val="FF0000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22" name="Text 11">
            <a:extLst>
              <a:ext uri="{FF2B5EF4-FFF2-40B4-BE49-F238E27FC236}">
                <a16:creationId xmlns:a16="http://schemas.microsoft.com/office/drawing/2014/main" id="{009EE6FC-765E-B950-86E0-37A9836815AA}"/>
              </a:ext>
            </a:extLst>
          </p:cNvPr>
          <p:cNvSpPr/>
          <p:nvPr/>
        </p:nvSpPr>
        <p:spPr>
          <a:xfrm>
            <a:off x="3566160" y="5160772"/>
            <a:ext cx="505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dirty="0">
                <a:solidFill>
                  <a:schemeClr val="tx1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A SQL-driven study of energy production, consumption,</a:t>
            </a:r>
            <a:r>
              <a:rPr lang="en-US" dirty="0">
                <a:solidFill>
                  <a:schemeClr val="tx1"/>
                </a:solidFill>
                <a:latin typeface="Aptos Display" panose="020B0004020202020204" pitchFamily="34" charset="0"/>
                <a:ea typeface="DejaVu Sans" pitchFamily="34" charset="-122"/>
              </a:rPr>
              <a:t> </a:t>
            </a:r>
            <a:r>
              <a:rPr lang="en-US" dirty="0">
                <a:solidFill>
                  <a:schemeClr val="tx1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emissions, GDP &amp; population across 230+ countries.</a:t>
            </a:r>
            <a:endParaRPr lang="en-US" dirty="0">
              <a:solidFill>
                <a:schemeClr val="tx1"/>
              </a:solidFill>
              <a:latin typeface="Aptos Display" panose="020B0004020202020204" pitchFamily="34" charset="0"/>
            </a:endParaRPr>
          </a:p>
        </p:txBody>
      </p:sp>
      <p:pic>
        <p:nvPicPr>
          <p:cNvPr id="23" name="Image 0" descr="preencoded.png">
            <a:extLst>
              <a:ext uri="{FF2B5EF4-FFF2-40B4-BE49-F238E27FC236}">
                <a16:creationId xmlns:a16="http://schemas.microsoft.com/office/drawing/2014/main" id="{B7EB1245-8C60-865B-D3DA-22529BAD10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GlowEdges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4908" y="3208381"/>
            <a:ext cx="1584452" cy="1584452"/>
          </a:xfrm>
          <a:prstGeom prst="rect">
            <a:avLst/>
          </a:prstGeom>
        </p:spPr>
      </p:pic>
      <p:sp>
        <p:nvSpPr>
          <p:cNvPr id="24" name="Text 4">
            <a:extLst>
              <a:ext uri="{FF2B5EF4-FFF2-40B4-BE49-F238E27FC236}">
                <a16:creationId xmlns:a16="http://schemas.microsoft.com/office/drawing/2014/main" id="{8FB70DBE-E756-B9E7-D7FC-570E74681808}"/>
              </a:ext>
            </a:extLst>
          </p:cNvPr>
          <p:cNvSpPr/>
          <p:nvPr/>
        </p:nvSpPr>
        <p:spPr>
          <a:xfrm>
            <a:off x="962766" y="5169516"/>
            <a:ext cx="1506114" cy="17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kern="0" spc="400" dirty="0">
                <a:solidFill>
                  <a:schemeClr val="tx1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PROJECT</a:t>
            </a:r>
            <a:endParaRPr lang="en-US" sz="1050" dirty="0">
              <a:solidFill>
                <a:schemeClr val="tx1"/>
              </a:solidFill>
              <a:latin typeface="Aptos Display" panose="020B0004020202020204" pitchFamily="34" charset="0"/>
            </a:endParaRPr>
          </a:p>
        </p:txBody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00E0DE0B-0598-2D77-4E12-7A544C83E910}"/>
              </a:ext>
            </a:extLst>
          </p:cNvPr>
          <p:cNvSpPr/>
          <p:nvPr/>
        </p:nvSpPr>
        <p:spPr>
          <a:xfrm>
            <a:off x="962766" y="5443228"/>
            <a:ext cx="1506114" cy="2458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1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ENERGYDB</a:t>
            </a:r>
            <a:endParaRPr lang="en-US" sz="2000" dirty="0">
              <a:solidFill>
                <a:schemeClr val="tx1"/>
              </a:solidFill>
              <a:latin typeface="Aptos Display" panose="020B0004020202020204" pitchFamily="34" charset="0"/>
            </a:endParaRPr>
          </a:p>
        </p:txBody>
      </p:sp>
      <p:sp>
        <p:nvSpPr>
          <p:cNvPr id="30" name="Shape 12">
            <a:extLst>
              <a:ext uri="{FF2B5EF4-FFF2-40B4-BE49-F238E27FC236}">
                <a16:creationId xmlns:a16="http://schemas.microsoft.com/office/drawing/2014/main" id="{3F39B48E-2F09-BCAE-3693-C146DC1ECB16}"/>
              </a:ext>
            </a:extLst>
          </p:cNvPr>
          <p:cNvSpPr/>
          <p:nvPr/>
        </p:nvSpPr>
        <p:spPr>
          <a:xfrm>
            <a:off x="9692640" y="1707535"/>
            <a:ext cx="1635760" cy="640080"/>
          </a:xfrm>
          <a:prstGeom prst="rect">
            <a:avLst/>
          </a:prstGeom>
          <a:ln>
            <a:solidFill>
              <a:srgbClr val="C0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sp>
      <p:sp>
        <p:nvSpPr>
          <p:cNvPr id="31" name="Text 13">
            <a:extLst>
              <a:ext uri="{FF2B5EF4-FFF2-40B4-BE49-F238E27FC236}">
                <a16:creationId xmlns:a16="http://schemas.microsoft.com/office/drawing/2014/main" id="{09F42025-C4F9-2ECC-A8F4-F993EA57C86D}"/>
              </a:ext>
            </a:extLst>
          </p:cNvPr>
          <p:cNvSpPr/>
          <p:nvPr/>
        </p:nvSpPr>
        <p:spPr>
          <a:xfrm>
            <a:off x="9692640" y="1707535"/>
            <a:ext cx="1635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230+ Countries</a:t>
            </a:r>
            <a:endParaRPr lang="en-US" sz="1200" dirty="0">
              <a:solidFill>
                <a:schemeClr val="tx1"/>
              </a:solidFill>
              <a:latin typeface="Aptos Display" panose="020B0004020202020204" pitchFamily="34" charset="0"/>
            </a:endParaRPr>
          </a:p>
        </p:txBody>
      </p:sp>
      <p:sp>
        <p:nvSpPr>
          <p:cNvPr id="32" name="Shape 14">
            <a:extLst>
              <a:ext uri="{FF2B5EF4-FFF2-40B4-BE49-F238E27FC236}">
                <a16:creationId xmlns:a16="http://schemas.microsoft.com/office/drawing/2014/main" id="{0551FBAB-7165-43D7-D407-10A2223B4C43}"/>
              </a:ext>
            </a:extLst>
          </p:cNvPr>
          <p:cNvSpPr/>
          <p:nvPr/>
        </p:nvSpPr>
        <p:spPr>
          <a:xfrm>
            <a:off x="9692640" y="2815917"/>
            <a:ext cx="1635760" cy="640080"/>
          </a:xfrm>
          <a:prstGeom prst="rect">
            <a:avLst/>
          </a:prstGeom>
          <a:ln>
            <a:solidFill>
              <a:srgbClr val="C0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sp>
      <p:sp>
        <p:nvSpPr>
          <p:cNvPr id="33" name="Text 15">
            <a:extLst>
              <a:ext uri="{FF2B5EF4-FFF2-40B4-BE49-F238E27FC236}">
                <a16:creationId xmlns:a16="http://schemas.microsoft.com/office/drawing/2014/main" id="{32389CD3-0729-8239-FEB1-351DC4F19718}"/>
              </a:ext>
            </a:extLst>
          </p:cNvPr>
          <p:cNvSpPr/>
          <p:nvPr/>
        </p:nvSpPr>
        <p:spPr>
          <a:xfrm>
            <a:off x="9692640" y="2815917"/>
            <a:ext cx="1635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6 Datasets</a:t>
            </a:r>
            <a:endParaRPr lang="en-US" sz="1200" dirty="0">
              <a:solidFill>
                <a:schemeClr val="tx1"/>
              </a:solidFill>
              <a:latin typeface="Aptos Display" panose="020B0004020202020204" pitchFamily="34" charset="0"/>
            </a:endParaRPr>
          </a:p>
        </p:txBody>
      </p:sp>
      <p:sp>
        <p:nvSpPr>
          <p:cNvPr id="34" name="Shape 16">
            <a:extLst>
              <a:ext uri="{FF2B5EF4-FFF2-40B4-BE49-F238E27FC236}">
                <a16:creationId xmlns:a16="http://schemas.microsoft.com/office/drawing/2014/main" id="{AD13A898-39DC-4EB5-D024-A9D96CFA4F96}"/>
              </a:ext>
            </a:extLst>
          </p:cNvPr>
          <p:cNvSpPr/>
          <p:nvPr/>
        </p:nvSpPr>
        <p:spPr>
          <a:xfrm>
            <a:off x="9692640" y="3924299"/>
            <a:ext cx="1635760" cy="640080"/>
          </a:xfrm>
          <a:prstGeom prst="rect">
            <a:avLst/>
          </a:prstGeom>
          <a:ln>
            <a:solidFill>
              <a:srgbClr val="C0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sp>
      <p:sp>
        <p:nvSpPr>
          <p:cNvPr id="35" name="Text 17">
            <a:extLst>
              <a:ext uri="{FF2B5EF4-FFF2-40B4-BE49-F238E27FC236}">
                <a16:creationId xmlns:a16="http://schemas.microsoft.com/office/drawing/2014/main" id="{427B0E5E-887D-4BA5-A7CA-F15A42DB6BD7}"/>
              </a:ext>
            </a:extLst>
          </p:cNvPr>
          <p:cNvSpPr/>
          <p:nvPr/>
        </p:nvSpPr>
        <p:spPr>
          <a:xfrm>
            <a:off x="9692640" y="3912976"/>
            <a:ext cx="1635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15 Queries</a:t>
            </a:r>
            <a:endParaRPr lang="en-US" sz="1200" dirty="0">
              <a:solidFill>
                <a:schemeClr val="tx1"/>
              </a:solidFill>
              <a:latin typeface="Aptos Display" panose="020B0004020202020204" pitchFamily="34" charset="0"/>
            </a:endParaRPr>
          </a:p>
        </p:txBody>
      </p:sp>
      <p:sp>
        <p:nvSpPr>
          <p:cNvPr id="36" name="Shape 18">
            <a:extLst>
              <a:ext uri="{FF2B5EF4-FFF2-40B4-BE49-F238E27FC236}">
                <a16:creationId xmlns:a16="http://schemas.microsoft.com/office/drawing/2014/main" id="{1D1BCF0E-E18D-559B-56E6-F0BD541D514B}"/>
              </a:ext>
            </a:extLst>
          </p:cNvPr>
          <p:cNvSpPr/>
          <p:nvPr/>
        </p:nvSpPr>
        <p:spPr>
          <a:xfrm>
            <a:off x="9692640" y="5049011"/>
            <a:ext cx="1635760" cy="640080"/>
          </a:xfrm>
          <a:prstGeom prst="rect">
            <a:avLst/>
          </a:prstGeom>
          <a:ln>
            <a:solidFill>
              <a:srgbClr val="C0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sp>
      <p:sp>
        <p:nvSpPr>
          <p:cNvPr id="37" name="Text 19">
            <a:extLst>
              <a:ext uri="{FF2B5EF4-FFF2-40B4-BE49-F238E27FC236}">
                <a16:creationId xmlns:a16="http://schemas.microsoft.com/office/drawing/2014/main" id="{6D26144A-49AF-3EE7-0010-FD91841EC096}"/>
              </a:ext>
            </a:extLst>
          </p:cNvPr>
          <p:cNvSpPr/>
          <p:nvPr/>
        </p:nvSpPr>
        <p:spPr>
          <a:xfrm>
            <a:off x="9692640" y="5049011"/>
            <a:ext cx="1635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Trend &amp; Ratio Analysis</a:t>
            </a:r>
            <a:endParaRPr lang="en-US" sz="1200" dirty="0">
              <a:solidFill>
                <a:schemeClr val="tx1"/>
              </a:solidFill>
              <a:latin typeface="Aptos Display" panose="020B00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>
          <a:extLst>
            <a:ext uri="{FF2B5EF4-FFF2-40B4-BE49-F238E27FC236}">
              <a16:creationId xmlns:a16="http://schemas.microsoft.com/office/drawing/2014/main" id="{B4B59693-7181-7BDA-8883-4B7193230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">
            <a:extLst>
              <a:ext uri="{FF2B5EF4-FFF2-40B4-BE49-F238E27FC236}">
                <a16:creationId xmlns:a16="http://schemas.microsoft.com/office/drawing/2014/main" id="{EF1B82AE-02EF-36B8-7410-A5DE0FA749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67928" y="502920"/>
            <a:ext cx="9342312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400"/>
              <a:buFont typeface="Calibri"/>
              <a:buNone/>
            </a:pPr>
            <a:r>
              <a:rPr lang="en-IN" b="1" dirty="0">
                <a:solidFill>
                  <a:schemeClr val="tx1"/>
                </a:solidFill>
                <a:latin typeface="Aptos Display" panose="020B0004020202020204" pitchFamily="34" charset="0"/>
              </a:rPr>
              <a:t>Project Overview &amp; Objectives</a:t>
            </a:r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D7C14B16-6E59-CE0A-6E9D-10F4A30907D5}"/>
              </a:ext>
            </a:extLst>
          </p:cNvPr>
          <p:cNvSpPr/>
          <p:nvPr/>
        </p:nvSpPr>
        <p:spPr>
          <a:xfrm>
            <a:off x="1419352" y="1413747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ClrTx/>
              <a:buFontTx/>
              <a:buNone/>
            </a:pPr>
            <a:r>
              <a:rPr lang="en-US" sz="1800" b="1" kern="1200" dirty="0">
                <a:solidFill>
                  <a:schemeClr val="tx1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What is this project?</a:t>
            </a:r>
            <a:endParaRPr lang="en-US" sz="1800" kern="1200" dirty="0">
              <a:solidFill>
                <a:schemeClr val="tx1"/>
              </a:solidFill>
              <a:latin typeface="Aptos Display" panose="020B0004020202020204" pitchFamily="34" charset="0"/>
              <a:ea typeface="+mn-ea"/>
              <a:cs typeface="+mn-cs"/>
            </a:endParaRPr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1871D507-1844-9CB1-6B0B-BF71EA2889F3}"/>
              </a:ext>
            </a:extLst>
          </p:cNvPr>
          <p:cNvSpPr/>
          <p:nvPr/>
        </p:nvSpPr>
        <p:spPr>
          <a:xfrm>
            <a:off x="1467928" y="1803716"/>
            <a:ext cx="9342312" cy="1066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5000"/>
              </a:lnSpc>
              <a:buClrTx/>
              <a:buFontTx/>
              <a:buNone/>
            </a:pPr>
            <a:r>
              <a:rPr lang="en-US" kern="1200" dirty="0">
                <a:solidFill>
                  <a:schemeClr val="tx1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ENERGYDB is a relational MySQL database built to store and analyse global energy and climate data across 230+ countries. Six real-world CSV datasets are normalised into a structured schema enabling complex SQL queries for trend analysis, per-capita ratios, and global comparisons.</a:t>
            </a:r>
            <a:endParaRPr lang="en-US" kern="1200" dirty="0">
              <a:solidFill>
                <a:schemeClr val="tx1"/>
              </a:solidFill>
              <a:latin typeface="Aptos Display" panose="020B0004020202020204" pitchFamily="34" charset="0"/>
              <a:ea typeface="+mn-ea"/>
              <a:cs typeface="+mn-cs"/>
            </a:endParaRPr>
          </a:p>
        </p:txBody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05267268-0217-C207-4DD4-3BC4C320BC2E}"/>
              </a:ext>
            </a:extLst>
          </p:cNvPr>
          <p:cNvSpPr/>
          <p:nvPr/>
        </p:nvSpPr>
        <p:spPr>
          <a:xfrm>
            <a:off x="1467928" y="3068986"/>
            <a:ext cx="2011680" cy="2633472"/>
          </a:xfrm>
          <a:prstGeom prst="roundRect">
            <a:avLst/>
          </a:prstGeom>
          <a:ln>
            <a:solidFill>
              <a:srgbClr val="C0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sp>
      <p:pic>
        <p:nvPicPr>
          <p:cNvPr id="17" name="Image 0" descr="preencoded.png">
            <a:extLst>
              <a:ext uri="{FF2B5EF4-FFF2-40B4-BE49-F238E27FC236}">
                <a16:creationId xmlns:a16="http://schemas.microsoft.com/office/drawing/2014/main" id="{22AFA8F5-54A1-FBD7-9CB8-86D34C0D3D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7736" y="3251866"/>
            <a:ext cx="502920" cy="502920"/>
          </a:xfrm>
          <a:prstGeom prst="round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pic>
      <p:sp>
        <p:nvSpPr>
          <p:cNvPr id="18" name="Text 7">
            <a:extLst>
              <a:ext uri="{FF2B5EF4-FFF2-40B4-BE49-F238E27FC236}">
                <a16:creationId xmlns:a16="http://schemas.microsoft.com/office/drawing/2014/main" id="{05EAF684-4E8D-CA58-DE13-E89330681688}"/>
              </a:ext>
            </a:extLst>
          </p:cNvPr>
          <p:cNvSpPr/>
          <p:nvPr/>
        </p:nvSpPr>
        <p:spPr>
          <a:xfrm>
            <a:off x="1541080" y="3846226"/>
            <a:ext cx="1874520" cy="292608"/>
          </a:xfrm>
          <a:prstGeom prst="roundRect">
            <a:avLst/>
          </a:prstGeom>
          <a:ln>
            <a:solidFill>
              <a:srgbClr val="C0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Design Schema</a:t>
            </a:r>
            <a:endParaRPr lang="en-US" sz="1600" dirty="0">
              <a:solidFill>
                <a:schemeClr val="tx1"/>
              </a:solidFill>
              <a:latin typeface="Aptos Display" panose="020B0004020202020204" pitchFamily="34" charset="0"/>
            </a:endParaRPr>
          </a:p>
        </p:txBody>
      </p:sp>
      <p:sp>
        <p:nvSpPr>
          <p:cNvPr id="19" name="Text 8">
            <a:extLst>
              <a:ext uri="{FF2B5EF4-FFF2-40B4-BE49-F238E27FC236}">
                <a16:creationId xmlns:a16="http://schemas.microsoft.com/office/drawing/2014/main" id="{A7CCB03D-4A00-5AF4-E037-A37B92A783DA}"/>
              </a:ext>
            </a:extLst>
          </p:cNvPr>
          <p:cNvSpPr/>
          <p:nvPr/>
        </p:nvSpPr>
        <p:spPr>
          <a:xfrm>
            <a:off x="1559368" y="4184554"/>
            <a:ext cx="1828800" cy="1389888"/>
          </a:xfrm>
          <a:prstGeom prst="round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chemeClr val="tx1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Normalised relational tables with FK constraints on country</a:t>
            </a:r>
            <a:endParaRPr lang="en-US" sz="1200" dirty="0">
              <a:solidFill>
                <a:schemeClr val="tx1"/>
              </a:solidFill>
              <a:latin typeface="Aptos Display" panose="020B0004020202020204" pitchFamily="34" charset="0"/>
            </a:endParaRPr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251CA87C-A502-F55D-BEE5-A822D9C35144}"/>
              </a:ext>
            </a:extLst>
          </p:cNvPr>
          <p:cNvSpPr/>
          <p:nvPr/>
        </p:nvSpPr>
        <p:spPr>
          <a:xfrm>
            <a:off x="3869944" y="3068986"/>
            <a:ext cx="2011680" cy="2633472"/>
          </a:xfrm>
          <a:prstGeom prst="roundRect">
            <a:avLst/>
          </a:prstGeom>
          <a:ln>
            <a:solidFill>
              <a:srgbClr val="C0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sp>
      <p:pic>
        <p:nvPicPr>
          <p:cNvPr id="21" name="Image 1" descr="preencoded.png">
            <a:extLst>
              <a:ext uri="{FF2B5EF4-FFF2-40B4-BE49-F238E27FC236}">
                <a16:creationId xmlns:a16="http://schemas.microsoft.com/office/drawing/2014/main" id="{1C80C06A-689C-6FF2-FD0B-07F5EEC1BE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9752" y="3251866"/>
            <a:ext cx="502920" cy="502920"/>
          </a:xfrm>
          <a:prstGeom prst="round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pic>
      <p:sp>
        <p:nvSpPr>
          <p:cNvPr id="22" name="Text 10">
            <a:extLst>
              <a:ext uri="{FF2B5EF4-FFF2-40B4-BE49-F238E27FC236}">
                <a16:creationId xmlns:a16="http://schemas.microsoft.com/office/drawing/2014/main" id="{5F6E75F4-C3BC-7AA3-0D7A-AA38FF39447D}"/>
              </a:ext>
            </a:extLst>
          </p:cNvPr>
          <p:cNvSpPr/>
          <p:nvPr/>
        </p:nvSpPr>
        <p:spPr>
          <a:xfrm>
            <a:off x="3943096" y="3846226"/>
            <a:ext cx="1874520" cy="292608"/>
          </a:xfrm>
          <a:prstGeom prst="roundRect">
            <a:avLst/>
          </a:prstGeom>
          <a:ln>
            <a:solidFill>
              <a:srgbClr val="C0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Trend Analysis</a:t>
            </a:r>
            <a:endParaRPr lang="en-US" sz="1600" dirty="0">
              <a:solidFill>
                <a:schemeClr val="tx1"/>
              </a:solidFill>
              <a:latin typeface="Aptos Display" panose="020B0004020202020204" pitchFamily="34" charset="0"/>
            </a:endParaRPr>
          </a:p>
        </p:txBody>
      </p:sp>
      <p:sp>
        <p:nvSpPr>
          <p:cNvPr id="23" name="Text 11">
            <a:extLst>
              <a:ext uri="{FF2B5EF4-FFF2-40B4-BE49-F238E27FC236}">
                <a16:creationId xmlns:a16="http://schemas.microsoft.com/office/drawing/2014/main" id="{06713A07-54C7-3D47-9B5F-B585C779D1F8}"/>
              </a:ext>
            </a:extLst>
          </p:cNvPr>
          <p:cNvSpPr/>
          <p:nvPr/>
        </p:nvSpPr>
        <p:spPr>
          <a:xfrm>
            <a:off x="3961384" y="4184554"/>
            <a:ext cx="1828800" cy="1389888"/>
          </a:xfrm>
          <a:prstGeom prst="round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chemeClr val="tx1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Year-over-year changes using LAG &amp; window functions</a:t>
            </a:r>
            <a:endParaRPr lang="en-US" sz="1200" dirty="0">
              <a:solidFill>
                <a:schemeClr val="tx1"/>
              </a:solidFill>
              <a:latin typeface="Aptos Display" panose="020B0004020202020204" pitchFamily="34" charset="0"/>
            </a:endParaRPr>
          </a:p>
        </p:txBody>
      </p:sp>
      <p:sp>
        <p:nvSpPr>
          <p:cNvPr id="24" name="Shape 12">
            <a:extLst>
              <a:ext uri="{FF2B5EF4-FFF2-40B4-BE49-F238E27FC236}">
                <a16:creationId xmlns:a16="http://schemas.microsoft.com/office/drawing/2014/main" id="{6B557A59-7141-979C-7E7C-6E3E400723B1}"/>
              </a:ext>
            </a:extLst>
          </p:cNvPr>
          <p:cNvSpPr/>
          <p:nvPr/>
        </p:nvSpPr>
        <p:spPr>
          <a:xfrm>
            <a:off x="6332536" y="3068986"/>
            <a:ext cx="2011680" cy="2633472"/>
          </a:xfrm>
          <a:prstGeom prst="roundRect">
            <a:avLst/>
          </a:prstGeom>
          <a:ln>
            <a:solidFill>
              <a:srgbClr val="C0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sp>
      <p:pic>
        <p:nvPicPr>
          <p:cNvPr id="25" name="Image 2" descr="preencoded.png">
            <a:extLst>
              <a:ext uri="{FF2B5EF4-FFF2-40B4-BE49-F238E27FC236}">
                <a16:creationId xmlns:a16="http://schemas.microsoft.com/office/drawing/2014/main" id="{1524FE4D-30AD-09DF-7276-8D414F3C50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2344" y="3251866"/>
            <a:ext cx="502920" cy="502920"/>
          </a:xfrm>
          <a:prstGeom prst="round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pic>
      <p:sp>
        <p:nvSpPr>
          <p:cNvPr id="26" name="Text 13">
            <a:extLst>
              <a:ext uri="{FF2B5EF4-FFF2-40B4-BE49-F238E27FC236}">
                <a16:creationId xmlns:a16="http://schemas.microsoft.com/office/drawing/2014/main" id="{680B82F8-85AD-2BCC-17CF-D489E53535BB}"/>
              </a:ext>
            </a:extLst>
          </p:cNvPr>
          <p:cNvSpPr/>
          <p:nvPr/>
        </p:nvSpPr>
        <p:spPr>
          <a:xfrm>
            <a:off x="6405688" y="3846226"/>
            <a:ext cx="1874520" cy="292608"/>
          </a:xfrm>
          <a:prstGeom prst="roundRect">
            <a:avLst/>
          </a:prstGeom>
          <a:ln>
            <a:solidFill>
              <a:srgbClr val="C0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Ratio Analysis</a:t>
            </a:r>
            <a:endParaRPr lang="en-US" sz="1600" dirty="0">
              <a:solidFill>
                <a:schemeClr val="tx1"/>
              </a:solidFill>
              <a:latin typeface="Aptos Display" panose="020B0004020202020204" pitchFamily="34" charset="0"/>
            </a:endParaRPr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C1D41C09-29F7-E6CC-8FA9-D115915FDBC1}"/>
              </a:ext>
            </a:extLst>
          </p:cNvPr>
          <p:cNvSpPr/>
          <p:nvPr/>
        </p:nvSpPr>
        <p:spPr>
          <a:xfrm>
            <a:off x="6423976" y="4184554"/>
            <a:ext cx="1828800" cy="1389888"/>
          </a:xfrm>
          <a:prstGeom prst="round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chemeClr val="tx1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Per-capita, per-GDP &amp; emission intensity metrics</a:t>
            </a:r>
            <a:endParaRPr lang="en-US" sz="1200" dirty="0">
              <a:solidFill>
                <a:schemeClr val="tx1"/>
              </a:solidFill>
              <a:latin typeface="Aptos Display" panose="020B0004020202020204" pitchFamily="34" charset="0"/>
            </a:endParaRPr>
          </a:p>
        </p:txBody>
      </p:sp>
      <p:sp>
        <p:nvSpPr>
          <p:cNvPr id="28" name="Shape 15">
            <a:extLst>
              <a:ext uri="{FF2B5EF4-FFF2-40B4-BE49-F238E27FC236}">
                <a16:creationId xmlns:a16="http://schemas.microsoft.com/office/drawing/2014/main" id="{3CF7A9FC-D426-6DC4-6ABB-20739A9A74B7}"/>
              </a:ext>
            </a:extLst>
          </p:cNvPr>
          <p:cNvSpPr/>
          <p:nvPr/>
        </p:nvSpPr>
        <p:spPr>
          <a:xfrm>
            <a:off x="8798560" y="3068986"/>
            <a:ext cx="2011680" cy="2633472"/>
          </a:xfrm>
          <a:prstGeom prst="roundRect">
            <a:avLst/>
          </a:prstGeom>
          <a:ln>
            <a:solidFill>
              <a:srgbClr val="C0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sp>
      <p:pic>
        <p:nvPicPr>
          <p:cNvPr id="29" name="Image 3" descr="preencoded.png">
            <a:extLst>
              <a:ext uri="{FF2B5EF4-FFF2-40B4-BE49-F238E27FC236}">
                <a16:creationId xmlns:a16="http://schemas.microsoft.com/office/drawing/2014/main" id="{B3711F7F-48FA-D0C8-283E-9527956EC2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52940" y="3251866"/>
            <a:ext cx="502920" cy="502920"/>
          </a:xfrm>
          <a:prstGeom prst="round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pic>
      <p:sp>
        <p:nvSpPr>
          <p:cNvPr id="30" name="Text 16">
            <a:extLst>
              <a:ext uri="{FF2B5EF4-FFF2-40B4-BE49-F238E27FC236}">
                <a16:creationId xmlns:a16="http://schemas.microsoft.com/office/drawing/2014/main" id="{15138218-AA37-9BA5-C8FF-75864E3AD2B7}"/>
              </a:ext>
            </a:extLst>
          </p:cNvPr>
          <p:cNvSpPr/>
          <p:nvPr/>
        </p:nvSpPr>
        <p:spPr>
          <a:xfrm>
            <a:off x="8867140" y="3869086"/>
            <a:ext cx="1874520" cy="292608"/>
          </a:xfrm>
          <a:prstGeom prst="roundRect">
            <a:avLst/>
          </a:prstGeom>
          <a:ln>
            <a:solidFill>
              <a:srgbClr val="C0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Global Compare</a:t>
            </a:r>
            <a:endParaRPr lang="en-US" sz="1600" dirty="0">
              <a:solidFill>
                <a:schemeClr val="tx1"/>
              </a:solidFill>
              <a:latin typeface="Aptos Display" panose="020B0004020202020204" pitchFamily="34" charset="0"/>
            </a:endParaRPr>
          </a:p>
        </p:txBody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F66F88F9-9086-04E2-B266-DDD72F95C652}"/>
              </a:ext>
            </a:extLst>
          </p:cNvPr>
          <p:cNvSpPr/>
          <p:nvPr/>
        </p:nvSpPr>
        <p:spPr>
          <a:xfrm>
            <a:off x="8890000" y="4184554"/>
            <a:ext cx="1828800" cy="1389888"/>
          </a:xfrm>
          <a:prstGeom prst="round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chemeClr val="tx1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Rankings, emission shares &amp; cross-country benchmarking</a:t>
            </a:r>
            <a:endParaRPr lang="en-US" sz="1200" dirty="0">
              <a:solidFill>
                <a:schemeClr val="tx1"/>
              </a:solidFill>
              <a:latin typeface="Aptos Display" panose="020B0004020202020204" pitchFamily="34" charset="0"/>
            </a:endParaRP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5E60A78F-1DD6-99A1-DB78-1868188AB7A5}"/>
              </a:ext>
            </a:extLst>
          </p:cNvPr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FF0000"/>
          </a:solidFill>
          <a:ln w="1270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33656852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>
          <a:extLst>
            <a:ext uri="{FF2B5EF4-FFF2-40B4-BE49-F238E27FC236}">
              <a16:creationId xmlns:a16="http://schemas.microsoft.com/office/drawing/2014/main" id="{6540F8AA-D699-7A23-BB18-9AB9971F0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3">
            <a:extLst>
              <a:ext uri="{FF2B5EF4-FFF2-40B4-BE49-F238E27FC236}">
                <a16:creationId xmlns:a16="http://schemas.microsoft.com/office/drawing/2014/main" id="{CC261342-569E-21BF-0119-9BBFE8320E62}"/>
              </a:ext>
            </a:extLst>
          </p:cNvPr>
          <p:cNvSpPr/>
          <p:nvPr/>
        </p:nvSpPr>
        <p:spPr>
          <a:xfrm>
            <a:off x="1466088" y="502920"/>
            <a:ext cx="9344152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A2332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Dataset Overview — </a:t>
            </a:r>
          </a:p>
          <a:p>
            <a:pPr marL="0" indent="0">
              <a:buNone/>
            </a:pPr>
            <a:r>
              <a:rPr lang="en-US" sz="4400" b="1" dirty="0">
                <a:solidFill>
                  <a:srgbClr val="1A2332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Six Source CSV Files</a:t>
            </a:r>
            <a:endParaRPr lang="en-US" sz="4400" dirty="0">
              <a:latin typeface="Aptos Display" panose="020B0004020202020204" pitchFamily="34" charset="0"/>
            </a:endParaRPr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45BCC6C4-51BB-C7C0-858F-179AA2C63F14}"/>
              </a:ext>
            </a:extLst>
          </p:cNvPr>
          <p:cNvSpPr/>
          <p:nvPr/>
        </p:nvSpPr>
        <p:spPr>
          <a:xfrm>
            <a:off x="1464056" y="2011680"/>
            <a:ext cx="4224528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2D8B8B"/>
            </a:solidFill>
            <a:prstDash val="solid"/>
          </a:ln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74C6F3DF-B255-75DD-DB52-8D2268713A8C}"/>
              </a:ext>
            </a:extLst>
          </p:cNvPr>
          <p:cNvSpPr/>
          <p:nvPr/>
        </p:nvSpPr>
        <p:spPr>
          <a:xfrm>
            <a:off x="1464056" y="2011680"/>
            <a:ext cx="64008" cy="1170432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A0F3DC35-2317-8293-F9A1-073301EEE0C3}"/>
              </a:ext>
            </a:extLst>
          </p:cNvPr>
          <p:cNvSpPr/>
          <p:nvPr/>
        </p:nvSpPr>
        <p:spPr>
          <a:xfrm>
            <a:off x="4618736" y="2093976"/>
            <a:ext cx="960120" cy="292608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1D8EB972-F759-E6E8-0507-2104296C9E0D}"/>
              </a:ext>
            </a:extLst>
          </p:cNvPr>
          <p:cNvSpPr/>
          <p:nvPr/>
        </p:nvSpPr>
        <p:spPr>
          <a:xfrm>
            <a:off x="4646168" y="210312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230 rows</a:t>
            </a:r>
            <a:endParaRPr lang="en-US" sz="1000" dirty="0">
              <a:latin typeface="Aptos Display" panose="020B0004020202020204" pitchFamily="34" charset="0"/>
            </a:endParaRPr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C4DDB73D-75AB-4507-2536-DC3EA7459358}"/>
              </a:ext>
            </a:extLst>
          </p:cNvPr>
          <p:cNvSpPr/>
          <p:nvPr/>
        </p:nvSpPr>
        <p:spPr>
          <a:xfrm>
            <a:off x="1601216" y="208483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country_3</a:t>
            </a:r>
            <a:endParaRPr lang="en-US" sz="1600" dirty="0">
              <a:latin typeface="Aptos Display" panose="020B0004020202020204" pitchFamily="34" charset="0"/>
            </a:endParaRPr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59EABB62-3E88-6179-43BB-30B300935813}"/>
              </a:ext>
            </a:extLst>
          </p:cNvPr>
          <p:cNvSpPr/>
          <p:nvPr/>
        </p:nvSpPr>
        <p:spPr>
          <a:xfrm>
            <a:off x="1601216" y="2468880"/>
            <a:ext cx="3977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455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Columns: Country, CID</a:t>
            </a:r>
            <a:endParaRPr lang="en-US" sz="1300" dirty="0">
              <a:latin typeface="Aptos Display" panose="020B0004020202020204" pitchFamily="34" charset="0"/>
            </a:endParaRPr>
          </a:p>
        </p:txBody>
      </p:sp>
      <p:sp>
        <p:nvSpPr>
          <p:cNvPr id="16" name="Shape 10">
            <a:extLst>
              <a:ext uri="{FF2B5EF4-FFF2-40B4-BE49-F238E27FC236}">
                <a16:creationId xmlns:a16="http://schemas.microsoft.com/office/drawing/2014/main" id="{F2989B28-F5AC-946A-2123-6B89033139AA}"/>
              </a:ext>
            </a:extLst>
          </p:cNvPr>
          <p:cNvSpPr/>
          <p:nvPr/>
        </p:nvSpPr>
        <p:spPr>
          <a:xfrm>
            <a:off x="6585712" y="2011680"/>
            <a:ext cx="4224528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2877A0"/>
            </a:solidFill>
            <a:prstDash val="solid"/>
          </a:ln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7" name="Shape 11">
            <a:extLst>
              <a:ext uri="{FF2B5EF4-FFF2-40B4-BE49-F238E27FC236}">
                <a16:creationId xmlns:a16="http://schemas.microsoft.com/office/drawing/2014/main" id="{E5CA5E06-AA84-3125-785F-DFD8A49C1D5A}"/>
              </a:ext>
            </a:extLst>
          </p:cNvPr>
          <p:cNvSpPr/>
          <p:nvPr/>
        </p:nvSpPr>
        <p:spPr>
          <a:xfrm>
            <a:off x="6585712" y="2011680"/>
            <a:ext cx="64008" cy="1170432"/>
          </a:xfrm>
          <a:prstGeom prst="rect">
            <a:avLst/>
          </a:prstGeom>
          <a:solidFill>
            <a:srgbClr val="2877A0"/>
          </a:solidFill>
          <a:ln w="12700">
            <a:solidFill>
              <a:srgbClr val="2877A0"/>
            </a:solidFill>
            <a:prstDash val="solid"/>
          </a:ln>
        </p:spPr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8EA3E91C-6EAA-58B1-4354-797A7AFCEDA1}"/>
              </a:ext>
            </a:extLst>
          </p:cNvPr>
          <p:cNvSpPr/>
          <p:nvPr/>
        </p:nvSpPr>
        <p:spPr>
          <a:xfrm>
            <a:off x="9767824" y="2103120"/>
            <a:ext cx="960120" cy="292608"/>
          </a:xfrm>
          <a:prstGeom prst="rect">
            <a:avLst/>
          </a:prstGeom>
          <a:solidFill>
            <a:srgbClr val="2877A0"/>
          </a:solidFill>
          <a:ln w="12700">
            <a:solidFill>
              <a:srgbClr val="2877A0"/>
            </a:solidFill>
            <a:prstDash val="solid"/>
          </a:ln>
        </p:spPr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0653E6FE-04AA-7A52-4868-30A743B9A28E}"/>
              </a:ext>
            </a:extLst>
          </p:cNvPr>
          <p:cNvSpPr/>
          <p:nvPr/>
        </p:nvSpPr>
        <p:spPr>
          <a:xfrm>
            <a:off x="9767824" y="210312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3,517 rows</a:t>
            </a:r>
            <a:endParaRPr lang="en-US" sz="1000" dirty="0">
              <a:latin typeface="Aptos Display" panose="020B0004020202020204" pitchFamily="34" charset="0"/>
            </a:endParaRPr>
          </a:p>
        </p:txBody>
      </p:sp>
      <p:sp>
        <p:nvSpPr>
          <p:cNvPr id="20" name="Text 14">
            <a:extLst>
              <a:ext uri="{FF2B5EF4-FFF2-40B4-BE49-F238E27FC236}">
                <a16:creationId xmlns:a16="http://schemas.microsoft.com/office/drawing/2014/main" id="{13384336-7537-03A3-0DAC-0FE86C9A7E8E}"/>
              </a:ext>
            </a:extLst>
          </p:cNvPr>
          <p:cNvSpPr/>
          <p:nvPr/>
        </p:nvSpPr>
        <p:spPr>
          <a:xfrm>
            <a:off x="6722872" y="208483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emission_3</a:t>
            </a:r>
            <a:endParaRPr lang="en-US" sz="1600" dirty="0">
              <a:latin typeface="Aptos Display" panose="020B0004020202020204" pitchFamily="34" charset="0"/>
            </a:endParaRP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00F1DF5A-6797-8F3D-0A28-7249964853B8}"/>
              </a:ext>
            </a:extLst>
          </p:cNvPr>
          <p:cNvSpPr/>
          <p:nvPr/>
        </p:nvSpPr>
        <p:spPr>
          <a:xfrm>
            <a:off x="6722872" y="2468880"/>
            <a:ext cx="3977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455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Columns: country, energy_type, year, emission, per_capita_emission</a:t>
            </a:r>
            <a:endParaRPr lang="en-US" sz="1300" dirty="0">
              <a:latin typeface="Aptos Display" panose="020B0004020202020204" pitchFamily="34" charset="0"/>
            </a:endParaRPr>
          </a:p>
        </p:txBody>
      </p:sp>
      <p:sp>
        <p:nvSpPr>
          <p:cNvPr id="22" name="Shape 16">
            <a:extLst>
              <a:ext uri="{FF2B5EF4-FFF2-40B4-BE49-F238E27FC236}">
                <a16:creationId xmlns:a16="http://schemas.microsoft.com/office/drawing/2014/main" id="{6FA4CF16-6E64-40CE-195F-6CB26FB624D2}"/>
              </a:ext>
            </a:extLst>
          </p:cNvPr>
          <p:cNvSpPr/>
          <p:nvPr/>
        </p:nvSpPr>
        <p:spPr>
          <a:xfrm>
            <a:off x="1464056" y="3346704"/>
            <a:ext cx="4224528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357A7A"/>
            </a:solidFill>
            <a:prstDash val="solid"/>
          </a:ln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3" name="Shape 17">
            <a:extLst>
              <a:ext uri="{FF2B5EF4-FFF2-40B4-BE49-F238E27FC236}">
                <a16:creationId xmlns:a16="http://schemas.microsoft.com/office/drawing/2014/main" id="{9B31EED7-1CD7-6FEA-7ECE-4A53D8F5626C}"/>
              </a:ext>
            </a:extLst>
          </p:cNvPr>
          <p:cNvSpPr/>
          <p:nvPr/>
        </p:nvSpPr>
        <p:spPr>
          <a:xfrm>
            <a:off x="1464056" y="3346704"/>
            <a:ext cx="64008" cy="1170432"/>
          </a:xfrm>
          <a:prstGeom prst="rect">
            <a:avLst/>
          </a:prstGeom>
          <a:solidFill>
            <a:srgbClr val="357A7A"/>
          </a:solidFill>
          <a:ln w="12700">
            <a:solidFill>
              <a:srgbClr val="357A7A"/>
            </a:solidFill>
            <a:prstDash val="solid"/>
          </a:ln>
        </p:spPr>
      </p:sp>
      <p:sp>
        <p:nvSpPr>
          <p:cNvPr id="24" name="Shape 18">
            <a:extLst>
              <a:ext uri="{FF2B5EF4-FFF2-40B4-BE49-F238E27FC236}">
                <a16:creationId xmlns:a16="http://schemas.microsoft.com/office/drawing/2014/main" id="{8979E868-BE1B-0957-5D89-EFBBA1DCB7C5}"/>
              </a:ext>
            </a:extLst>
          </p:cNvPr>
          <p:cNvSpPr/>
          <p:nvPr/>
        </p:nvSpPr>
        <p:spPr>
          <a:xfrm>
            <a:off x="4646168" y="3438144"/>
            <a:ext cx="960120" cy="292608"/>
          </a:xfrm>
          <a:prstGeom prst="rect">
            <a:avLst/>
          </a:prstGeom>
          <a:solidFill>
            <a:srgbClr val="357A7A"/>
          </a:solidFill>
          <a:ln w="12700">
            <a:solidFill>
              <a:srgbClr val="357A7A"/>
            </a:solidFill>
            <a:prstDash val="solid"/>
          </a:ln>
        </p:spPr>
      </p:sp>
      <p:sp>
        <p:nvSpPr>
          <p:cNvPr id="25" name="Text 19">
            <a:extLst>
              <a:ext uri="{FF2B5EF4-FFF2-40B4-BE49-F238E27FC236}">
                <a16:creationId xmlns:a16="http://schemas.microsoft.com/office/drawing/2014/main" id="{337B8570-399F-E3C6-8B25-D1252C01D920}"/>
              </a:ext>
            </a:extLst>
          </p:cNvPr>
          <p:cNvSpPr/>
          <p:nvPr/>
        </p:nvSpPr>
        <p:spPr>
          <a:xfrm>
            <a:off x="4646168" y="3438144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5,281 rows</a:t>
            </a:r>
            <a:endParaRPr lang="en-US" sz="1000" dirty="0">
              <a:latin typeface="Aptos Display" panose="020B0004020202020204" pitchFamily="34" charset="0"/>
            </a:endParaRPr>
          </a:p>
        </p:txBody>
      </p:sp>
      <p:sp>
        <p:nvSpPr>
          <p:cNvPr id="26" name="Text 20">
            <a:extLst>
              <a:ext uri="{FF2B5EF4-FFF2-40B4-BE49-F238E27FC236}">
                <a16:creationId xmlns:a16="http://schemas.microsoft.com/office/drawing/2014/main" id="{0CD39894-4E71-31BA-08F0-930FBC08F8CB}"/>
              </a:ext>
            </a:extLst>
          </p:cNvPr>
          <p:cNvSpPr/>
          <p:nvPr/>
        </p:nvSpPr>
        <p:spPr>
          <a:xfrm>
            <a:off x="1601216" y="341985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consum_3</a:t>
            </a:r>
            <a:endParaRPr lang="en-US" sz="1600" dirty="0">
              <a:latin typeface="Aptos Display" panose="020B0004020202020204" pitchFamily="34" charset="0"/>
            </a:endParaRPr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836AD192-28DF-429C-7926-F11F979BF50B}"/>
              </a:ext>
            </a:extLst>
          </p:cNvPr>
          <p:cNvSpPr/>
          <p:nvPr/>
        </p:nvSpPr>
        <p:spPr>
          <a:xfrm>
            <a:off x="1601216" y="3803904"/>
            <a:ext cx="3977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455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Columns: country, energy, year, consumption</a:t>
            </a:r>
            <a:endParaRPr lang="en-US" sz="1300" dirty="0">
              <a:latin typeface="Aptos Display" panose="020B0004020202020204" pitchFamily="34" charset="0"/>
            </a:endParaRPr>
          </a:p>
        </p:txBody>
      </p:sp>
      <p:sp>
        <p:nvSpPr>
          <p:cNvPr id="28" name="Shape 22">
            <a:extLst>
              <a:ext uri="{FF2B5EF4-FFF2-40B4-BE49-F238E27FC236}">
                <a16:creationId xmlns:a16="http://schemas.microsoft.com/office/drawing/2014/main" id="{55DC7DE9-8AD6-6E8A-7099-57A39528501C}"/>
              </a:ext>
            </a:extLst>
          </p:cNvPr>
          <p:cNvSpPr/>
          <p:nvPr/>
        </p:nvSpPr>
        <p:spPr>
          <a:xfrm>
            <a:off x="6585712" y="3346704"/>
            <a:ext cx="4224528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2877A0"/>
            </a:solidFill>
            <a:prstDash val="solid"/>
          </a:ln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9" name="Shape 23">
            <a:extLst>
              <a:ext uri="{FF2B5EF4-FFF2-40B4-BE49-F238E27FC236}">
                <a16:creationId xmlns:a16="http://schemas.microsoft.com/office/drawing/2014/main" id="{6E92AD99-FB51-EE7D-076F-56A3A0D18764}"/>
              </a:ext>
            </a:extLst>
          </p:cNvPr>
          <p:cNvSpPr/>
          <p:nvPr/>
        </p:nvSpPr>
        <p:spPr>
          <a:xfrm>
            <a:off x="6585712" y="3346704"/>
            <a:ext cx="64008" cy="1170432"/>
          </a:xfrm>
          <a:prstGeom prst="rect">
            <a:avLst/>
          </a:prstGeom>
          <a:solidFill>
            <a:srgbClr val="2877A0"/>
          </a:solidFill>
          <a:ln w="12700">
            <a:solidFill>
              <a:srgbClr val="2877A0"/>
            </a:solidFill>
            <a:prstDash val="solid"/>
          </a:ln>
        </p:spPr>
      </p:sp>
      <p:sp>
        <p:nvSpPr>
          <p:cNvPr id="30" name="Shape 24">
            <a:extLst>
              <a:ext uri="{FF2B5EF4-FFF2-40B4-BE49-F238E27FC236}">
                <a16:creationId xmlns:a16="http://schemas.microsoft.com/office/drawing/2014/main" id="{C71CAF3A-33B1-5BDB-9E50-8C14C172FFC1}"/>
              </a:ext>
            </a:extLst>
          </p:cNvPr>
          <p:cNvSpPr/>
          <p:nvPr/>
        </p:nvSpPr>
        <p:spPr>
          <a:xfrm>
            <a:off x="9767824" y="3438144"/>
            <a:ext cx="960120" cy="292608"/>
          </a:xfrm>
          <a:prstGeom prst="rect">
            <a:avLst/>
          </a:prstGeom>
          <a:solidFill>
            <a:srgbClr val="2877A0"/>
          </a:solidFill>
          <a:ln w="12700">
            <a:solidFill>
              <a:srgbClr val="2877A0"/>
            </a:solidFill>
            <a:prstDash val="solid"/>
          </a:ln>
        </p:spPr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551AC84B-BBB8-51A2-D75D-74594CEF984E}"/>
              </a:ext>
            </a:extLst>
          </p:cNvPr>
          <p:cNvSpPr/>
          <p:nvPr/>
        </p:nvSpPr>
        <p:spPr>
          <a:xfrm>
            <a:off x="9767824" y="3438144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5,297 rows</a:t>
            </a:r>
            <a:endParaRPr lang="en-US" sz="1000" dirty="0">
              <a:latin typeface="Aptos Display" panose="020B0004020202020204" pitchFamily="34" charset="0"/>
            </a:endParaRPr>
          </a:p>
        </p:txBody>
      </p:sp>
      <p:sp>
        <p:nvSpPr>
          <p:cNvPr id="32" name="Text 26">
            <a:extLst>
              <a:ext uri="{FF2B5EF4-FFF2-40B4-BE49-F238E27FC236}">
                <a16:creationId xmlns:a16="http://schemas.microsoft.com/office/drawing/2014/main" id="{65E0B00E-04E4-4D10-4E90-B8C06F7D05EA}"/>
              </a:ext>
            </a:extLst>
          </p:cNvPr>
          <p:cNvSpPr/>
          <p:nvPr/>
        </p:nvSpPr>
        <p:spPr>
          <a:xfrm>
            <a:off x="6722872" y="341985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production_3</a:t>
            </a:r>
            <a:endParaRPr lang="en-US" sz="1600" dirty="0">
              <a:latin typeface="Aptos Display" panose="020B0004020202020204" pitchFamily="34" charset="0"/>
            </a:endParaRPr>
          </a:p>
        </p:txBody>
      </p:sp>
      <p:sp>
        <p:nvSpPr>
          <p:cNvPr id="33" name="Text 27">
            <a:extLst>
              <a:ext uri="{FF2B5EF4-FFF2-40B4-BE49-F238E27FC236}">
                <a16:creationId xmlns:a16="http://schemas.microsoft.com/office/drawing/2014/main" id="{C946E2C9-BC3F-CF90-E086-AB5B174A3F02}"/>
              </a:ext>
            </a:extLst>
          </p:cNvPr>
          <p:cNvSpPr/>
          <p:nvPr/>
        </p:nvSpPr>
        <p:spPr>
          <a:xfrm>
            <a:off x="6722872" y="3803904"/>
            <a:ext cx="3977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455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Columns: country, energy, year, production</a:t>
            </a:r>
            <a:endParaRPr lang="en-US" sz="1300" dirty="0">
              <a:latin typeface="Aptos Display" panose="020B0004020202020204" pitchFamily="34" charset="0"/>
            </a:endParaRPr>
          </a:p>
        </p:txBody>
      </p:sp>
      <p:sp>
        <p:nvSpPr>
          <p:cNvPr id="34" name="Shape 28">
            <a:extLst>
              <a:ext uri="{FF2B5EF4-FFF2-40B4-BE49-F238E27FC236}">
                <a16:creationId xmlns:a16="http://schemas.microsoft.com/office/drawing/2014/main" id="{A0DC3C48-5222-8EA5-5869-446414436F82}"/>
              </a:ext>
            </a:extLst>
          </p:cNvPr>
          <p:cNvSpPr/>
          <p:nvPr/>
        </p:nvSpPr>
        <p:spPr>
          <a:xfrm>
            <a:off x="1464056" y="4681728"/>
            <a:ext cx="4224528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2D8B8B"/>
            </a:solidFill>
            <a:prstDash val="solid"/>
          </a:ln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35" name="Shape 29">
            <a:extLst>
              <a:ext uri="{FF2B5EF4-FFF2-40B4-BE49-F238E27FC236}">
                <a16:creationId xmlns:a16="http://schemas.microsoft.com/office/drawing/2014/main" id="{72923B45-F000-E62B-5425-46C3D2DCF640}"/>
              </a:ext>
            </a:extLst>
          </p:cNvPr>
          <p:cNvSpPr/>
          <p:nvPr/>
        </p:nvSpPr>
        <p:spPr>
          <a:xfrm>
            <a:off x="1464056" y="4681728"/>
            <a:ext cx="64008" cy="1170432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6" name="Shape 30">
            <a:extLst>
              <a:ext uri="{FF2B5EF4-FFF2-40B4-BE49-F238E27FC236}">
                <a16:creationId xmlns:a16="http://schemas.microsoft.com/office/drawing/2014/main" id="{5F3D7D3B-7ECF-70E4-CB71-92704FFAD35F}"/>
              </a:ext>
            </a:extLst>
          </p:cNvPr>
          <p:cNvSpPr/>
          <p:nvPr/>
        </p:nvSpPr>
        <p:spPr>
          <a:xfrm>
            <a:off x="4646168" y="4773168"/>
            <a:ext cx="960120" cy="292608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7" name="Text 31">
            <a:extLst>
              <a:ext uri="{FF2B5EF4-FFF2-40B4-BE49-F238E27FC236}">
                <a16:creationId xmlns:a16="http://schemas.microsoft.com/office/drawing/2014/main" id="{4809865C-465D-25AF-D433-60B1B3F2EE5C}"/>
              </a:ext>
            </a:extLst>
          </p:cNvPr>
          <p:cNvSpPr/>
          <p:nvPr/>
        </p:nvSpPr>
        <p:spPr>
          <a:xfrm>
            <a:off x="4646168" y="4773168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1,000 rows</a:t>
            </a:r>
            <a:endParaRPr lang="en-US" sz="1000" dirty="0">
              <a:latin typeface="Aptos Display" panose="020B0004020202020204" pitchFamily="34" charset="0"/>
            </a:endParaRPr>
          </a:p>
        </p:txBody>
      </p:sp>
      <p:sp>
        <p:nvSpPr>
          <p:cNvPr id="38" name="Text 32">
            <a:extLst>
              <a:ext uri="{FF2B5EF4-FFF2-40B4-BE49-F238E27FC236}">
                <a16:creationId xmlns:a16="http://schemas.microsoft.com/office/drawing/2014/main" id="{8647430F-C135-E838-FCCF-3A4ED82E9321}"/>
              </a:ext>
            </a:extLst>
          </p:cNvPr>
          <p:cNvSpPr/>
          <p:nvPr/>
        </p:nvSpPr>
        <p:spPr>
          <a:xfrm>
            <a:off x="1601216" y="47548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gdp_3</a:t>
            </a:r>
            <a:endParaRPr lang="en-US" sz="1600" dirty="0">
              <a:latin typeface="Aptos Display" panose="020B0004020202020204" pitchFamily="34" charset="0"/>
            </a:endParaRPr>
          </a:p>
        </p:txBody>
      </p:sp>
      <p:sp>
        <p:nvSpPr>
          <p:cNvPr id="39" name="Text 33">
            <a:extLst>
              <a:ext uri="{FF2B5EF4-FFF2-40B4-BE49-F238E27FC236}">
                <a16:creationId xmlns:a16="http://schemas.microsoft.com/office/drawing/2014/main" id="{D767D6DF-B343-40CB-02E7-2FECC7BA1A7D}"/>
              </a:ext>
            </a:extLst>
          </p:cNvPr>
          <p:cNvSpPr/>
          <p:nvPr/>
        </p:nvSpPr>
        <p:spPr>
          <a:xfrm>
            <a:off x="1601216" y="5138928"/>
            <a:ext cx="3977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455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Columns: Country, year, Value</a:t>
            </a:r>
            <a:endParaRPr lang="en-US" sz="1300" dirty="0">
              <a:latin typeface="Aptos Display" panose="020B0004020202020204" pitchFamily="34" charset="0"/>
            </a:endParaRPr>
          </a:p>
        </p:txBody>
      </p:sp>
      <p:sp>
        <p:nvSpPr>
          <p:cNvPr id="40" name="Shape 34">
            <a:extLst>
              <a:ext uri="{FF2B5EF4-FFF2-40B4-BE49-F238E27FC236}">
                <a16:creationId xmlns:a16="http://schemas.microsoft.com/office/drawing/2014/main" id="{67D3834C-0E1D-E214-DFC9-5C57CFBC6F48}"/>
              </a:ext>
            </a:extLst>
          </p:cNvPr>
          <p:cNvSpPr/>
          <p:nvPr/>
        </p:nvSpPr>
        <p:spPr>
          <a:xfrm>
            <a:off x="6585712" y="4681728"/>
            <a:ext cx="4224528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2877A0"/>
            </a:solidFill>
            <a:prstDash val="solid"/>
          </a:ln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41" name="Shape 35">
            <a:extLst>
              <a:ext uri="{FF2B5EF4-FFF2-40B4-BE49-F238E27FC236}">
                <a16:creationId xmlns:a16="http://schemas.microsoft.com/office/drawing/2014/main" id="{6535A2BC-4895-8ED9-97F4-38C2091F195C}"/>
              </a:ext>
            </a:extLst>
          </p:cNvPr>
          <p:cNvSpPr/>
          <p:nvPr/>
        </p:nvSpPr>
        <p:spPr>
          <a:xfrm>
            <a:off x="6585712" y="4681728"/>
            <a:ext cx="64008" cy="1170432"/>
          </a:xfrm>
          <a:prstGeom prst="rect">
            <a:avLst/>
          </a:prstGeom>
          <a:solidFill>
            <a:srgbClr val="2877A0"/>
          </a:solidFill>
          <a:ln w="12700">
            <a:solidFill>
              <a:srgbClr val="2877A0"/>
            </a:solidFill>
            <a:prstDash val="solid"/>
          </a:ln>
        </p:spPr>
      </p:sp>
      <p:sp>
        <p:nvSpPr>
          <p:cNvPr id="42" name="Shape 36">
            <a:extLst>
              <a:ext uri="{FF2B5EF4-FFF2-40B4-BE49-F238E27FC236}">
                <a16:creationId xmlns:a16="http://schemas.microsoft.com/office/drawing/2014/main" id="{188C2901-BCCB-C55F-BAF0-74B3A870DC46}"/>
              </a:ext>
            </a:extLst>
          </p:cNvPr>
          <p:cNvSpPr/>
          <p:nvPr/>
        </p:nvSpPr>
        <p:spPr>
          <a:xfrm>
            <a:off x="9767824" y="4773168"/>
            <a:ext cx="960120" cy="292608"/>
          </a:xfrm>
          <a:prstGeom prst="rect">
            <a:avLst/>
          </a:prstGeom>
          <a:solidFill>
            <a:srgbClr val="2877A0"/>
          </a:solidFill>
          <a:ln w="12700">
            <a:solidFill>
              <a:srgbClr val="2877A0"/>
            </a:solidFill>
            <a:prstDash val="solid"/>
          </a:ln>
        </p:spPr>
      </p:sp>
      <p:sp>
        <p:nvSpPr>
          <p:cNvPr id="43" name="Text 37">
            <a:extLst>
              <a:ext uri="{FF2B5EF4-FFF2-40B4-BE49-F238E27FC236}">
                <a16:creationId xmlns:a16="http://schemas.microsoft.com/office/drawing/2014/main" id="{C2BF6F3B-797C-7CF9-39A8-D9954E3D49D0}"/>
              </a:ext>
            </a:extLst>
          </p:cNvPr>
          <p:cNvSpPr/>
          <p:nvPr/>
        </p:nvSpPr>
        <p:spPr>
          <a:xfrm>
            <a:off x="9767824" y="4773168"/>
            <a:ext cx="960120" cy="292608"/>
          </a:xfrm>
          <a:prstGeom prst="rect">
            <a:avLst/>
          </a:prstGeom>
          <a:noFill/>
          <a:ln>
            <a:solidFill>
              <a:srgbClr val="2877A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1,001 rows</a:t>
            </a:r>
            <a:endParaRPr lang="en-US" sz="1000" dirty="0">
              <a:latin typeface="Aptos Display" panose="020B0004020202020204" pitchFamily="34" charset="0"/>
            </a:endParaRPr>
          </a:p>
        </p:txBody>
      </p:sp>
      <p:sp>
        <p:nvSpPr>
          <p:cNvPr id="44" name="Text 38">
            <a:extLst>
              <a:ext uri="{FF2B5EF4-FFF2-40B4-BE49-F238E27FC236}">
                <a16:creationId xmlns:a16="http://schemas.microsoft.com/office/drawing/2014/main" id="{A37EEA12-8F72-1EC1-A8AF-F29B8D4C1C25}"/>
              </a:ext>
            </a:extLst>
          </p:cNvPr>
          <p:cNvSpPr/>
          <p:nvPr/>
        </p:nvSpPr>
        <p:spPr>
          <a:xfrm>
            <a:off x="6722872" y="47548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population_3</a:t>
            </a:r>
            <a:endParaRPr lang="en-US" sz="1600" dirty="0">
              <a:latin typeface="Aptos Display" panose="020B0004020202020204" pitchFamily="34" charset="0"/>
            </a:endParaRPr>
          </a:p>
        </p:txBody>
      </p:sp>
      <p:sp>
        <p:nvSpPr>
          <p:cNvPr id="45" name="Text 39">
            <a:extLst>
              <a:ext uri="{FF2B5EF4-FFF2-40B4-BE49-F238E27FC236}">
                <a16:creationId xmlns:a16="http://schemas.microsoft.com/office/drawing/2014/main" id="{4E98DBEB-2158-7967-E967-9B4D83C6EE92}"/>
              </a:ext>
            </a:extLst>
          </p:cNvPr>
          <p:cNvSpPr/>
          <p:nvPr/>
        </p:nvSpPr>
        <p:spPr>
          <a:xfrm>
            <a:off x="6722872" y="5138928"/>
            <a:ext cx="3977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455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Columns: countries, year, Value</a:t>
            </a:r>
            <a:endParaRPr lang="en-US" sz="1300" dirty="0">
              <a:latin typeface="Aptos Display" panose="020B0004020202020204" pitchFamily="34" charset="0"/>
            </a:endParaRPr>
          </a:p>
        </p:txBody>
      </p:sp>
      <p:sp>
        <p:nvSpPr>
          <p:cNvPr id="46" name="Shape 40">
            <a:extLst>
              <a:ext uri="{FF2B5EF4-FFF2-40B4-BE49-F238E27FC236}">
                <a16:creationId xmlns:a16="http://schemas.microsoft.com/office/drawing/2014/main" id="{8B30CE97-FBAF-C648-0598-AD6E81FCF6BF}"/>
              </a:ext>
            </a:extLst>
          </p:cNvPr>
          <p:cNvSpPr/>
          <p:nvPr/>
        </p:nvSpPr>
        <p:spPr>
          <a:xfrm>
            <a:off x="1466088" y="5879592"/>
            <a:ext cx="9344152" cy="310896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</p:sp>
      <p:sp>
        <p:nvSpPr>
          <p:cNvPr id="47" name="Text 41">
            <a:extLst>
              <a:ext uri="{FF2B5EF4-FFF2-40B4-BE49-F238E27FC236}">
                <a16:creationId xmlns:a16="http://schemas.microsoft.com/office/drawing/2014/main" id="{ACAA4322-1CEE-3209-BB8C-E96E609E9A5E}"/>
              </a:ext>
            </a:extLst>
          </p:cNvPr>
          <p:cNvSpPr/>
          <p:nvPr/>
        </p:nvSpPr>
        <p:spPr>
          <a:xfrm>
            <a:off x="1466088" y="5879592"/>
            <a:ext cx="9344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A8DADC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Total: ~16,326 rows  |  Time span: 2000 – 2024  |  Countries: 230+  |  Import tool: MySQL Import Wizard</a:t>
            </a:r>
            <a:endParaRPr lang="en-US" dirty="0">
              <a:latin typeface="Aptos Display" panose="020B0004020202020204" pitchFamily="34" charset="0"/>
            </a:endParaRPr>
          </a:p>
        </p:txBody>
      </p:sp>
      <p:sp>
        <p:nvSpPr>
          <p:cNvPr id="48" name="Shape 0">
            <a:extLst>
              <a:ext uri="{FF2B5EF4-FFF2-40B4-BE49-F238E27FC236}">
                <a16:creationId xmlns:a16="http://schemas.microsoft.com/office/drawing/2014/main" id="{0FB0DF95-4B9F-AA1F-3263-B3A6B642DDDE}"/>
              </a:ext>
            </a:extLst>
          </p:cNvPr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FF0000"/>
          </a:solidFill>
          <a:ln w="1270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5333481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>
          <a:extLst>
            <a:ext uri="{FF2B5EF4-FFF2-40B4-BE49-F238E27FC236}">
              <a16:creationId xmlns:a16="http://schemas.microsoft.com/office/drawing/2014/main" id="{2FC97F3C-9213-41FF-4EF9-C1491AA0D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 3">
            <a:extLst>
              <a:ext uri="{FF2B5EF4-FFF2-40B4-BE49-F238E27FC236}">
                <a16:creationId xmlns:a16="http://schemas.microsoft.com/office/drawing/2014/main" id="{CEA3A160-9121-D8B2-8EEC-725E72091A1F}"/>
              </a:ext>
            </a:extLst>
          </p:cNvPr>
          <p:cNvSpPr/>
          <p:nvPr/>
        </p:nvSpPr>
        <p:spPr>
          <a:xfrm>
            <a:off x="1422400" y="510031"/>
            <a:ext cx="9367520" cy="8026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ClrTx/>
              <a:buFontTx/>
              <a:buNone/>
            </a:pPr>
            <a:r>
              <a:rPr lang="en-US" sz="4400" b="1" kern="1200" dirty="0">
                <a:solidFill>
                  <a:schemeClr val="tx1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Database Schema &amp; Relationships</a:t>
            </a:r>
            <a:endParaRPr lang="en-US" sz="4400" kern="1200" dirty="0">
              <a:solidFill>
                <a:schemeClr val="tx1"/>
              </a:solidFill>
              <a:latin typeface="Aptos Display" panose="020B0004020202020204" pitchFamily="34" charset="0"/>
              <a:ea typeface="+mn-ea"/>
              <a:cs typeface="+mn-cs"/>
            </a:endParaRPr>
          </a:p>
        </p:txBody>
      </p:sp>
      <p:sp>
        <p:nvSpPr>
          <p:cNvPr id="64" name="Shape 0">
            <a:extLst>
              <a:ext uri="{FF2B5EF4-FFF2-40B4-BE49-F238E27FC236}">
                <a16:creationId xmlns:a16="http://schemas.microsoft.com/office/drawing/2014/main" id="{A3A5A2E2-1909-50A3-7A99-0E1D0BAFC211}"/>
              </a:ext>
            </a:extLst>
          </p:cNvPr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FF0000"/>
          </a:solidFill>
          <a:ln w="12700">
            <a:noFill/>
            <a:prstDash val="solid"/>
          </a:ln>
        </p:spPr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49B60F8-76A8-C6D0-B57E-42D8991EB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1" y="1565833"/>
            <a:ext cx="8217298" cy="486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1827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>
          <a:extLst>
            <a:ext uri="{FF2B5EF4-FFF2-40B4-BE49-F238E27FC236}">
              <a16:creationId xmlns:a16="http://schemas.microsoft.com/office/drawing/2014/main" id="{3A939377-B48B-C665-F5D3-06CAD4CE8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3">
            <a:extLst>
              <a:ext uri="{FF2B5EF4-FFF2-40B4-BE49-F238E27FC236}">
                <a16:creationId xmlns:a16="http://schemas.microsoft.com/office/drawing/2014/main" id="{D5911A0B-29BD-C33D-B5DD-5A7F52856869}"/>
              </a:ext>
            </a:extLst>
          </p:cNvPr>
          <p:cNvSpPr/>
          <p:nvPr/>
        </p:nvSpPr>
        <p:spPr>
          <a:xfrm>
            <a:off x="1442720" y="502920"/>
            <a:ext cx="9337040" cy="763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tx1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General &amp; Comparative Analysis</a:t>
            </a:r>
            <a:endParaRPr lang="en-US" sz="4400" dirty="0">
              <a:solidFill>
                <a:schemeClr val="tx1"/>
              </a:solidFill>
              <a:latin typeface="Aptos Display" panose="020B0004020202020204" pitchFamily="34" charset="0"/>
            </a:endParaRPr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C974B80A-54A2-E5CA-BB8F-FBDD31C130DC}"/>
              </a:ext>
            </a:extLst>
          </p:cNvPr>
          <p:cNvSpPr/>
          <p:nvPr/>
        </p:nvSpPr>
        <p:spPr>
          <a:xfrm>
            <a:off x="1442720" y="1468120"/>
            <a:ext cx="8503920" cy="1261872"/>
          </a:xfrm>
          <a:prstGeom prst="rect">
            <a:avLst/>
          </a:prstGeom>
          <a:noFill/>
          <a:ln w="15240">
            <a:solidFill>
              <a:srgbClr val="2D8B8B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D2D4B131-73DF-C224-61F7-2037DFE972F9}"/>
              </a:ext>
            </a:extLst>
          </p:cNvPr>
          <p:cNvSpPr/>
          <p:nvPr/>
        </p:nvSpPr>
        <p:spPr>
          <a:xfrm>
            <a:off x="1579880" y="15412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02060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1.  Total emission per country — most recent year</a:t>
            </a:r>
            <a:endParaRPr lang="en-US" dirty="0">
              <a:solidFill>
                <a:srgbClr val="002060"/>
              </a:solidFill>
              <a:latin typeface="Aptos Display" panose="020B0004020202020204" pitchFamily="34" charset="0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5AA838EE-7A42-E8AF-BEE2-3E1376B2C834}"/>
              </a:ext>
            </a:extLst>
          </p:cNvPr>
          <p:cNvSpPr/>
          <p:nvPr/>
        </p:nvSpPr>
        <p:spPr>
          <a:xfrm>
            <a:off x="1579880" y="1852168"/>
            <a:ext cx="5989320" cy="768096"/>
          </a:xfrm>
          <a:prstGeom prst="rect">
            <a:avLst/>
          </a:prstGeom>
          <a:solidFill>
            <a:srgbClr val="172030"/>
          </a:solidFill>
          <a:ln w="6350">
            <a:solidFill>
              <a:srgbClr val="7AA5B0"/>
            </a:solidFill>
            <a:prstDash val="solid"/>
          </a:ln>
        </p:spPr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42C5FD10-87A9-A775-7783-3B8F4642B12A}"/>
              </a:ext>
            </a:extLst>
          </p:cNvPr>
          <p:cNvSpPr/>
          <p:nvPr/>
        </p:nvSpPr>
        <p:spPr>
          <a:xfrm>
            <a:off x="1653032" y="1907032"/>
            <a:ext cx="5843016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A8DA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country, SUM(emission) AS total_emission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A8DA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emission_3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A8DA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year = (SELECT MAX(year) FROM emission_3)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A8DA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country ORDER BY total_emission DESC;</a:t>
            </a:r>
            <a:endParaRPr lang="en-US" sz="900" dirty="0"/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6126AFE7-DCDB-B288-1468-5E40FF3C366B}"/>
              </a:ext>
            </a:extLst>
          </p:cNvPr>
          <p:cNvSpPr/>
          <p:nvPr/>
        </p:nvSpPr>
        <p:spPr>
          <a:xfrm>
            <a:off x="7660640" y="1852168"/>
            <a:ext cx="2176272" cy="768096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E6F3A404-25ED-D7D2-04F1-6B0767FE7508}"/>
              </a:ext>
            </a:extLst>
          </p:cNvPr>
          <p:cNvSpPr/>
          <p:nvPr/>
        </p:nvSpPr>
        <p:spPr>
          <a:xfrm>
            <a:off x="7706360" y="1870456"/>
            <a:ext cx="20848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💡  SUM needed — multiple energy_type rows per country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16" name="Shape 10">
            <a:extLst>
              <a:ext uri="{FF2B5EF4-FFF2-40B4-BE49-F238E27FC236}">
                <a16:creationId xmlns:a16="http://schemas.microsoft.com/office/drawing/2014/main" id="{90F40AF8-D4D6-9B03-E0BD-8F765390DB50}"/>
              </a:ext>
            </a:extLst>
          </p:cNvPr>
          <p:cNvSpPr/>
          <p:nvPr/>
        </p:nvSpPr>
        <p:spPr>
          <a:xfrm>
            <a:off x="2275840" y="3004312"/>
            <a:ext cx="8503920" cy="1261872"/>
          </a:xfrm>
          <a:prstGeom prst="rect">
            <a:avLst/>
          </a:prstGeom>
          <a:noFill/>
          <a:ln w="15240">
            <a:solidFill>
              <a:srgbClr val="2D8B8B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BFC9CD30-333C-CB34-32CB-D4DF0F5A62F2}"/>
              </a:ext>
            </a:extLst>
          </p:cNvPr>
          <p:cNvSpPr/>
          <p:nvPr/>
        </p:nvSpPr>
        <p:spPr>
          <a:xfrm>
            <a:off x="2413000" y="307746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02060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2.  Top 5 countries by GDP — most recent year</a:t>
            </a:r>
            <a:endParaRPr lang="en-US" dirty="0">
              <a:solidFill>
                <a:srgbClr val="002060"/>
              </a:solidFill>
              <a:latin typeface="Aptos Display" panose="020B0004020202020204" pitchFamily="34" charset="0"/>
            </a:endParaRPr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6034376B-DE29-62AA-DBE3-F15F35323A21}"/>
              </a:ext>
            </a:extLst>
          </p:cNvPr>
          <p:cNvSpPr/>
          <p:nvPr/>
        </p:nvSpPr>
        <p:spPr>
          <a:xfrm>
            <a:off x="2413000" y="3388360"/>
            <a:ext cx="5989320" cy="768096"/>
          </a:xfrm>
          <a:prstGeom prst="rect">
            <a:avLst/>
          </a:prstGeom>
          <a:solidFill>
            <a:srgbClr val="172030"/>
          </a:solidFill>
          <a:ln w="6350">
            <a:solidFill>
              <a:srgbClr val="7AA5B0"/>
            </a:solidFill>
            <a:prstDash val="solid"/>
          </a:ln>
        </p:spPr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2E10C4F4-E45B-428D-304C-4CFF6A1F138D}"/>
              </a:ext>
            </a:extLst>
          </p:cNvPr>
          <p:cNvSpPr/>
          <p:nvPr/>
        </p:nvSpPr>
        <p:spPr>
          <a:xfrm>
            <a:off x="2486152" y="3443224"/>
            <a:ext cx="5843016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A8DA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Country, Value AS gdp FROM gdp_3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A8DA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year = (SELECT MAX(year) FROM gdp_3)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A8DA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gdp DESC LIMIT 5;</a:t>
            </a:r>
            <a:endParaRPr lang="en-US" sz="900" dirty="0"/>
          </a:p>
        </p:txBody>
      </p:sp>
      <p:sp>
        <p:nvSpPr>
          <p:cNvPr id="20" name="Shape 14">
            <a:extLst>
              <a:ext uri="{FF2B5EF4-FFF2-40B4-BE49-F238E27FC236}">
                <a16:creationId xmlns:a16="http://schemas.microsoft.com/office/drawing/2014/main" id="{361923A4-FB5E-D490-E359-17DF32AEF07D}"/>
              </a:ext>
            </a:extLst>
          </p:cNvPr>
          <p:cNvSpPr/>
          <p:nvPr/>
        </p:nvSpPr>
        <p:spPr>
          <a:xfrm>
            <a:off x="8493760" y="3388360"/>
            <a:ext cx="2176272" cy="768096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95626EAA-C11B-E92B-88DD-054BE856BCBB}"/>
              </a:ext>
            </a:extLst>
          </p:cNvPr>
          <p:cNvSpPr/>
          <p:nvPr/>
        </p:nvSpPr>
        <p:spPr>
          <a:xfrm>
            <a:off x="8539480" y="3406648"/>
            <a:ext cx="20848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💡  No SUM — one GDP row per country per year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22" name="Shape 16">
            <a:extLst>
              <a:ext uri="{FF2B5EF4-FFF2-40B4-BE49-F238E27FC236}">
                <a16:creationId xmlns:a16="http://schemas.microsoft.com/office/drawing/2014/main" id="{BBE2CCAB-AF6F-7BBA-6EFF-D7A092E21BB3}"/>
              </a:ext>
            </a:extLst>
          </p:cNvPr>
          <p:cNvSpPr/>
          <p:nvPr/>
        </p:nvSpPr>
        <p:spPr>
          <a:xfrm>
            <a:off x="1442720" y="4540504"/>
            <a:ext cx="8503920" cy="1585976"/>
          </a:xfrm>
          <a:prstGeom prst="rect">
            <a:avLst/>
          </a:prstGeom>
          <a:noFill/>
          <a:ln w="15240">
            <a:solidFill>
              <a:srgbClr val="2D8B8B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C2153033-96C1-E575-126B-1F9CDF8C4A7E}"/>
              </a:ext>
            </a:extLst>
          </p:cNvPr>
          <p:cNvSpPr/>
          <p:nvPr/>
        </p:nvSpPr>
        <p:spPr>
          <a:xfrm>
            <a:off x="1579880" y="461365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02060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3.  Energy production vs consumption by country &amp; year</a:t>
            </a:r>
            <a:endParaRPr lang="en-US" dirty="0">
              <a:solidFill>
                <a:srgbClr val="002060"/>
              </a:solidFill>
              <a:latin typeface="Aptos Display" panose="020B0004020202020204" pitchFamily="34" charset="0"/>
            </a:endParaRPr>
          </a:p>
        </p:txBody>
      </p:sp>
      <p:sp>
        <p:nvSpPr>
          <p:cNvPr id="24" name="Shape 18">
            <a:extLst>
              <a:ext uri="{FF2B5EF4-FFF2-40B4-BE49-F238E27FC236}">
                <a16:creationId xmlns:a16="http://schemas.microsoft.com/office/drawing/2014/main" id="{67AA44F9-0A39-66F0-BB4D-0EB4CF963C7B}"/>
              </a:ext>
            </a:extLst>
          </p:cNvPr>
          <p:cNvSpPr/>
          <p:nvPr/>
        </p:nvSpPr>
        <p:spPr>
          <a:xfrm>
            <a:off x="1579880" y="4924552"/>
            <a:ext cx="5989320" cy="1080008"/>
          </a:xfrm>
          <a:prstGeom prst="rect">
            <a:avLst/>
          </a:prstGeom>
          <a:solidFill>
            <a:srgbClr val="172030"/>
          </a:solidFill>
          <a:ln w="6350">
            <a:solidFill>
              <a:srgbClr val="7AA5B0"/>
            </a:solidFill>
            <a:prstDash val="solid"/>
          </a:ln>
        </p:spPr>
      </p:sp>
      <p:sp>
        <p:nvSpPr>
          <p:cNvPr id="25" name="Text 19">
            <a:extLst>
              <a:ext uri="{FF2B5EF4-FFF2-40B4-BE49-F238E27FC236}">
                <a16:creationId xmlns:a16="http://schemas.microsoft.com/office/drawing/2014/main" id="{21960CCB-3347-1C9D-10D5-3A358EA90A15}"/>
              </a:ext>
            </a:extLst>
          </p:cNvPr>
          <p:cNvSpPr/>
          <p:nvPr/>
        </p:nvSpPr>
        <p:spPr>
          <a:xfrm>
            <a:off x="1653032" y="4979416"/>
            <a:ext cx="5843016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A8DA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p.country, p.year, p.energy,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A8DA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SUM(p.production), SUM(c.consumption)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A8DA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production p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A8DA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consumption c ON p.country=c.country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A8DA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p.year=c.year AND p.energy=c.energy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A8DA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p.country, p.year, p.energy;</a:t>
            </a:r>
            <a:endParaRPr lang="en-US" sz="900" dirty="0"/>
          </a:p>
        </p:txBody>
      </p:sp>
      <p:sp>
        <p:nvSpPr>
          <p:cNvPr id="26" name="Shape 20">
            <a:extLst>
              <a:ext uri="{FF2B5EF4-FFF2-40B4-BE49-F238E27FC236}">
                <a16:creationId xmlns:a16="http://schemas.microsoft.com/office/drawing/2014/main" id="{CEC7EA27-A68F-2657-0C82-153635A309EB}"/>
              </a:ext>
            </a:extLst>
          </p:cNvPr>
          <p:cNvSpPr/>
          <p:nvPr/>
        </p:nvSpPr>
        <p:spPr>
          <a:xfrm>
            <a:off x="7660640" y="4924552"/>
            <a:ext cx="2176272" cy="1080008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A15E480B-3E32-47EA-8DE8-38287F382FBF}"/>
              </a:ext>
            </a:extLst>
          </p:cNvPr>
          <p:cNvSpPr/>
          <p:nvPr/>
        </p:nvSpPr>
        <p:spPr>
          <a:xfrm>
            <a:off x="7706360" y="4942840"/>
            <a:ext cx="2084832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💡  3-key JOIN: country + year + energy type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28" name="Shape 0">
            <a:extLst>
              <a:ext uri="{FF2B5EF4-FFF2-40B4-BE49-F238E27FC236}">
                <a16:creationId xmlns:a16="http://schemas.microsoft.com/office/drawing/2014/main" id="{B82F33A0-39AB-4578-386E-F36AE9DD60F2}"/>
              </a:ext>
            </a:extLst>
          </p:cNvPr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FF0000"/>
          </a:solidFill>
          <a:ln w="1270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33832455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>
          <a:extLst>
            <a:ext uri="{FF2B5EF4-FFF2-40B4-BE49-F238E27FC236}">
              <a16:creationId xmlns:a16="http://schemas.microsoft.com/office/drawing/2014/main" id="{1F4C27FE-42D4-16A2-3342-CB50F3A83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419F8FC4-A2C8-6DF5-F0F8-73C3A16EA0D3}"/>
              </a:ext>
            </a:extLst>
          </p:cNvPr>
          <p:cNvSpPr/>
          <p:nvPr/>
        </p:nvSpPr>
        <p:spPr>
          <a:xfrm>
            <a:off x="1477264" y="502920"/>
            <a:ext cx="9312656" cy="1420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A2332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Which Energy Types Contribute Most to Emissions?</a:t>
            </a:r>
            <a:endParaRPr lang="en-US" sz="4400" dirty="0">
              <a:latin typeface="Aptos Display" panose="020B0004020202020204" pitchFamily="34" charset="0"/>
            </a:endParaRPr>
          </a:p>
        </p:txBody>
      </p:sp>
      <p:graphicFrame>
        <p:nvGraphicFramePr>
          <p:cNvPr id="6" name="Chart 0">
            <a:extLst>
              <a:ext uri="{FF2B5EF4-FFF2-40B4-BE49-F238E27FC236}">
                <a16:creationId xmlns:a16="http://schemas.microsoft.com/office/drawing/2014/main" id="{A8D57D8C-ACA9-1B6E-CE4B-457A6D3B4C9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29312126"/>
              </p:ext>
            </p:extLst>
          </p:nvPr>
        </p:nvGraphicFramePr>
        <p:xfrm>
          <a:off x="1477264" y="2039112"/>
          <a:ext cx="534924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>
            <a:extLst>
              <a:ext uri="{FF2B5EF4-FFF2-40B4-BE49-F238E27FC236}">
                <a16:creationId xmlns:a16="http://schemas.microsoft.com/office/drawing/2014/main" id="{78814911-FF9B-85B8-0BD4-812403668174}"/>
              </a:ext>
            </a:extLst>
          </p:cNvPr>
          <p:cNvSpPr/>
          <p:nvPr/>
        </p:nvSpPr>
        <p:spPr>
          <a:xfrm>
            <a:off x="7385304" y="2130552"/>
            <a:ext cx="3859784" cy="786384"/>
          </a:xfrm>
          <a:prstGeom prst="rect">
            <a:avLst/>
          </a:prstGeom>
          <a:solidFill>
            <a:srgbClr val="FFFFFF"/>
          </a:solidFill>
          <a:ln w="15240">
            <a:solidFill>
              <a:srgbClr val="2D8B8B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5E5F3244-0B59-D74F-0205-1A3427109BF2}"/>
              </a:ext>
            </a:extLst>
          </p:cNvPr>
          <p:cNvSpPr/>
          <p:nvPr/>
        </p:nvSpPr>
        <p:spPr>
          <a:xfrm>
            <a:off x="7385304" y="2121408"/>
            <a:ext cx="54864" cy="786384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C52896A1-A8DB-7E39-895F-256939F1D4F4}"/>
              </a:ext>
            </a:extLst>
          </p:cNvPr>
          <p:cNvSpPr/>
          <p:nvPr/>
        </p:nvSpPr>
        <p:spPr>
          <a:xfrm>
            <a:off x="10237216" y="2304288"/>
            <a:ext cx="6583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D8B8B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41%</a:t>
            </a:r>
            <a:endParaRPr lang="en-US" sz="1800" dirty="0">
              <a:latin typeface="Aptos Display" panose="020B0004020202020204" pitchFamily="34" charset="0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01ACAF8D-6976-2767-90E8-C3D279E08431}"/>
              </a:ext>
            </a:extLst>
          </p:cNvPr>
          <p:cNvSpPr/>
          <p:nvPr/>
        </p:nvSpPr>
        <p:spPr>
          <a:xfrm>
            <a:off x="7440168" y="222199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Coal</a:t>
            </a:r>
            <a:endParaRPr lang="en-US" sz="1600" dirty="0">
              <a:latin typeface="Aptos Display" panose="020B0004020202020204" pitchFamily="34" charset="0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127ED8FB-5708-4950-0EC8-238BA03ECBE9}"/>
              </a:ext>
            </a:extLst>
          </p:cNvPr>
          <p:cNvSpPr/>
          <p:nvPr/>
        </p:nvSpPr>
        <p:spPr>
          <a:xfrm>
            <a:off x="7440168" y="2569464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Dominant; Asia-Pacific economies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D807725C-F3BF-C5D5-C65F-AF37C5A47922}"/>
              </a:ext>
            </a:extLst>
          </p:cNvPr>
          <p:cNvSpPr/>
          <p:nvPr/>
        </p:nvSpPr>
        <p:spPr>
          <a:xfrm>
            <a:off x="7385304" y="3026664"/>
            <a:ext cx="3859784" cy="786384"/>
          </a:xfrm>
          <a:prstGeom prst="rect">
            <a:avLst/>
          </a:prstGeom>
          <a:solidFill>
            <a:srgbClr val="FFFFFF"/>
          </a:solidFill>
          <a:ln w="15240">
            <a:solidFill>
              <a:srgbClr val="2D8B8B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8F905BBD-4EAF-346E-93F9-034394D1433A}"/>
              </a:ext>
            </a:extLst>
          </p:cNvPr>
          <p:cNvSpPr/>
          <p:nvPr/>
        </p:nvSpPr>
        <p:spPr>
          <a:xfrm>
            <a:off x="7385304" y="3017520"/>
            <a:ext cx="54864" cy="786384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0968CF24-62D7-C750-7DC6-14BEE0462ECD}"/>
              </a:ext>
            </a:extLst>
          </p:cNvPr>
          <p:cNvSpPr/>
          <p:nvPr/>
        </p:nvSpPr>
        <p:spPr>
          <a:xfrm>
            <a:off x="10237216" y="3200400"/>
            <a:ext cx="6583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D8B8B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31%</a:t>
            </a:r>
            <a:endParaRPr lang="en-US" sz="1800" dirty="0">
              <a:latin typeface="Aptos Display" panose="020B0004020202020204" pitchFamily="34" charset="0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6A527F9D-4575-AD48-DE6A-93EA96975B68}"/>
              </a:ext>
            </a:extLst>
          </p:cNvPr>
          <p:cNvSpPr/>
          <p:nvPr/>
        </p:nvSpPr>
        <p:spPr>
          <a:xfrm>
            <a:off x="7440168" y="311810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Oil Products</a:t>
            </a:r>
            <a:endParaRPr lang="en-US" sz="1600" dirty="0">
              <a:latin typeface="Aptos Display" panose="020B0004020202020204" pitchFamily="34" charset="0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114BD0EA-CC94-B3D5-ADC0-30CD5C4A53A5}"/>
              </a:ext>
            </a:extLst>
          </p:cNvPr>
          <p:cNvSpPr/>
          <p:nvPr/>
        </p:nvSpPr>
        <p:spPr>
          <a:xfrm>
            <a:off x="7440168" y="3465576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Transport &amp; industrial sectors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283C39C2-6131-F2C9-0E9B-6FDF588EE325}"/>
              </a:ext>
            </a:extLst>
          </p:cNvPr>
          <p:cNvSpPr/>
          <p:nvPr/>
        </p:nvSpPr>
        <p:spPr>
          <a:xfrm>
            <a:off x="7385304" y="3922776"/>
            <a:ext cx="3859784" cy="786384"/>
          </a:xfrm>
          <a:prstGeom prst="rect">
            <a:avLst/>
          </a:prstGeom>
          <a:solidFill>
            <a:srgbClr val="FFFFFF"/>
          </a:solidFill>
          <a:ln w="15240">
            <a:solidFill>
              <a:srgbClr val="2D8B8B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8EC2EA6E-5EFD-1B8B-7438-CE54B0124D90}"/>
              </a:ext>
            </a:extLst>
          </p:cNvPr>
          <p:cNvSpPr/>
          <p:nvPr/>
        </p:nvSpPr>
        <p:spPr>
          <a:xfrm>
            <a:off x="7385304" y="3913632"/>
            <a:ext cx="54864" cy="786384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E69352D9-9D3A-3AD8-8C55-8407DCE3B6FD}"/>
              </a:ext>
            </a:extLst>
          </p:cNvPr>
          <p:cNvSpPr/>
          <p:nvPr/>
        </p:nvSpPr>
        <p:spPr>
          <a:xfrm>
            <a:off x="10237216" y="4096512"/>
            <a:ext cx="6583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D8B8B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21%</a:t>
            </a:r>
            <a:endParaRPr lang="en-US" sz="1800" dirty="0">
              <a:latin typeface="Aptos Display" panose="020B0004020202020204" pitchFamily="34" charset="0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9A11C7E2-E158-3FDC-7FD7-819A50FAF341}"/>
              </a:ext>
            </a:extLst>
          </p:cNvPr>
          <p:cNvSpPr/>
          <p:nvPr/>
        </p:nvSpPr>
        <p:spPr>
          <a:xfrm>
            <a:off x="7440168" y="4014216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Natural Gas</a:t>
            </a:r>
            <a:endParaRPr lang="en-US" sz="1600" dirty="0">
              <a:latin typeface="Aptos Display" panose="020B0004020202020204" pitchFamily="34" charset="0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272633CE-C99A-F0D5-F4A4-9AE3D9C12F95}"/>
              </a:ext>
            </a:extLst>
          </p:cNvPr>
          <p:cNvSpPr/>
          <p:nvPr/>
        </p:nvSpPr>
        <p:spPr>
          <a:xfrm>
            <a:off x="7440168" y="436168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Cleaner but rising demand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DAEE3D84-00B2-5B8F-ACA1-C7650D73384E}"/>
              </a:ext>
            </a:extLst>
          </p:cNvPr>
          <p:cNvSpPr/>
          <p:nvPr/>
        </p:nvSpPr>
        <p:spPr>
          <a:xfrm>
            <a:off x="7385304" y="4818888"/>
            <a:ext cx="3859784" cy="786384"/>
          </a:xfrm>
          <a:prstGeom prst="rect">
            <a:avLst/>
          </a:prstGeom>
          <a:solidFill>
            <a:srgbClr val="FFFFFF"/>
          </a:solidFill>
          <a:ln w="15240">
            <a:solidFill>
              <a:srgbClr val="2D8B8B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B1A80E12-E601-F219-EFC1-E953298AC07C}"/>
              </a:ext>
            </a:extLst>
          </p:cNvPr>
          <p:cNvSpPr/>
          <p:nvPr/>
        </p:nvSpPr>
        <p:spPr>
          <a:xfrm>
            <a:off x="7386320" y="4828032"/>
            <a:ext cx="54864" cy="786384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26322210-5977-F7A6-60E9-F286199EEA3F}"/>
              </a:ext>
            </a:extLst>
          </p:cNvPr>
          <p:cNvSpPr/>
          <p:nvPr/>
        </p:nvSpPr>
        <p:spPr>
          <a:xfrm>
            <a:off x="10237216" y="4992624"/>
            <a:ext cx="6583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D8B8B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7%</a:t>
            </a:r>
            <a:endParaRPr lang="en-US" sz="1800" dirty="0">
              <a:latin typeface="Aptos Display" panose="020B0004020202020204" pitchFamily="34" charset="0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A3440777-D9FF-20F8-AEC4-AA94F0A88BBB}"/>
              </a:ext>
            </a:extLst>
          </p:cNvPr>
          <p:cNvSpPr/>
          <p:nvPr/>
        </p:nvSpPr>
        <p:spPr>
          <a:xfrm>
            <a:off x="7440168" y="49103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Others</a:t>
            </a:r>
            <a:endParaRPr lang="en-US" sz="1600" dirty="0">
              <a:latin typeface="Aptos Display" panose="020B0004020202020204" pitchFamily="34" charset="0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7B4B0896-BBC0-BAE9-2CED-D1E5F2B86BBE}"/>
              </a:ext>
            </a:extLst>
          </p:cNvPr>
          <p:cNvSpPr/>
          <p:nvPr/>
        </p:nvSpPr>
        <p:spPr>
          <a:xfrm>
            <a:off x="7440168" y="52578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Biofuels, flaring, waste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D81E20C3-A688-160A-3D95-A7DC19CB5E74}"/>
              </a:ext>
            </a:extLst>
          </p:cNvPr>
          <p:cNvSpPr/>
          <p:nvPr/>
        </p:nvSpPr>
        <p:spPr>
          <a:xfrm>
            <a:off x="7385304" y="5821680"/>
            <a:ext cx="3859784" cy="311912"/>
          </a:xfrm>
          <a:prstGeom prst="rect">
            <a:avLst/>
          </a:prstGeom>
          <a:solidFill>
            <a:srgbClr val="172030"/>
          </a:solidFill>
          <a:ln w="6350">
            <a:solidFill>
              <a:srgbClr val="7AA5B0"/>
            </a:solidFill>
            <a:prstDash val="solid"/>
          </a:ln>
        </p:spPr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2307EA49-3266-F6E3-D9F7-E0B947D68AE9}"/>
              </a:ext>
            </a:extLst>
          </p:cNvPr>
          <p:cNvSpPr/>
          <p:nvPr/>
        </p:nvSpPr>
        <p:spPr>
          <a:xfrm>
            <a:off x="7385304" y="5821680"/>
            <a:ext cx="3859784" cy="311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GROUP BY energy_type ORDER BY SUM(emission) DESC</a:t>
            </a:r>
            <a:endParaRPr lang="en-US" sz="1000" dirty="0">
              <a:latin typeface="Aptos Display" panose="020B0004020202020204" pitchFamily="34" charset="0"/>
            </a:endParaRPr>
          </a:p>
        </p:txBody>
      </p:sp>
      <p:sp>
        <p:nvSpPr>
          <p:cNvPr id="29" name="Shape 0">
            <a:extLst>
              <a:ext uri="{FF2B5EF4-FFF2-40B4-BE49-F238E27FC236}">
                <a16:creationId xmlns:a16="http://schemas.microsoft.com/office/drawing/2014/main" id="{D538EA47-76E2-22DE-E354-FD36CCB3BF36}"/>
              </a:ext>
            </a:extLst>
          </p:cNvPr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FF0000"/>
          </a:solidFill>
          <a:ln w="1270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40332023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>
          <a:extLst>
            <a:ext uri="{FF2B5EF4-FFF2-40B4-BE49-F238E27FC236}">
              <a16:creationId xmlns:a16="http://schemas.microsoft.com/office/drawing/2014/main" id="{B7C0D900-56A7-00DE-7867-8724313F7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3">
            <a:extLst>
              <a:ext uri="{FF2B5EF4-FFF2-40B4-BE49-F238E27FC236}">
                <a16:creationId xmlns:a16="http://schemas.microsoft.com/office/drawing/2014/main" id="{85EEC5ED-7ED1-82F8-38A1-51A71D5FF3DF}"/>
              </a:ext>
            </a:extLst>
          </p:cNvPr>
          <p:cNvSpPr/>
          <p:nvPr/>
        </p:nvSpPr>
        <p:spPr>
          <a:xfrm>
            <a:off x="1402080" y="502920"/>
            <a:ext cx="9387840" cy="709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tx1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Trend Analysis Over Time</a:t>
            </a:r>
            <a:endParaRPr lang="en-US" sz="4400" dirty="0">
              <a:solidFill>
                <a:schemeClr val="tx1"/>
              </a:solidFill>
              <a:latin typeface="Aptos Display" panose="020B0004020202020204" pitchFamily="34" charset="0"/>
            </a:endParaRPr>
          </a:p>
        </p:txBody>
      </p:sp>
      <p:graphicFrame>
        <p:nvGraphicFramePr>
          <p:cNvPr id="10" name="Chart 0">
            <a:extLst>
              <a:ext uri="{FF2B5EF4-FFF2-40B4-BE49-F238E27FC236}">
                <a16:creationId xmlns:a16="http://schemas.microsoft.com/office/drawing/2014/main" id="{5FDE9574-B34B-7AC4-012D-08BA0A8DC6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50735684"/>
              </p:ext>
            </p:extLst>
          </p:nvPr>
        </p:nvGraphicFramePr>
        <p:xfrm>
          <a:off x="1402080" y="1499108"/>
          <a:ext cx="5563784" cy="33147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Shape 4">
            <a:extLst>
              <a:ext uri="{FF2B5EF4-FFF2-40B4-BE49-F238E27FC236}">
                <a16:creationId xmlns:a16="http://schemas.microsoft.com/office/drawing/2014/main" id="{4F8CD3C2-5E12-BF25-59AD-66023CD8CB22}"/>
              </a:ext>
            </a:extLst>
          </p:cNvPr>
          <p:cNvSpPr/>
          <p:nvPr/>
        </p:nvSpPr>
        <p:spPr>
          <a:xfrm>
            <a:off x="4023360" y="5352495"/>
            <a:ext cx="2942504" cy="916940"/>
          </a:xfrm>
          <a:prstGeom prst="rect">
            <a:avLst/>
          </a:prstGeom>
          <a:solidFill>
            <a:srgbClr val="223045"/>
          </a:solidFill>
          <a:ln w="15240">
            <a:solidFill>
              <a:srgbClr val="2D8B8B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8976988A-FBA0-D68A-792D-EBA6526E5038}"/>
              </a:ext>
            </a:extLst>
          </p:cNvPr>
          <p:cNvSpPr/>
          <p:nvPr/>
        </p:nvSpPr>
        <p:spPr>
          <a:xfrm>
            <a:off x="4128087" y="5407359"/>
            <a:ext cx="274633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8DADC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YoY Global Emissions</a:t>
            </a:r>
            <a:endParaRPr lang="en-US" sz="1100" dirty="0">
              <a:latin typeface="Aptos Display" panose="020B0004020202020204" pitchFamily="34" charset="0"/>
            </a:endParaRPr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F77AF5AC-DEAA-84EF-B03A-E431793DAF25}"/>
              </a:ext>
            </a:extLst>
          </p:cNvPr>
          <p:cNvSpPr/>
          <p:nvPr/>
        </p:nvSpPr>
        <p:spPr>
          <a:xfrm>
            <a:off x="4128087" y="5672535"/>
            <a:ext cx="2746337" cy="548640"/>
          </a:xfrm>
          <a:prstGeom prst="rect">
            <a:avLst/>
          </a:prstGeom>
          <a:solidFill>
            <a:srgbClr val="172030"/>
          </a:solidFill>
          <a:ln w="6350">
            <a:solidFill>
              <a:srgbClr val="7AA5B0"/>
            </a:solidFill>
            <a:prstDash val="solid"/>
          </a:ln>
        </p:spPr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179B63D6-C8E3-7B58-57D0-04F6045A1ADC}"/>
              </a:ext>
            </a:extLst>
          </p:cNvPr>
          <p:cNvSpPr/>
          <p:nvPr/>
        </p:nvSpPr>
        <p:spPr>
          <a:xfrm>
            <a:off x="4211868" y="5672535"/>
            <a:ext cx="25894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SUM(emission) -</a:t>
            </a:r>
            <a:endParaRPr lang="en-US" sz="90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LAG(SUM(emission))</a:t>
            </a:r>
            <a:endParaRPr lang="en-US" sz="90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OVER (ORDER BY year)</a:t>
            </a:r>
            <a:endParaRPr lang="en-US" sz="900" dirty="0">
              <a:latin typeface="Aptos Display" panose="020B0004020202020204" pitchFamily="34" charset="0"/>
            </a:endParaRPr>
          </a:p>
        </p:txBody>
      </p:sp>
      <p:sp>
        <p:nvSpPr>
          <p:cNvPr id="15" name="Shape 8">
            <a:extLst>
              <a:ext uri="{FF2B5EF4-FFF2-40B4-BE49-F238E27FC236}">
                <a16:creationId xmlns:a16="http://schemas.microsoft.com/office/drawing/2014/main" id="{4988AEC2-824B-1771-5A39-1AB34849BE7A}"/>
              </a:ext>
            </a:extLst>
          </p:cNvPr>
          <p:cNvSpPr/>
          <p:nvPr/>
        </p:nvSpPr>
        <p:spPr>
          <a:xfrm>
            <a:off x="7335370" y="1504965"/>
            <a:ext cx="3772707" cy="541148"/>
          </a:xfrm>
          <a:prstGeom prst="rect">
            <a:avLst/>
          </a:prstGeom>
          <a:solidFill>
            <a:srgbClr val="223045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16" name="Text 9">
            <a:extLst>
              <a:ext uri="{FF2B5EF4-FFF2-40B4-BE49-F238E27FC236}">
                <a16:creationId xmlns:a16="http://schemas.microsoft.com/office/drawing/2014/main" id="{9076AB6C-DC12-A1BA-3B2C-1C6E10EC0ADC}"/>
              </a:ext>
            </a:extLst>
          </p:cNvPr>
          <p:cNvSpPr/>
          <p:nvPr/>
        </p:nvSpPr>
        <p:spPr>
          <a:xfrm>
            <a:off x="7429254" y="1539460"/>
            <a:ext cx="3563112" cy="4799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F1FAEE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Uses LAG() — MySQL 8.0+</a:t>
            </a:r>
            <a:endParaRPr lang="en-US" dirty="0">
              <a:latin typeface="Aptos Display" panose="020B0004020202020204" pitchFamily="34" charset="0"/>
            </a:endParaRPr>
          </a:p>
        </p:txBody>
      </p:sp>
      <p:sp>
        <p:nvSpPr>
          <p:cNvPr id="17" name="Shape 10">
            <a:extLst>
              <a:ext uri="{FF2B5EF4-FFF2-40B4-BE49-F238E27FC236}">
                <a16:creationId xmlns:a16="http://schemas.microsoft.com/office/drawing/2014/main" id="{34CAD4B0-344E-405D-BF9C-67E33D172B8E}"/>
              </a:ext>
            </a:extLst>
          </p:cNvPr>
          <p:cNvSpPr/>
          <p:nvPr/>
        </p:nvSpPr>
        <p:spPr>
          <a:xfrm>
            <a:off x="1249680" y="5350670"/>
            <a:ext cx="2553507" cy="916940"/>
          </a:xfrm>
          <a:prstGeom prst="rect">
            <a:avLst/>
          </a:prstGeom>
          <a:solidFill>
            <a:srgbClr val="223045"/>
          </a:solidFill>
          <a:ln w="15240">
            <a:solidFill>
              <a:srgbClr val="2D8B8B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FDF02510-F4AB-BFB8-1DD4-997C646CF592}"/>
              </a:ext>
            </a:extLst>
          </p:cNvPr>
          <p:cNvSpPr/>
          <p:nvPr/>
        </p:nvSpPr>
        <p:spPr>
          <a:xfrm>
            <a:off x="1257808" y="5405534"/>
            <a:ext cx="2383273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8DADC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GDP Trend / Country</a:t>
            </a:r>
            <a:endParaRPr lang="en-US" sz="1100" dirty="0">
              <a:latin typeface="Aptos Display" panose="020B0004020202020204" pitchFamily="34" charset="0"/>
            </a:endParaRPr>
          </a:p>
        </p:txBody>
      </p:sp>
      <p:sp>
        <p:nvSpPr>
          <p:cNvPr id="19" name="Shape 12">
            <a:extLst>
              <a:ext uri="{FF2B5EF4-FFF2-40B4-BE49-F238E27FC236}">
                <a16:creationId xmlns:a16="http://schemas.microsoft.com/office/drawing/2014/main" id="{A480B9D2-283D-5AD2-B006-F261838AF7DD}"/>
              </a:ext>
            </a:extLst>
          </p:cNvPr>
          <p:cNvSpPr/>
          <p:nvPr/>
        </p:nvSpPr>
        <p:spPr>
          <a:xfrm>
            <a:off x="1403927" y="5672535"/>
            <a:ext cx="2237154" cy="548640"/>
          </a:xfrm>
          <a:prstGeom prst="rect">
            <a:avLst/>
          </a:prstGeom>
          <a:solidFill>
            <a:srgbClr val="172030"/>
          </a:solidFill>
          <a:ln w="6350">
            <a:solidFill>
              <a:srgbClr val="7AA5B0"/>
            </a:solidFill>
            <a:prstDash val="solid"/>
          </a:ln>
        </p:spPr>
      </p:sp>
      <p:sp>
        <p:nvSpPr>
          <p:cNvPr id="20" name="Text 13">
            <a:extLst>
              <a:ext uri="{FF2B5EF4-FFF2-40B4-BE49-F238E27FC236}">
                <a16:creationId xmlns:a16="http://schemas.microsoft.com/office/drawing/2014/main" id="{E50AF603-45FD-2B25-C787-6A1AD99C15DD}"/>
              </a:ext>
            </a:extLst>
          </p:cNvPr>
          <p:cNvSpPr/>
          <p:nvPr/>
        </p:nvSpPr>
        <p:spPr>
          <a:xfrm>
            <a:off x="1402079" y="5672535"/>
            <a:ext cx="223715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Value - LAG(Value)</a:t>
            </a:r>
            <a:endParaRPr lang="en-US" sz="90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OVER (PARTITION BY Country</a:t>
            </a:r>
            <a:endParaRPr lang="en-US" sz="90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      ORDER BY year)</a:t>
            </a:r>
            <a:endParaRPr lang="en-US" sz="900" dirty="0">
              <a:latin typeface="Aptos Display" panose="020B0004020202020204" pitchFamily="34" charset="0"/>
            </a:endParaRPr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CFE5E55F-FEBF-8C38-946A-381DB2406589}"/>
              </a:ext>
            </a:extLst>
          </p:cNvPr>
          <p:cNvSpPr/>
          <p:nvPr/>
        </p:nvSpPr>
        <p:spPr>
          <a:xfrm>
            <a:off x="7335370" y="2309368"/>
            <a:ext cx="3772707" cy="541148"/>
          </a:xfrm>
          <a:prstGeom prst="rect">
            <a:avLst/>
          </a:prstGeom>
          <a:solidFill>
            <a:srgbClr val="223045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22" name="Text 15">
            <a:extLst>
              <a:ext uri="{FF2B5EF4-FFF2-40B4-BE49-F238E27FC236}">
                <a16:creationId xmlns:a16="http://schemas.microsoft.com/office/drawing/2014/main" id="{11683FB3-783C-AE53-EE93-FDA9B42C09A1}"/>
              </a:ext>
            </a:extLst>
          </p:cNvPr>
          <p:cNvSpPr/>
          <p:nvPr/>
        </p:nvSpPr>
        <p:spPr>
          <a:xfrm>
            <a:off x="7453525" y="2316145"/>
            <a:ext cx="3563112" cy="4802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F1FAEE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PARTITION BY isolates country</a:t>
            </a:r>
            <a:endParaRPr lang="en-US" dirty="0">
              <a:latin typeface="Aptos Display" panose="020B0004020202020204" pitchFamily="34" charset="0"/>
            </a:endParaRPr>
          </a:p>
        </p:txBody>
      </p:sp>
      <p:sp>
        <p:nvSpPr>
          <p:cNvPr id="23" name="Shape 16">
            <a:extLst>
              <a:ext uri="{FF2B5EF4-FFF2-40B4-BE49-F238E27FC236}">
                <a16:creationId xmlns:a16="http://schemas.microsoft.com/office/drawing/2014/main" id="{E6A978F0-A770-80B8-E340-849DED6513F3}"/>
              </a:ext>
            </a:extLst>
          </p:cNvPr>
          <p:cNvSpPr/>
          <p:nvPr/>
        </p:nvSpPr>
        <p:spPr>
          <a:xfrm>
            <a:off x="7348727" y="3896868"/>
            <a:ext cx="3772707" cy="916940"/>
          </a:xfrm>
          <a:prstGeom prst="rect">
            <a:avLst/>
          </a:prstGeom>
          <a:solidFill>
            <a:srgbClr val="223045"/>
          </a:solidFill>
          <a:ln w="15240">
            <a:solidFill>
              <a:srgbClr val="2D8B8B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4" name="Text 17">
            <a:extLst>
              <a:ext uri="{FF2B5EF4-FFF2-40B4-BE49-F238E27FC236}">
                <a16:creationId xmlns:a16="http://schemas.microsoft.com/office/drawing/2014/main" id="{A9C34D6B-9549-E107-DCA4-DFC15AF4152C}"/>
              </a:ext>
            </a:extLst>
          </p:cNvPr>
          <p:cNvSpPr/>
          <p:nvPr/>
        </p:nvSpPr>
        <p:spPr>
          <a:xfrm>
            <a:off x="7455968" y="3951732"/>
            <a:ext cx="352119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8DADC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Avg Yearly Per-Capita</a:t>
            </a:r>
            <a:endParaRPr lang="en-US" sz="1100" dirty="0">
              <a:latin typeface="Aptos Display" panose="020B0004020202020204" pitchFamily="34" charset="0"/>
            </a:endParaRPr>
          </a:p>
        </p:txBody>
      </p:sp>
      <p:sp>
        <p:nvSpPr>
          <p:cNvPr id="25" name="Shape 18">
            <a:extLst>
              <a:ext uri="{FF2B5EF4-FFF2-40B4-BE49-F238E27FC236}">
                <a16:creationId xmlns:a16="http://schemas.microsoft.com/office/drawing/2014/main" id="{A5947925-7EA4-CF59-A5FF-DBA0D0FDA137}"/>
              </a:ext>
            </a:extLst>
          </p:cNvPr>
          <p:cNvSpPr/>
          <p:nvPr/>
        </p:nvSpPr>
        <p:spPr>
          <a:xfrm>
            <a:off x="7455968" y="4160520"/>
            <a:ext cx="3521194" cy="605028"/>
          </a:xfrm>
          <a:prstGeom prst="rect">
            <a:avLst/>
          </a:prstGeom>
          <a:solidFill>
            <a:srgbClr val="172030"/>
          </a:solidFill>
          <a:ln w="6350">
            <a:solidFill>
              <a:srgbClr val="7AA5B0"/>
            </a:solidFill>
            <a:prstDash val="solid"/>
          </a:ln>
        </p:spPr>
      </p:sp>
      <p:sp>
        <p:nvSpPr>
          <p:cNvPr id="26" name="Text 19">
            <a:extLst>
              <a:ext uri="{FF2B5EF4-FFF2-40B4-BE49-F238E27FC236}">
                <a16:creationId xmlns:a16="http://schemas.microsoft.com/office/drawing/2014/main" id="{2C6DBA24-13B5-CB36-D0AE-2E8042D7F4C9}"/>
              </a:ext>
            </a:extLst>
          </p:cNvPr>
          <p:cNvSpPr/>
          <p:nvPr/>
        </p:nvSpPr>
        <p:spPr>
          <a:xfrm>
            <a:off x="7541762" y="4160520"/>
            <a:ext cx="3319981" cy="605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(MAX - MIN per_capita)</a:t>
            </a:r>
            <a:endParaRPr lang="en-US" sz="90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/ (COUNT(DISTINCT year) - 1)</a:t>
            </a:r>
            <a:endParaRPr lang="en-US" sz="90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→ avg_yearly_change</a:t>
            </a:r>
            <a:endParaRPr lang="en-US" sz="900" dirty="0">
              <a:latin typeface="Aptos Display" panose="020B0004020202020204" pitchFamily="34" charset="0"/>
            </a:endParaRPr>
          </a:p>
        </p:txBody>
      </p:sp>
      <p:sp>
        <p:nvSpPr>
          <p:cNvPr id="27" name="Shape 20">
            <a:extLst>
              <a:ext uri="{FF2B5EF4-FFF2-40B4-BE49-F238E27FC236}">
                <a16:creationId xmlns:a16="http://schemas.microsoft.com/office/drawing/2014/main" id="{AFBA6AE8-D60E-F60C-8F52-DFCFA9903613}"/>
              </a:ext>
            </a:extLst>
          </p:cNvPr>
          <p:cNvSpPr/>
          <p:nvPr/>
        </p:nvSpPr>
        <p:spPr>
          <a:xfrm>
            <a:off x="7348727" y="3074933"/>
            <a:ext cx="3772707" cy="567599"/>
          </a:xfrm>
          <a:prstGeom prst="rect">
            <a:avLst/>
          </a:prstGeom>
          <a:solidFill>
            <a:srgbClr val="223045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28" name="Text 21">
            <a:extLst>
              <a:ext uri="{FF2B5EF4-FFF2-40B4-BE49-F238E27FC236}">
                <a16:creationId xmlns:a16="http://schemas.microsoft.com/office/drawing/2014/main" id="{DC9DAA86-7813-0996-3A30-55C235E70765}"/>
              </a:ext>
            </a:extLst>
          </p:cNvPr>
          <p:cNvSpPr/>
          <p:nvPr/>
        </p:nvSpPr>
        <p:spPr>
          <a:xfrm>
            <a:off x="7466882" y="3074933"/>
            <a:ext cx="3563112" cy="51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F1FAEE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NULLIF prevents ÷ 0</a:t>
            </a:r>
            <a:endParaRPr lang="en-US" dirty="0">
              <a:latin typeface="Aptos Display" panose="020B0004020202020204" pitchFamily="34" charset="0"/>
            </a:endParaRPr>
          </a:p>
        </p:txBody>
      </p:sp>
      <p:sp>
        <p:nvSpPr>
          <p:cNvPr id="29" name="Text 22">
            <a:extLst>
              <a:ext uri="{FF2B5EF4-FFF2-40B4-BE49-F238E27FC236}">
                <a16:creationId xmlns:a16="http://schemas.microsoft.com/office/drawing/2014/main" id="{0A890D35-496F-B428-9EAC-562140D3409F}"/>
              </a:ext>
            </a:extLst>
          </p:cNvPr>
          <p:cNvSpPr/>
          <p:nvPr/>
        </p:nvSpPr>
        <p:spPr>
          <a:xfrm>
            <a:off x="7322014" y="5010980"/>
            <a:ext cx="3561103" cy="1598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002060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Key Insight</a:t>
            </a:r>
            <a:endParaRPr lang="en-US" dirty="0">
              <a:solidFill>
                <a:srgbClr val="002060"/>
              </a:solidFill>
              <a:latin typeface="Aptos Display" panose="020B0004020202020204" pitchFamily="34" charset="0"/>
            </a:endParaRPr>
          </a:p>
        </p:txBody>
      </p:sp>
      <p:sp>
        <p:nvSpPr>
          <p:cNvPr id="30" name="Text 23">
            <a:extLst>
              <a:ext uri="{FF2B5EF4-FFF2-40B4-BE49-F238E27FC236}">
                <a16:creationId xmlns:a16="http://schemas.microsoft.com/office/drawing/2014/main" id="{7628F7F6-2028-C29A-3757-3BFDF77D0594}"/>
              </a:ext>
            </a:extLst>
          </p:cNvPr>
          <p:cNvSpPr/>
          <p:nvPr/>
        </p:nvSpPr>
        <p:spPr>
          <a:xfrm>
            <a:off x="7322014" y="5350670"/>
            <a:ext cx="3772706" cy="91694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300" dirty="0">
                <a:solidFill>
                  <a:schemeClr val="tx1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Emissions dipped visibly ~2009 (financial crisis) &amp; ~2020 (COVID-19) — confirming economic activity directly drives energy demand.</a:t>
            </a:r>
            <a:endParaRPr lang="en-US" sz="1300" dirty="0">
              <a:solidFill>
                <a:schemeClr val="tx1"/>
              </a:solidFill>
              <a:latin typeface="Aptos Display" panose="020B0004020202020204" pitchFamily="34" charset="0"/>
            </a:endParaRPr>
          </a:p>
        </p:txBody>
      </p:sp>
      <p:sp>
        <p:nvSpPr>
          <p:cNvPr id="31" name="Shape 0">
            <a:extLst>
              <a:ext uri="{FF2B5EF4-FFF2-40B4-BE49-F238E27FC236}">
                <a16:creationId xmlns:a16="http://schemas.microsoft.com/office/drawing/2014/main" id="{3F34A2A3-1D48-8294-CF1E-7D51D3D07C2E}"/>
              </a:ext>
            </a:extLst>
          </p:cNvPr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FF0000"/>
          </a:solidFill>
          <a:ln w="1270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8160010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>
          <a:extLst>
            <a:ext uri="{FF2B5EF4-FFF2-40B4-BE49-F238E27FC236}">
              <a16:creationId xmlns:a16="http://schemas.microsoft.com/office/drawing/2014/main" id="{DD701D87-F9E3-3A6A-83F3-AD17D7CC0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3">
            <a:extLst>
              <a:ext uri="{FF2B5EF4-FFF2-40B4-BE49-F238E27FC236}">
                <a16:creationId xmlns:a16="http://schemas.microsoft.com/office/drawing/2014/main" id="{CAE08D42-9830-FE64-CD8E-BFB539772B10}"/>
              </a:ext>
            </a:extLst>
          </p:cNvPr>
          <p:cNvSpPr/>
          <p:nvPr/>
        </p:nvSpPr>
        <p:spPr>
          <a:xfrm>
            <a:off x="1422400" y="502920"/>
            <a:ext cx="93776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A2332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Ratio &amp; Per Capita Analysis</a:t>
            </a:r>
            <a:endParaRPr lang="en-US" sz="4400" dirty="0">
              <a:latin typeface="Aptos Display" panose="020B0004020202020204" pitchFamily="34" charset="0"/>
            </a:endParaRPr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D75E8114-6DFF-B77F-3227-80BAA54B6916}"/>
              </a:ext>
            </a:extLst>
          </p:cNvPr>
          <p:cNvSpPr/>
          <p:nvPr/>
        </p:nvSpPr>
        <p:spPr>
          <a:xfrm>
            <a:off x="1422400" y="1645919"/>
            <a:ext cx="4493768" cy="1353437"/>
          </a:xfrm>
          <a:prstGeom prst="rect">
            <a:avLst/>
          </a:prstGeom>
          <a:solidFill>
            <a:srgbClr val="FFFFFF"/>
          </a:solidFill>
          <a:ln w="16510">
            <a:solidFill>
              <a:srgbClr val="2D8B8B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494C2A55-5EDF-1F94-7684-CE732CFA7E03}"/>
              </a:ext>
            </a:extLst>
          </p:cNvPr>
          <p:cNvSpPr/>
          <p:nvPr/>
        </p:nvSpPr>
        <p:spPr>
          <a:xfrm>
            <a:off x="1422400" y="1645919"/>
            <a:ext cx="4493768" cy="297619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291FED9F-227B-FAD5-BC9C-1B9D988E755E}"/>
              </a:ext>
            </a:extLst>
          </p:cNvPr>
          <p:cNvSpPr/>
          <p:nvPr/>
        </p:nvSpPr>
        <p:spPr>
          <a:xfrm>
            <a:off x="1525495" y="1673352"/>
            <a:ext cx="4299233" cy="257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8DADC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1.  Emission-to-GDP Ratio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2B66E3C5-E999-131D-BA8A-DBDFBC60B59A}"/>
              </a:ext>
            </a:extLst>
          </p:cNvPr>
          <p:cNvSpPr/>
          <p:nvPr/>
        </p:nvSpPr>
        <p:spPr>
          <a:xfrm>
            <a:off x="1519666" y="2054137"/>
            <a:ext cx="4299233" cy="427827"/>
          </a:xfrm>
          <a:prstGeom prst="rect">
            <a:avLst/>
          </a:prstGeom>
          <a:solidFill>
            <a:srgbClr val="EBF8F9"/>
          </a:solidFill>
          <a:ln w="6350">
            <a:solidFill>
              <a:srgbClr val="A8DADC"/>
            </a:solidFill>
            <a:prstDash val="solid"/>
          </a:ln>
        </p:spPr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EDDB351E-9AD4-5F75-998C-ACE80CE93BD4}"/>
              </a:ext>
            </a:extLst>
          </p:cNvPr>
          <p:cNvSpPr/>
          <p:nvPr/>
        </p:nvSpPr>
        <p:spPr>
          <a:xfrm>
            <a:off x="1577043" y="2064439"/>
            <a:ext cx="4201965" cy="39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3344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SUM(emission) / NULLIF(gdp, 0)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E9961822-674D-F599-1B1B-72EDDBBD6B0A}"/>
              </a:ext>
            </a:extLst>
          </p:cNvPr>
          <p:cNvSpPr/>
          <p:nvPr/>
        </p:nvSpPr>
        <p:spPr>
          <a:xfrm>
            <a:off x="1519667" y="2521079"/>
            <a:ext cx="4299233" cy="3534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455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Measures carbon intensity of economic output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16" name="Shape 10">
            <a:extLst>
              <a:ext uri="{FF2B5EF4-FFF2-40B4-BE49-F238E27FC236}">
                <a16:creationId xmlns:a16="http://schemas.microsoft.com/office/drawing/2014/main" id="{03633C1E-6F80-8555-83A1-072F7E7BD7B4}"/>
              </a:ext>
            </a:extLst>
          </p:cNvPr>
          <p:cNvSpPr/>
          <p:nvPr/>
        </p:nvSpPr>
        <p:spPr>
          <a:xfrm>
            <a:off x="6172200" y="1645920"/>
            <a:ext cx="4627880" cy="1364182"/>
          </a:xfrm>
          <a:prstGeom prst="rect">
            <a:avLst/>
          </a:prstGeom>
          <a:solidFill>
            <a:srgbClr val="FFFFFF"/>
          </a:solidFill>
          <a:ln w="16510">
            <a:solidFill>
              <a:srgbClr val="2D8B8B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7" name="Shape 11">
            <a:extLst>
              <a:ext uri="{FF2B5EF4-FFF2-40B4-BE49-F238E27FC236}">
                <a16:creationId xmlns:a16="http://schemas.microsoft.com/office/drawing/2014/main" id="{CE39F056-4951-77B6-2C39-1EFE441F9372}"/>
              </a:ext>
            </a:extLst>
          </p:cNvPr>
          <p:cNvSpPr/>
          <p:nvPr/>
        </p:nvSpPr>
        <p:spPr>
          <a:xfrm>
            <a:off x="6172200" y="1645919"/>
            <a:ext cx="4627880" cy="279017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7B1F9DA8-1A90-82E5-12CD-E035C86A0EF2}"/>
              </a:ext>
            </a:extLst>
          </p:cNvPr>
          <p:cNvSpPr/>
          <p:nvPr/>
        </p:nvSpPr>
        <p:spPr>
          <a:xfrm>
            <a:off x="6263639" y="1673351"/>
            <a:ext cx="4427539" cy="241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8DADC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2.  Energy Consumption / Capita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19" name="Shape 13">
            <a:extLst>
              <a:ext uri="{FF2B5EF4-FFF2-40B4-BE49-F238E27FC236}">
                <a16:creationId xmlns:a16="http://schemas.microsoft.com/office/drawing/2014/main" id="{79F0B5DA-7589-F5DA-36C7-AB58CE75E544}"/>
              </a:ext>
            </a:extLst>
          </p:cNvPr>
          <p:cNvSpPr/>
          <p:nvPr/>
        </p:nvSpPr>
        <p:spPr>
          <a:xfrm>
            <a:off x="6263639" y="2046668"/>
            <a:ext cx="4427539" cy="427827"/>
          </a:xfrm>
          <a:prstGeom prst="rect">
            <a:avLst/>
          </a:prstGeom>
          <a:solidFill>
            <a:srgbClr val="EBF8F9"/>
          </a:solidFill>
          <a:ln w="6350">
            <a:solidFill>
              <a:srgbClr val="A8DADC"/>
            </a:solidFill>
            <a:prstDash val="solid"/>
          </a:ln>
        </p:spPr>
      </p:sp>
      <p:sp>
        <p:nvSpPr>
          <p:cNvPr id="20" name="Text 14">
            <a:extLst>
              <a:ext uri="{FF2B5EF4-FFF2-40B4-BE49-F238E27FC236}">
                <a16:creationId xmlns:a16="http://schemas.microsoft.com/office/drawing/2014/main" id="{8F0878DF-BE78-8DD3-9554-5CAA235037E4}"/>
              </a:ext>
            </a:extLst>
          </p:cNvPr>
          <p:cNvSpPr/>
          <p:nvPr/>
        </p:nvSpPr>
        <p:spPr>
          <a:xfrm>
            <a:off x="6313724" y="2054449"/>
            <a:ext cx="4327368" cy="39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3344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SUM(consumption) / NULLIF(population, 0)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C35CFF0A-2BAB-856F-4146-618A0A660F88}"/>
              </a:ext>
            </a:extLst>
          </p:cNvPr>
          <p:cNvSpPr/>
          <p:nvPr/>
        </p:nvSpPr>
        <p:spPr>
          <a:xfrm>
            <a:off x="6263639" y="2520508"/>
            <a:ext cx="4427539" cy="3534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455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Lifestyle &amp; industrial energy demand indicator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22" name="Shape 16">
            <a:extLst>
              <a:ext uri="{FF2B5EF4-FFF2-40B4-BE49-F238E27FC236}">
                <a16:creationId xmlns:a16="http://schemas.microsoft.com/office/drawing/2014/main" id="{831E6D2C-2AE3-CBFA-3005-8E0BA70F8769}"/>
              </a:ext>
            </a:extLst>
          </p:cNvPr>
          <p:cNvSpPr/>
          <p:nvPr/>
        </p:nvSpPr>
        <p:spPr>
          <a:xfrm>
            <a:off x="1422400" y="3132507"/>
            <a:ext cx="4493768" cy="1392702"/>
          </a:xfrm>
          <a:prstGeom prst="rect">
            <a:avLst/>
          </a:prstGeom>
          <a:solidFill>
            <a:srgbClr val="FFFFFF"/>
          </a:solidFill>
          <a:ln w="16510">
            <a:solidFill>
              <a:srgbClr val="2D8B8B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3" name="Shape 17">
            <a:extLst>
              <a:ext uri="{FF2B5EF4-FFF2-40B4-BE49-F238E27FC236}">
                <a16:creationId xmlns:a16="http://schemas.microsoft.com/office/drawing/2014/main" id="{B7F2C5F8-147C-6CCB-BAA8-6B53281EE93B}"/>
              </a:ext>
            </a:extLst>
          </p:cNvPr>
          <p:cNvSpPr/>
          <p:nvPr/>
        </p:nvSpPr>
        <p:spPr>
          <a:xfrm>
            <a:off x="1422400" y="3143495"/>
            <a:ext cx="4493768" cy="316523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</p:sp>
      <p:sp>
        <p:nvSpPr>
          <p:cNvPr id="24" name="Text 18">
            <a:extLst>
              <a:ext uri="{FF2B5EF4-FFF2-40B4-BE49-F238E27FC236}">
                <a16:creationId xmlns:a16="http://schemas.microsoft.com/office/drawing/2014/main" id="{C770D338-50E9-5F8B-53FB-470FE2E9F28E}"/>
              </a:ext>
            </a:extLst>
          </p:cNvPr>
          <p:cNvSpPr/>
          <p:nvPr/>
        </p:nvSpPr>
        <p:spPr>
          <a:xfrm>
            <a:off x="1525495" y="3167410"/>
            <a:ext cx="42992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8DADC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3.  Production / Capita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25" name="Shape 19">
            <a:extLst>
              <a:ext uri="{FF2B5EF4-FFF2-40B4-BE49-F238E27FC236}">
                <a16:creationId xmlns:a16="http://schemas.microsoft.com/office/drawing/2014/main" id="{044C8BCB-A14B-132A-D016-67086C12286F}"/>
              </a:ext>
            </a:extLst>
          </p:cNvPr>
          <p:cNvSpPr/>
          <p:nvPr/>
        </p:nvSpPr>
        <p:spPr>
          <a:xfrm>
            <a:off x="1525495" y="3582674"/>
            <a:ext cx="4299233" cy="485335"/>
          </a:xfrm>
          <a:prstGeom prst="rect">
            <a:avLst/>
          </a:prstGeom>
          <a:solidFill>
            <a:srgbClr val="EBF8F9"/>
          </a:solidFill>
          <a:ln w="6350">
            <a:solidFill>
              <a:srgbClr val="A8DADC"/>
            </a:solidFill>
            <a:prstDash val="solid"/>
          </a:ln>
        </p:spPr>
      </p:sp>
      <p:sp>
        <p:nvSpPr>
          <p:cNvPr id="26" name="Text 20">
            <a:extLst>
              <a:ext uri="{FF2B5EF4-FFF2-40B4-BE49-F238E27FC236}">
                <a16:creationId xmlns:a16="http://schemas.microsoft.com/office/drawing/2014/main" id="{D703F002-BFC6-51AD-DBF4-94B9D073D57E}"/>
              </a:ext>
            </a:extLst>
          </p:cNvPr>
          <p:cNvSpPr/>
          <p:nvPr/>
        </p:nvSpPr>
        <p:spPr>
          <a:xfrm>
            <a:off x="1577043" y="3606589"/>
            <a:ext cx="4201965" cy="4431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3344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SUM(production) / NULLIF(population, 0)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5B1E1BBD-6926-D72D-B604-3CA24D568DB8}"/>
              </a:ext>
            </a:extLst>
          </p:cNvPr>
          <p:cNvSpPr/>
          <p:nvPr/>
        </p:nvSpPr>
        <p:spPr>
          <a:xfrm>
            <a:off x="1525495" y="4069416"/>
            <a:ext cx="4299233" cy="4009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455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Self-sufficiency of a country's energy supply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28" name="Shape 22">
            <a:extLst>
              <a:ext uri="{FF2B5EF4-FFF2-40B4-BE49-F238E27FC236}">
                <a16:creationId xmlns:a16="http://schemas.microsoft.com/office/drawing/2014/main" id="{16A510A3-F7FC-224A-795A-11AF569937B1}"/>
              </a:ext>
            </a:extLst>
          </p:cNvPr>
          <p:cNvSpPr/>
          <p:nvPr/>
        </p:nvSpPr>
        <p:spPr>
          <a:xfrm>
            <a:off x="6172200" y="3132507"/>
            <a:ext cx="4627880" cy="1392702"/>
          </a:xfrm>
          <a:prstGeom prst="rect">
            <a:avLst/>
          </a:prstGeom>
          <a:solidFill>
            <a:srgbClr val="FFFFFF"/>
          </a:solidFill>
          <a:ln w="16510">
            <a:solidFill>
              <a:srgbClr val="2D8B8B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9" name="Shape 23">
            <a:extLst>
              <a:ext uri="{FF2B5EF4-FFF2-40B4-BE49-F238E27FC236}">
                <a16:creationId xmlns:a16="http://schemas.microsoft.com/office/drawing/2014/main" id="{8C16E277-AD30-BCC8-49DD-F0056EAB6886}"/>
              </a:ext>
            </a:extLst>
          </p:cNvPr>
          <p:cNvSpPr/>
          <p:nvPr/>
        </p:nvSpPr>
        <p:spPr>
          <a:xfrm>
            <a:off x="6172200" y="3132505"/>
            <a:ext cx="4627880" cy="323869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</p:sp>
      <p:sp>
        <p:nvSpPr>
          <p:cNvPr id="30" name="Text 24">
            <a:extLst>
              <a:ext uri="{FF2B5EF4-FFF2-40B4-BE49-F238E27FC236}">
                <a16:creationId xmlns:a16="http://schemas.microsoft.com/office/drawing/2014/main" id="{A9E6639B-67B3-4A4A-844E-FF0CE885957A}"/>
              </a:ext>
            </a:extLst>
          </p:cNvPr>
          <p:cNvSpPr/>
          <p:nvPr/>
        </p:nvSpPr>
        <p:spPr>
          <a:xfrm>
            <a:off x="6263639" y="3164158"/>
            <a:ext cx="4427539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8DADC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4.  Consumption / GDP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31" name="Shape 25">
            <a:extLst>
              <a:ext uri="{FF2B5EF4-FFF2-40B4-BE49-F238E27FC236}">
                <a16:creationId xmlns:a16="http://schemas.microsoft.com/office/drawing/2014/main" id="{174E5D22-08FB-A98A-2C84-1695E0858E5D}"/>
              </a:ext>
            </a:extLst>
          </p:cNvPr>
          <p:cNvSpPr/>
          <p:nvPr/>
        </p:nvSpPr>
        <p:spPr>
          <a:xfrm>
            <a:off x="6303264" y="3578777"/>
            <a:ext cx="4427539" cy="469158"/>
          </a:xfrm>
          <a:prstGeom prst="rect">
            <a:avLst/>
          </a:prstGeom>
          <a:solidFill>
            <a:srgbClr val="EBF8F9"/>
          </a:solidFill>
          <a:ln w="6350">
            <a:solidFill>
              <a:srgbClr val="A8DADC"/>
            </a:solidFill>
            <a:prstDash val="solid"/>
          </a:ln>
        </p:spPr>
      </p:sp>
      <p:sp>
        <p:nvSpPr>
          <p:cNvPr id="32" name="Text 26">
            <a:extLst>
              <a:ext uri="{FF2B5EF4-FFF2-40B4-BE49-F238E27FC236}">
                <a16:creationId xmlns:a16="http://schemas.microsoft.com/office/drawing/2014/main" id="{AFD98186-0ABC-2284-6E06-F22423C7C0CA}"/>
              </a:ext>
            </a:extLst>
          </p:cNvPr>
          <p:cNvSpPr/>
          <p:nvPr/>
        </p:nvSpPr>
        <p:spPr>
          <a:xfrm>
            <a:off x="6348985" y="3601286"/>
            <a:ext cx="4327368" cy="4283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3344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SUM(consumption) / NULLIF(gdp, 0)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33" name="Text 27">
            <a:extLst>
              <a:ext uri="{FF2B5EF4-FFF2-40B4-BE49-F238E27FC236}">
                <a16:creationId xmlns:a16="http://schemas.microsoft.com/office/drawing/2014/main" id="{FE334B41-F3C9-AA7C-8975-64A3F5E99E1D}"/>
              </a:ext>
            </a:extLst>
          </p:cNvPr>
          <p:cNvSpPr/>
          <p:nvPr/>
        </p:nvSpPr>
        <p:spPr>
          <a:xfrm>
            <a:off x="6263639" y="4082780"/>
            <a:ext cx="4427539" cy="387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455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Highlights energy-intensive vs efficient economies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34" name="Shape 28">
            <a:extLst>
              <a:ext uri="{FF2B5EF4-FFF2-40B4-BE49-F238E27FC236}">
                <a16:creationId xmlns:a16="http://schemas.microsoft.com/office/drawing/2014/main" id="{378B6758-F8F1-6F09-41D4-3424850CF556}"/>
              </a:ext>
            </a:extLst>
          </p:cNvPr>
          <p:cNvSpPr/>
          <p:nvPr/>
        </p:nvSpPr>
        <p:spPr>
          <a:xfrm>
            <a:off x="3882136" y="4717502"/>
            <a:ext cx="4224528" cy="1637578"/>
          </a:xfrm>
          <a:prstGeom prst="rect">
            <a:avLst/>
          </a:prstGeom>
          <a:solidFill>
            <a:srgbClr val="FFFFFF"/>
          </a:solidFill>
          <a:ln w="16510">
            <a:solidFill>
              <a:srgbClr val="2D8B8B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35" name="Shape 29">
            <a:extLst>
              <a:ext uri="{FF2B5EF4-FFF2-40B4-BE49-F238E27FC236}">
                <a16:creationId xmlns:a16="http://schemas.microsoft.com/office/drawing/2014/main" id="{11956E14-B2DB-EA73-790C-5C0C5DDDCA07}"/>
              </a:ext>
            </a:extLst>
          </p:cNvPr>
          <p:cNvSpPr/>
          <p:nvPr/>
        </p:nvSpPr>
        <p:spPr>
          <a:xfrm>
            <a:off x="3882136" y="4717501"/>
            <a:ext cx="4224528" cy="372177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F1B1CC04-CF67-71AE-75DB-BF8EEF41C52F}"/>
              </a:ext>
            </a:extLst>
          </p:cNvPr>
          <p:cNvSpPr/>
          <p:nvPr/>
        </p:nvSpPr>
        <p:spPr>
          <a:xfrm>
            <a:off x="3973576" y="4744933"/>
            <a:ext cx="4041648" cy="3225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8DADC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5.  GDP Growth vs Prod. Growth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37" name="Shape 31">
            <a:extLst>
              <a:ext uri="{FF2B5EF4-FFF2-40B4-BE49-F238E27FC236}">
                <a16:creationId xmlns:a16="http://schemas.microsoft.com/office/drawing/2014/main" id="{172D4940-721A-0334-8FD2-1D0FF8C058EA}"/>
              </a:ext>
            </a:extLst>
          </p:cNvPr>
          <p:cNvSpPr/>
          <p:nvPr/>
        </p:nvSpPr>
        <p:spPr>
          <a:xfrm>
            <a:off x="3973576" y="5212080"/>
            <a:ext cx="4041648" cy="570671"/>
          </a:xfrm>
          <a:prstGeom prst="rect">
            <a:avLst/>
          </a:prstGeom>
          <a:solidFill>
            <a:srgbClr val="EBF8F9"/>
          </a:solidFill>
          <a:ln w="6350">
            <a:solidFill>
              <a:srgbClr val="A8DADC"/>
            </a:solidFill>
            <a:prstDash val="solid"/>
          </a:ln>
        </p:spPr>
      </p:sp>
      <p:sp>
        <p:nvSpPr>
          <p:cNvPr id="38" name="Text 32">
            <a:extLst>
              <a:ext uri="{FF2B5EF4-FFF2-40B4-BE49-F238E27FC236}">
                <a16:creationId xmlns:a16="http://schemas.microsoft.com/office/drawing/2014/main" id="{D526F997-96AE-9686-B07A-C805A77B5726}"/>
              </a:ext>
            </a:extLst>
          </p:cNvPr>
          <p:cNvSpPr/>
          <p:nvPr/>
        </p:nvSpPr>
        <p:spPr>
          <a:xfrm>
            <a:off x="4019296" y="5230369"/>
            <a:ext cx="3950208" cy="521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3344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LAG(production) OVER</a:t>
            </a:r>
            <a:endParaRPr lang="en-US" sz="120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3344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(PARTITION BY country ORDER BY year)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39" name="Text 33">
            <a:extLst>
              <a:ext uri="{FF2B5EF4-FFF2-40B4-BE49-F238E27FC236}">
                <a16:creationId xmlns:a16="http://schemas.microsoft.com/office/drawing/2014/main" id="{06375E2F-8C4D-79B2-06CD-C241207F7B94}"/>
              </a:ext>
            </a:extLst>
          </p:cNvPr>
          <p:cNvSpPr/>
          <p:nvPr/>
        </p:nvSpPr>
        <p:spPr>
          <a:xfrm>
            <a:off x="3973576" y="5750506"/>
            <a:ext cx="4041648" cy="4714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455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Proxy for economy ↔ energy output correlation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40" name="Shape 0">
            <a:extLst>
              <a:ext uri="{FF2B5EF4-FFF2-40B4-BE49-F238E27FC236}">
                <a16:creationId xmlns:a16="http://schemas.microsoft.com/office/drawing/2014/main" id="{60C57A8C-CA71-18D6-66E3-B2EB6F069B49}"/>
              </a:ext>
            </a:extLst>
          </p:cNvPr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FF0000"/>
          </a:solidFill>
          <a:ln w="1270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8759805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>
          <a:extLst>
            <a:ext uri="{FF2B5EF4-FFF2-40B4-BE49-F238E27FC236}">
              <a16:creationId xmlns:a16="http://schemas.microsoft.com/office/drawing/2014/main" id="{EF99A866-5246-68D6-ED81-EF856D114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3">
            <a:extLst>
              <a:ext uri="{FF2B5EF4-FFF2-40B4-BE49-F238E27FC236}">
                <a16:creationId xmlns:a16="http://schemas.microsoft.com/office/drawing/2014/main" id="{7965ECD2-1EC4-BAFF-AFB2-346F6C2B5FA5}"/>
              </a:ext>
            </a:extLst>
          </p:cNvPr>
          <p:cNvSpPr/>
          <p:nvPr/>
        </p:nvSpPr>
        <p:spPr>
          <a:xfrm>
            <a:off x="1422400" y="502920"/>
            <a:ext cx="9347200" cy="752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tx1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Global Comparisons</a:t>
            </a:r>
            <a:endParaRPr lang="en-US" sz="4400" dirty="0">
              <a:solidFill>
                <a:schemeClr val="tx1"/>
              </a:solidFill>
              <a:latin typeface="Aptos Display" panose="020B0004020202020204" pitchFamily="34" charset="0"/>
            </a:endParaRPr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6CF6F44F-6252-800D-DD7C-8286EA79995C}"/>
              </a:ext>
            </a:extLst>
          </p:cNvPr>
          <p:cNvSpPr/>
          <p:nvPr/>
        </p:nvSpPr>
        <p:spPr>
          <a:xfrm>
            <a:off x="1450848" y="1503680"/>
            <a:ext cx="4328160" cy="2302256"/>
          </a:xfrm>
          <a:prstGeom prst="rect">
            <a:avLst/>
          </a:prstGeom>
          <a:solidFill>
            <a:srgbClr val="223045"/>
          </a:solidFill>
          <a:ln w="15240">
            <a:solidFill>
              <a:srgbClr val="2D8B8B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37E2F747-5C58-10C9-B92A-1EDCD198BCEC}"/>
              </a:ext>
            </a:extLst>
          </p:cNvPr>
          <p:cNvSpPr/>
          <p:nvPr/>
        </p:nvSpPr>
        <p:spPr>
          <a:xfrm>
            <a:off x="1563401" y="1503680"/>
            <a:ext cx="4114079" cy="441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A8DADC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Top 10 by Population &amp; Emissions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71A95515-1237-2501-F78D-CFA846CED006}"/>
              </a:ext>
            </a:extLst>
          </p:cNvPr>
          <p:cNvSpPr/>
          <p:nvPr/>
        </p:nvSpPr>
        <p:spPr>
          <a:xfrm>
            <a:off x="1560575" y="1936821"/>
            <a:ext cx="4114079" cy="1783218"/>
          </a:xfrm>
          <a:prstGeom prst="rect">
            <a:avLst/>
          </a:prstGeom>
          <a:solidFill>
            <a:srgbClr val="172030"/>
          </a:solidFill>
          <a:ln w="6350">
            <a:solidFill>
              <a:srgbClr val="7AA5B0"/>
            </a:solidFill>
            <a:prstDash val="solid"/>
          </a:ln>
        </p:spPr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938C6960-17F6-90EC-E3FF-056B64719139}"/>
              </a:ext>
            </a:extLst>
          </p:cNvPr>
          <p:cNvSpPr/>
          <p:nvPr/>
        </p:nvSpPr>
        <p:spPr>
          <a:xfrm>
            <a:off x="1564345" y="1936820"/>
            <a:ext cx="4104657" cy="1783217"/>
          </a:xfrm>
          <a:prstGeom prst="rect">
            <a:avLst/>
          </a:prstGeom>
          <a:solidFill>
            <a:srgbClr val="172030"/>
          </a:solidFill>
          <a:ln>
            <a:solidFill>
              <a:srgbClr val="8BB4BA"/>
            </a:solidFill>
          </a:ln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SELECT p.countries, p.Value AS pop,</a:t>
            </a:r>
            <a:endParaRPr lang="en-US" sz="1100" dirty="0">
              <a:solidFill>
                <a:srgbClr val="A8DADC"/>
              </a:solidFill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  SUM(e.emission) AS total_emission</a:t>
            </a:r>
            <a:endParaRPr lang="en-US" sz="1100" dirty="0">
              <a:solidFill>
                <a:srgbClr val="A8DADC"/>
              </a:solidFill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FROM population p</a:t>
            </a:r>
            <a:endParaRPr lang="en-US" sz="1100" dirty="0">
              <a:solidFill>
                <a:srgbClr val="A8DADC"/>
              </a:solidFill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JOIN emission_3 e ON p.countries=e.country</a:t>
            </a:r>
            <a:endParaRPr lang="en-US" sz="1100" dirty="0">
              <a:solidFill>
                <a:srgbClr val="A8DADC"/>
              </a:solidFill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  AND p.year=e.year</a:t>
            </a:r>
            <a:endParaRPr lang="en-US" sz="1100" dirty="0">
              <a:solidFill>
                <a:srgbClr val="A8DADC"/>
              </a:solidFill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WHERE p.year=(SELECT MAX(year) FROM population)</a:t>
            </a:r>
            <a:endParaRPr lang="en-US" sz="1100" dirty="0">
              <a:solidFill>
                <a:srgbClr val="A8DADC"/>
              </a:solidFill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GROUP BY p.countries, p.Value</a:t>
            </a:r>
            <a:endParaRPr lang="en-US" sz="1100" dirty="0">
              <a:solidFill>
                <a:srgbClr val="A8DADC"/>
              </a:solidFill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ORDER BY pop DESC LIMIT 10;</a:t>
            </a:r>
            <a:endParaRPr lang="en-US" sz="1100" dirty="0">
              <a:solidFill>
                <a:srgbClr val="A8DADC"/>
              </a:solidFill>
              <a:latin typeface="Aptos Display" panose="020B0004020202020204" pitchFamily="34" charset="0"/>
            </a:endParaRPr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656E3C18-721E-5149-19F0-40EB57798A35}"/>
              </a:ext>
            </a:extLst>
          </p:cNvPr>
          <p:cNvSpPr/>
          <p:nvPr/>
        </p:nvSpPr>
        <p:spPr>
          <a:xfrm>
            <a:off x="6469890" y="1503680"/>
            <a:ext cx="4299710" cy="2302256"/>
          </a:xfrm>
          <a:prstGeom prst="rect">
            <a:avLst/>
          </a:prstGeom>
          <a:solidFill>
            <a:srgbClr val="223045"/>
          </a:solidFill>
          <a:ln w="15240">
            <a:solidFill>
              <a:srgbClr val="2D8B8B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B6DA13B9-E827-B6C7-C077-5D08483680D6}"/>
              </a:ext>
            </a:extLst>
          </p:cNvPr>
          <p:cNvSpPr/>
          <p:nvPr/>
        </p:nvSpPr>
        <p:spPr>
          <a:xfrm>
            <a:off x="6570196" y="1503680"/>
            <a:ext cx="4087036" cy="4331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A8DADC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Countries That Reduced Per-Capita Emissions Most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16" name="Shape 10">
            <a:extLst>
              <a:ext uri="{FF2B5EF4-FFF2-40B4-BE49-F238E27FC236}">
                <a16:creationId xmlns:a16="http://schemas.microsoft.com/office/drawing/2014/main" id="{CDE4F3F0-C6A4-451D-3A72-24364CC8CAC5}"/>
              </a:ext>
            </a:extLst>
          </p:cNvPr>
          <p:cNvSpPr/>
          <p:nvPr/>
        </p:nvSpPr>
        <p:spPr>
          <a:xfrm>
            <a:off x="6581980" y="1936819"/>
            <a:ext cx="4087036" cy="1783220"/>
          </a:xfrm>
          <a:prstGeom prst="rect">
            <a:avLst/>
          </a:prstGeom>
          <a:solidFill>
            <a:srgbClr val="172030"/>
          </a:solidFill>
          <a:ln w="6350">
            <a:solidFill>
              <a:srgbClr val="7AA5B0"/>
            </a:solidFill>
            <a:prstDash val="solid"/>
          </a:ln>
        </p:spPr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A0FFF0A8-E0A8-9EE3-E113-7460837EDDC7}"/>
              </a:ext>
            </a:extLst>
          </p:cNvPr>
          <p:cNvSpPr/>
          <p:nvPr/>
        </p:nvSpPr>
        <p:spPr>
          <a:xfrm>
            <a:off x="6579618" y="1936820"/>
            <a:ext cx="4077614" cy="17832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SELECT country,</a:t>
            </a:r>
            <a:endParaRPr lang="en-US" sz="105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  MIN(per_capita_emission) AS earliest,</a:t>
            </a:r>
            <a:endParaRPr lang="en-US" sz="105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  MAX(per_capita_emission) AS latest,</a:t>
            </a:r>
            <a:endParaRPr lang="en-US" sz="105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  MIN - MAX AS reduction</a:t>
            </a:r>
            <a:endParaRPr lang="en-US" sz="105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FROM emission_3</a:t>
            </a:r>
            <a:endParaRPr lang="en-US" sz="105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WHERE year &gt;= (SELECT MAX(year)...) - 10</a:t>
            </a:r>
            <a:endParaRPr lang="en-US" sz="105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GROUP BY country</a:t>
            </a:r>
            <a:endParaRPr lang="en-US" sz="105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HAVING reduction &gt; 0</a:t>
            </a:r>
            <a:endParaRPr lang="en-US" sz="105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ORDER BY reduction DESC LIMIT 10;</a:t>
            </a:r>
            <a:endParaRPr lang="en-US" sz="1050" dirty="0">
              <a:latin typeface="Aptos Display" panose="020B0004020202020204" pitchFamily="34" charset="0"/>
            </a:endParaRPr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21D762AE-5EB7-913A-ABF6-B62002AF41A3}"/>
              </a:ext>
            </a:extLst>
          </p:cNvPr>
          <p:cNvSpPr/>
          <p:nvPr/>
        </p:nvSpPr>
        <p:spPr>
          <a:xfrm>
            <a:off x="1450848" y="3927084"/>
            <a:ext cx="4328160" cy="2302254"/>
          </a:xfrm>
          <a:prstGeom prst="rect">
            <a:avLst/>
          </a:prstGeom>
          <a:solidFill>
            <a:srgbClr val="223045"/>
          </a:solidFill>
          <a:ln w="15240">
            <a:solidFill>
              <a:srgbClr val="2D8B8B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CB7EB52E-7F5A-359A-7BF9-5304EF6DC028}"/>
              </a:ext>
            </a:extLst>
          </p:cNvPr>
          <p:cNvSpPr/>
          <p:nvPr/>
        </p:nvSpPr>
        <p:spPr>
          <a:xfrm>
            <a:off x="1554923" y="3948999"/>
            <a:ext cx="4114079" cy="3750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A8DADC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Global Emission Share (%) by Country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20" name="Shape 14">
            <a:extLst>
              <a:ext uri="{FF2B5EF4-FFF2-40B4-BE49-F238E27FC236}">
                <a16:creationId xmlns:a16="http://schemas.microsoft.com/office/drawing/2014/main" id="{E7BC85C0-E135-E91A-50EF-EE57F1D0CCC8}"/>
              </a:ext>
            </a:extLst>
          </p:cNvPr>
          <p:cNvSpPr/>
          <p:nvPr/>
        </p:nvSpPr>
        <p:spPr>
          <a:xfrm>
            <a:off x="1564345" y="4324086"/>
            <a:ext cx="4114079" cy="1793493"/>
          </a:xfrm>
          <a:prstGeom prst="rect">
            <a:avLst/>
          </a:prstGeom>
          <a:solidFill>
            <a:srgbClr val="172030"/>
          </a:solidFill>
          <a:ln w="6350">
            <a:solidFill>
              <a:srgbClr val="7AA5B0"/>
            </a:solidFill>
            <a:prstDash val="solid"/>
          </a:ln>
        </p:spPr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D62693C2-D329-AB14-866A-ED745776A2BF}"/>
              </a:ext>
            </a:extLst>
          </p:cNvPr>
          <p:cNvSpPr/>
          <p:nvPr/>
        </p:nvSpPr>
        <p:spPr>
          <a:xfrm>
            <a:off x="1554923" y="4324086"/>
            <a:ext cx="4123501" cy="17934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SELECT country,</a:t>
            </a:r>
            <a:endParaRPr lang="en-US" sz="105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  SUM(emission),</a:t>
            </a:r>
            <a:endParaRPr lang="en-US" sz="105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  ROUND(</a:t>
            </a:r>
            <a:endParaRPr lang="en-US" sz="105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    SUM(emission)*100.0 /</a:t>
            </a:r>
            <a:endParaRPr lang="en-US" sz="105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    SUM(SUM(emission)) OVER (),</a:t>
            </a:r>
            <a:endParaRPr lang="en-US" sz="105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  2) AS emission_share_pct</a:t>
            </a:r>
            <a:endParaRPr lang="en-US" sz="105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FROM emission_3</a:t>
            </a:r>
            <a:endParaRPr lang="en-US" sz="105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GROUP BY country</a:t>
            </a:r>
            <a:endParaRPr lang="en-US" sz="105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ORDER BY emission_share_pct DESC;</a:t>
            </a:r>
            <a:endParaRPr lang="en-US" sz="1050" dirty="0">
              <a:latin typeface="Aptos Display" panose="020B0004020202020204" pitchFamily="34" charset="0"/>
            </a:endParaRPr>
          </a:p>
        </p:txBody>
      </p:sp>
      <p:sp>
        <p:nvSpPr>
          <p:cNvPr id="22" name="Shape 16">
            <a:extLst>
              <a:ext uri="{FF2B5EF4-FFF2-40B4-BE49-F238E27FC236}">
                <a16:creationId xmlns:a16="http://schemas.microsoft.com/office/drawing/2014/main" id="{5BD0094F-8433-7DD2-4A73-465076DED1AC}"/>
              </a:ext>
            </a:extLst>
          </p:cNvPr>
          <p:cNvSpPr/>
          <p:nvPr/>
        </p:nvSpPr>
        <p:spPr>
          <a:xfrm>
            <a:off x="6469890" y="3927083"/>
            <a:ext cx="4299710" cy="2302255"/>
          </a:xfrm>
          <a:prstGeom prst="rect">
            <a:avLst/>
          </a:prstGeom>
          <a:solidFill>
            <a:srgbClr val="223045"/>
          </a:solidFill>
          <a:ln w="15240">
            <a:solidFill>
              <a:srgbClr val="2D8B8B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C64A014F-695B-D0C9-8A58-9CBFE4F8562E}"/>
              </a:ext>
            </a:extLst>
          </p:cNvPr>
          <p:cNvSpPr/>
          <p:nvPr/>
        </p:nvSpPr>
        <p:spPr>
          <a:xfrm>
            <a:off x="6570196" y="3948999"/>
            <a:ext cx="4087036" cy="3750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A8DADC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Global Average GDP, Emission &amp; Population / Year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24" name="Shape 18">
            <a:extLst>
              <a:ext uri="{FF2B5EF4-FFF2-40B4-BE49-F238E27FC236}">
                <a16:creationId xmlns:a16="http://schemas.microsoft.com/office/drawing/2014/main" id="{794895C5-5571-5044-B00A-085A60C78278}"/>
              </a:ext>
            </a:extLst>
          </p:cNvPr>
          <p:cNvSpPr/>
          <p:nvPr/>
        </p:nvSpPr>
        <p:spPr>
          <a:xfrm>
            <a:off x="6579618" y="4324087"/>
            <a:ext cx="4087036" cy="1793492"/>
          </a:xfrm>
          <a:prstGeom prst="rect">
            <a:avLst/>
          </a:prstGeom>
          <a:solidFill>
            <a:srgbClr val="172030"/>
          </a:solidFill>
          <a:ln w="6350">
            <a:solidFill>
              <a:srgbClr val="7AA5B0"/>
            </a:solidFill>
            <a:prstDash val="solid"/>
          </a:ln>
        </p:spPr>
      </p:sp>
      <p:sp>
        <p:nvSpPr>
          <p:cNvPr id="25" name="Text 19">
            <a:extLst>
              <a:ext uri="{FF2B5EF4-FFF2-40B4-BE49-F238E27FC236}">
                <a16:creationId xmlns:a16="http://schemas.microsoft.com/office/drawing/2014/main" id="{522D41E6-72FC-D20D-69F6-458DAE0DD4A6}"/>
              </a:ext>
            </a:extLst>
          </p:cNvPr>
          <p:cNvSpPr/>
          <p:nvPr/>
        </p:nvSpPr>
        <p:spPr>
          <a:xfrm>
            <a:off x="6579618" y="4324087"/>
            <a:ext cx="4087035" cy="17934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SELECT g.year,</a:t>
            </a:r>
            <a:endParaRPr lang="en-US" sz="110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  AVG(g.Value)           AS avg_gdp,</a:t>
            </a:r>
            <a:endParaRPr lang="en-US" sz="110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  AVG(e.total_emission)  AS avg_emission,</a:t>
            </a:r>
            <a:endParaRPr lang="en-US" sz="110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  AVG(p.Value)           AS avg_population</a:t>
            </a:r>
            <a:endParaRPr lang="en-US" sz="110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FROM gdp_3 g</a:t>
            </a:r>
            <a:endParaRPr lang="en-US" sz="110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JOIN (...sum subquery...) e ...</a:t>
            </a:r>
            <a:endParaRPr lang="en-US" sz="110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JOIN population p ...</a:t>
            </a:r>
            <a:endParaRPr lang="en-US" sz="1100" dirty="0">
              <a:latin typeface="Aptos Display" panose="020B0004020202020204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8DADC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GROUP BY g.year ORDER BY g.year;</a:t>
            </a:r>
            <a:endParaRPr lang="en-US" sz="1100" dirty="0">
              <a:latin typeface="Aptos Display" panose="020B0004020202020204" pitchFamily="34" charset="0"/>
            </a:endParaRPr>
          </a:p>
        </p:txBody>
      </p:sp>
      <p:sp>
        <p:nvSpPr>
          <p:cNvPr id="26" name="Shape 0">
            <a:extLst>
              <a:ext uri="{FF2B5EF4-FFF2-40B4-BE49-F238E27FC236}">
                <a16:creationId xmlns:a16="http://schemas.microsoft.com/office/drawing/2014/main" id="{3206DFEC-DB4E-FEA3-8E75-BBB863B2BE59}"/>
              </a:ext>
            </a:extLst>
          </p:cNvPr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FF0000"/>
          </a:solidFill>
          <a:ln w="1270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30991768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>
          <a:extLst>
            <a:ext uri="{FF2B5EF4-FFF2-40B4-BE49-F238E27FC236}">
              <a16:creationId xmlns:a16="http://schemas.microsoft.com/office/drawing/2014/main" id="{6945A16C-B1F7-0EB0-0B90-C08A848C8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3">
            <a:extLst>
              <a:ext uri="{FF2B5EF4-FFF2-40B4-BE49-F238E27FC236}">
                <a16:creationId xmlns:a16="http://schemas.microsoft.com/office/drawing/2014/main" id="{AF02FD2F-A68E-1A8E-2FBB-30A44F095B6F}"/>
              </a:ext>
            </a:extLst>
          </p:cNvPr>
          <p:cNvSpPr/>
          <p:nvPr/>
        </p:nvSpPr>
        <p:spPr>
          <a:xfrm>
            <a:off x="1432560" y="502920"/>
            <a:ext cx="9347200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A2332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Key SQL Concepts Used in This Project</a:t>
            </a:r>
            <a:endParaRPr lang="en-US" sz="4400" dirty="0">
              <a:latin typeface="Aptos Display" panose="020B0004020202020204" pitchFamily="34" charset="0"/>
            </a:endParaRPr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8CA3DF5D-B48D-A7E0-81A1-538D72CF74DB}"/>
              </a:ext>
            </a:extLst>
          </p:cNvPr>
          <p:cNvSpPr/>
          <p:nvPr/>
        </p:nvSpPr>
        <p:spPr>
          <a:xfrm>
            <a:off x="1432560" y="1623568"/>
            <a:ext cx="4500880" cy="1261872"/>
          </a:xfrm>
          <a:prstGeom prst="rect">
            <a:avLst/>
          </a:prstGeom>
          <a:solidFill>
            <a:srgbClr val="FFFFFF"/>
          </a:solidFill>
          <a:ln w="19050">
            <a:solidFill>
              <a:srgbClr val="2D8B8B"/>
            </a:solidFill>
            <a:prstDash val="solid"/>
          </a:ln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B064B401-A65C-CE6F-ECB8-0DFA7F888521}"/>
              </a:ext>
            </a:extLst>
          </p:cNvPr>
          <p:cNvSpPr/>
          <p:nvPr/>
        </p:nvSpPr>
        <p:spPr>
          <a:xfrm>
            <a:off x="1432560" y="1623568"/>
            <a:ext cx="4500880" cy="320040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F6AE69E9-B0FC-62E3-9FEA-76A0ABAF0F95}"/>
              </a:ext>
            </a:extLst>
          </p:cNvPr>
          <p:cNvSpPr/>
          <p:nvPr/>
        </p:nvSpPr>
        <p:spPr>
          <a:xfrm>
            <a:off x="1524000" y="1660144"/>
            <a:ext cx="40690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Subquery</a:t>
            </a:r>
            <a:endParaRPr lang="en-US" sz="1600" dirty="0">
              <a:latin typeface="Aptos Display" panose="020B0004020202020204" pitchFamily="34" charset="0"/>
            </a:endParaRPr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4095042B-0D50-6CC0-8EA0-D691A058FFE2}"/>
              </a:ext>
            </a:extLst>
          </p:cNvPr>
          <p:cNvSpPr/>
          <p:nvPr/>
        </p:nvSpPr>
        <p:spPr>
          <a:xfrm>
            <a:off x="1560576" y="2007616"/>
            <a:ext cx="4179824" cy="384048"/>
          </a:xfrm>
          <a:prstGeom prst="rect">
            <a:avLst/>
          </a:prstGeom>
          <a:solidFill>
            <a:srgbClr val="EBF8F9"/>
          </a:solidFill>
          <a:ln w="6350">
            <a:solidFill>
              <a:srgbClr val="2D8B8B"/>
            </a:solidFill>
            <a:prstDash val="solid"/>
          </a:ln>
        </p:spPr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3A393459-7A8D-9DA4-ECB2-DFFB4E4738A7}"/>
              </a:ext>
            </a:extLst>
          </p:cNvPr>
          <p:cNvSpPr/>
          <p:nvPr/>
        </p:nvSpPr>
        <p:spPr>
          <a:xfrm>
            <a:off x="1560576" y="2025904"/>
            <a:ext cx="39959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3344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WHERE year = (SELECT MAX(year) FROM ...)</a:t>
            </a:r>
            <a:endParaRPr lang="en-US" sz="1100" dirty="0">
              <a:latin typeface="Aptos Display" panose="020B0004020202020204" pitchFamily="34" charset="0"/>
            </a:endParaRPr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1C07EBAA-8569-72AB-22EC-4F00859EC43B}"/>
              </a:ext>
            </a:extLst>
          </p:cNvPr>
          <p:cNvSpPr/>
          <p:nvPr/>
        </p:nvSpPr>
        <p:spPr>
          <a:xfrm>
            <a:off x="1560576" y="2446528"/>
            <a:ext cx="41798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455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Dynamically isolates the most recent year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16" name="Shape 10">
            <a:extLst>
              <a:ext uri="{FF2B5EF4-FFF2-40B4-BE49-F238E27FC236}">
                <a16:creationId xmlns:a16="http://schemas.microsoft.com/office/drawing/2014/main" id="{A7B338BE-3854-2872-86AA-87A71E6431D5}"/>
              </a:ext>
            </a:extLst>
          </p:cNvPr>
          <p:cNvSpPr/>
          <p:nvPr/>
        </p:nvSpPr>
        <p:spPr>
          <a:xfrm>
            <a:off x="6278880" y="1623568"/>
            <a:ext cx="4500880" cy="1261872"/>
          </a:xfrm>
          <a:prstGeom prst="rect">
            <a:avLst/>
          </a:prstGeom>
          <a:solidFill>
            <a:srgbClr val="FFFFFF"/>
          </a:solidFill>
          <a:ln w="19050">
            <a:solidFill>
              <a:srgbClr val="2877A0"/>
            </a:solidFill>
            <a:prstDash val="solid"/>
          </a:ln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7" name="Shape 11">
            <a:extLst>
              <a:ext uri="{FF2B5EF4-FFF2-40B4-BE49-F238E27FC236}">
                <a16:creationId xmlns:a16="http://schemas.microsoft.com/office/drawing/2014/main" id="{1979AD6D-4D2B-D163-2D73-30A6B226F41C}"/>
              </a:ext>
            </a:extLst>
          </p:cNvPr>
          <p:cNvSpPr/>
          <p:nvPr/>
        </p:nvSpPr>
        <p:spPr>
          <a:xfrm>
            <a:off x="6278880" y="1623568"/>
            <a:ext cx="4500880" cy="320040"/>
          </a:xfrm>
          <a:prstGeom prst="rect">
            <a:avLst/>
          </a:prstGeom>
          <a:solidFill>
            <a:srgbClr val="2877A0"/>
          </a:solidFill>
          <a:ln w="12700">
            <a:solidFill>
              <a:srgbClr val="2877A0"/>
            </a:solidFill>
            <a:prstDash val="solid"/>
          </a:ln>
        </p:spPr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D718A78C-C799-9A81-CD1C-54FCBF8BD2E9}"/>
              </a:ext>
            </a:extLst>
          </p:cNvPr>
          <p:cNvSpPr/>
          <p:nvPr/>
        </p:nvSpPr>
        <p:spPr>
          <a:xfrm>
            <a:off x="6350000" y="1660144"/>
            <a:ext cx="433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JOIN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19" name="Shape 13">
            <a:extLst>
              <a:ext uri="{FF2B5EF4-FFF2-40B4-BE49-F238E27FC236}">
                <a16:creationId xmlns:a16="http://schemas.microsoft.com/office/drawing/2014/main" id="{EB2B9AE1-372D-3FF4-F174-606076A08F97}"/>
              </a:ext>
            </a:extLst>
          </p:cNvPr>
          <p:cNvSpPr/>
          <p:nvPr/>
        </p:nvSpPr>
        <p:spPr>
          <a:xfrm>
            <a:off x="6451600" y="2007616"/>
            <a:ext cx="4179824" cy="384048"/>
          </a:xfrm>
          <a:prstGeom prst="rect">
            <a:avLst/>
          </a:prstGeom>
          <a:solidFill>
            <a:srgbClr val="EBF8F9"/>
          </a:solidFill>
          <a:ln w="6350">
            <a:solidFill>
              <a:srgbClr val="2877A0"/>
            </a:solidFill>
            <a:prstDash val="solid"/>
          </a:ln>
        </p:spPr>
      </p:sp>
      <p:sp>
        <p:nvSpPr>
          <p:cNvPr id="20" name="Text 14">
            <a:extLst>
              <a:ext uri="{FF2B5EF4-FFF2-40B4-BE49-F238E27FC236}">
                <a16:creationId xmlns:a16="http://schemas.microsoft.com/office/drawing/2014/main" id="{8D8C37F0-C460-47EC-8AF6-5E3DCC40F91B}"/>
              </a:ext>
            </a:extLst>
          </p:cNvPr>
          <p:cNvSpPr/>
          <p:nvPr/>
        </p:nvSpPr>
        <p:spPr>
          <a:xfrm>
            <a:off x="6655816" y="2025904"/>
            <a:ext cx="39959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3344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JOIN population p ON p.countries = e.country AND p.year = e.year</a:t>
            </a:r>
            <a:endParaRPr lang="en-US" sz="1100" dirty="0">
              <a:latin typeface="Aptos Display" panose="020B0004020202020204" pitchFamily="34" charset="0"/>
            </a:endParaRP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0336EBDA-9B07-5E6F-1596-A0135F4D0A8C}"/>
              </a:ext>
            </a:extLst>
          </p:cNvPr>
          <p:cNvSpPr/>
          <p:nvPr/>
        </p:nvSpPr>
        <p:spPr>
          <a:xfrm>
            <a:off x="6451600" y="2446528"/>
            <a:ext cx="41798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455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Links records across multiple tables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22" name="Shape 16">
            <a:extLst>
              <a:ext uri="{FF2B5EF4-FFF2-40B4-BE49-F238E27FC236}">
                <a16:creationId xmlns:a16="http://schemas.microsoft.com/office/drawing/2014/main" id="{0557CCBD-AD8B-DFE3-A82B-7CB9470BB8F8}"/>
              </a:ext>
            </a:extLst>
          </p:cNvPr>
          <p:cNvSpPr/>
          <p:nvPr/>
        </p:nvSpPr>
        <p:spPr>
          <a:xfrm>
            <a:off x="1432560" y="2995168"/>
            <a:ext cx="4500880" cy="1261872"/>
          </a:xfrm>
          <a:prstGeom prst="rect">
            <a:avLst/>
          </a:prstGeom>
          <a:solidFill>
            <a:srgbClr val="FFFFFF"/>
          </a:solidFill>
          <a:ln w="19050">
            <a:solidFill>
              <a:srgbClr val="357A7A"/>
            </a:solidFill>
            <a:prstDash val="solid"/>
          </a:ln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3" name="Shape 17">
            <a:extLst>
              <a:ext uri="{FF2B5EF4-FFF2-40B4-BE49-F238E27FC236}">
                <a16:creationId xmlns:a16="http://schemas.microsoft.com/office/drawing/2014/main" id="{DA131E96-1633-D02D-09D9-50A48000EEF4}"/>
              </a:ext>
            </a:extLst>
          </p:cNvPr>
          <p:cNvSpPr/>
          <p:nvPr/>
        </p:nvSpPr>
        <p:spPr>
          <a:xfrm>
            <a:off x="1432560" y="2995168"/>
            <a:ext cx="4500880" cy="320040"/>
          </a:xfrm>
          <a:prstGeom prst="rect">
            <a:avLst/>
          </a:prstGeom>
          <a:solidFill>
            <a:srgbClr val="357A7A"/>
          </a:solidFill>
          <a:ln w="12700">
            <a:solidFill>
              <a:srgbClr val="357A7A"/>
            </a:solidFill>
            <a:prstDash val="solid"/>
          </a:ln>
        </p:spPr>
      </p:sp>
      <p:sp>
        <p:nvSpPr>
          <p:cNvPr id="24" name="Text 18">
            <a:extLst>
              <a:ext uri="{FF2B5EF4-FFF2-40B4-BE49-F238E27FC236}">
                <a16:creationId xmlns:a16="http://schemas.microsoft.com/office/drawing/2014/main" id="{029D315C-38FA-1FB4-1805-2A00EE96DE82}"/>
              </a:ext>
            </a:extLst>
          </p:cNvPr>
          <p:cNvSpPr/>
          <p:nvPr/>
        </p:nvSpPr>
        <p:spPr>
          <a:xfrm>
            <a:off x="1524000" y="3031744"/>
            <a:ext cx="40690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LAG()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25" name="Shape 19">
            <a:extLst>
              <a:ext uri="{FF2B5EF4-FFF2-40B4-BE49-F238E27FC236}">
                <a16:creationId xmlns:a16="http://schemas.microsoft.com/office/drawing/2014/main" id="{82D43AA0-F802-BB00-87D3-2D19C462A3E5}"/>
              </a:ext>
            </a:extLst>
          </p:cNvPr>
          <p:cNvSpPr/>
          <p:nvPr/>
        </p:nvSpPr>
        <p:spPr>
          <a:xfrm>
            <a:off x="1560576" y="3379216"/>
            <a:ext cx="4179824" cy="384048"/>
          </a:xfrm>
          <a:prstGeom prst="rect">
            <a:avLst/>
          </a:prstGeom>
          <a:solidFill>
            <a:srgbClr val="EBF8F9"/>
          </a:solidFill>
          <a:ln w="6350">
            <a:solidFill>
              <a:srgbClr val="357A7A"/>
            </a:solidFill>
            <a:prstDash val="solid"/>
          </a:ln>
        </p:spPr>
      </p:sp>
      <p:sp>
        <p:nvSpPr>
          <p:cNvPr id="26" name="Text 20">
            <a:extLst>
              <a:ext uri="{FF2B5EF4-FFF2-40B4-BE49-F238E27FC236}">
                <a16:creationId xmlns:a16="http://schemas.microsoft.com/office/drawing/2014/main" id="{5C0185BA-39CC-32D5-DA6B-BD133056CED2}"/>
              </a:ext>
            </a:extLst>
          </p:cNvPr>
          <p:cNvSpPr/>
          <p:nvPr/>
        </p:nvSpPr>
        <p:spPr>
          <a:xfrm>
            <a:off x="1560576" y="3397504"/>
            <a:ext cx="39959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3344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LAG(Value) OVER (PARTITION BY Country ORDER BY year)</a:t>
            </a:r>
            <a:endParaRPr lang="en-US" sz="1100" dirty="0">
              <a:latin typeface="Aptos Display" panose="020B0004020202020204" pitchFamily="34" charset="0"/>
            </a:endParaRPr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610B3FDC-263A-8CA6-79FB-8D09FA84109D}"/>
              </a:ext>
            </a:extLst>
          </p:cNvPr>
          <p:cNvSpPr/>
          <p:nvPr/>
        </p:nvSpPr>
        <p:spPr>
          <a:xfrm>
            <a:off x="1560576" y="3818128"/>
            <a:ext cx="41798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455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Compare this year vs previous year's value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28" name="Shape 22">
            <a:extLst>
              <a:ext uri="{FF2B5EF4-FFF2-40B4-BE49-F238E27FC236}">
                <a16:creationId xmlns:a16="http://schemas.microsoft.com/office/drawing/2014/main" id="{786DD173-BB05-6943-6870-AB8F67D9EEFA}"/>
              </a:ext>
            </a:extLst>
          </p:cNvPr>
          <p:cNvSpPr/>
          <p:nvPr/>
        </p:nvSpPr>
        <p:spPr>
          <a:xfrm>
            <a:off x="6278880" y="2995168"/>
            <a:ext cx="4500880" cy="1261872"/>
          </a:xfrm>
          <a:prstGeom prst="rect">
            <a:avLst/>
          </a:prstGeom>
          <a:solidFill>
            <a:srgbClr val="FFFFFF"/>
          </a:solidFill>
          <a:ln w="19050">
            <a:solidFill>
              <a:srgbClr val="2D8B8B"/>
            </a:solidFill>
            <a:prstDash val="solid"/>
          </a:ln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9" name="Shape 23">
            <a:extLst>
              <a:ext uri="{FF2B5EF4-FFF2-40B4-BE49-F238E27FC236}">
                <a16:creationId xmlns:a16="http://schemas.microsoft.com/office/drawing/2014/main" id="{FD37F200-E814-1ED3-B5B5-7894986C3F3E}"/>
              </a:ext>
            </a:extLst>
          </p:cNvPr>
          <p:cNvSpPr/>
          <p:nvPr/>
        </p:nvSpPr>
        <p:spPr>
          <a:xfrm>
            <a:off x="6278880" y="2995168"/>
            <a:ext cx="4500880" cy="320040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0" name="Text 24">
            <a:extLst>
              <a:ext uri="{FF2B5EF4-FFF2-40B4-BE49-F238E27FC236}">
                <a16:creationId xmlns:a16="http://schemas.microsoft.com/office/drawing/2014/main" id="{13DE2507-DEE9-B561-AB1C-E1CBE9A16F6C}"/>
              </a:ext>
            </a:extLst>
          </p:cNvPr>
          <p:cNvSpPr/>
          <p:nvPr/>
        </p:nvSpPr>
        <p:spPr>
          <a:xfrm>
            <a:off x="6350000" y="3031744"/>
            <a:ext cx="433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NULLIF()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31" name="Shape 25">
            <a:extLst>
              <a:ext uri="{FF2B5EF4-FFF2-40B4-BE49-F238E27FC236}">
                <a16:creationId xmlns:a16="http://schemas.microsoft.com/office/drawing/2014/main" id="{D45E96FF-9C8C-C7E0-37C4-704866483F93}"/>
              </a:ext>
            </a:extLst>
          </p:cNvPr>
          <p:cNvSpPr/>
          <p:nvPr/>
        </p:nvSpPr>
        <p:spPr>
          <a:xfrm>
            <a:off x="6451600" y="3379216"/>
            <a:ext cx="4179824" cy="384048"/>
          </a:xfrm>
          <a:prstGeom prst="rect">
            <a:avLst/>
          </a:prstGeom>
          <a:solidFill>
            <a:srgbClr val="EBF8F9"/>
          </a:solidFill>
          <a:ln w="6350">
            <a:solidFill>
              <a:srgbClr val="2D8B8B"/>
            </a:solidFill>
            <a:prstDash val="solid"/>
          </a:ln>
        </p:spPr>
      </p:sp>
      <p:sp>
        <p:nvSpPr>
          <p:cNvPr id="32" name="Text 26">
            <a:extLst>
              <a:ext uri="{FF2B5EF4-FFF2-40B4-BE49-F238E27FC236}">
                <a16:creationId xmlns:a16="http://schemas.microsoft.com/office/drawing/2014/main" id="{B761A0F2-8AAB-E911-367C-B87A6A9B33E5}"/>
              </a:ext>
            </a:extLst>
          </p:cNvPr>
          <p:cNvSpPr/>
          <p:nvPr/>
        </p:nvSpPr>
        <p:spPr>
          <a:xfrm>
            <a:off x="6655816" y="3397504"/>
            <a:ext cx="39959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3344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SUM(emission) / NULLIF(gdp, 0)</a:t>
            </a:r>
            <a:endParaRPr lang="en-US" sz="1100" dirty="0">
              <a:latin typeface="Aptos Display" panose="020B0004020202020204" pitchFamily="34" charset="0"/>
            </a:endParaRPr>
          </a:p>
        </p:txBody>
      </p:sp>
      <p:sp>
        <p:nvSpPr>
          <p:cNvPr id="33" name="Text 27">
            <a:extLst>
              <a:ext uri="{FF2B5EF4-FFF2-40B4-BE49-F238E27FC236}">
                <a16:creationId xmlns:a16="http://schemas.microsoft.com/office/drawing/2014/main" id="{1C49D9FE-0D1A-3976-EB45-2F42FAEF31D1}"/>
              </a:ext>
            </a:extLst>
          </p:cNvPr>
          <p:cNvSpPr/>
          <p:nvPr/>
        </p:nvSpPr>
        <p:spPr>
          <a:xfrm>
            <a:off x="6451600" y="3818128"/>
            <a:ext cx="41798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455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Prevents divide-by-zero runtime errors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34" name="Shape 28">
            <a:extLst>
              <a:ext uri="{FF2B5EF4-FFF2-40B4-BE49-F238E27FC236}">
                <a16:creationId xmlns:a16="http://schemas.microsoft.com/office/drawing/2014/main" id="{AC66749E-8CFD-06A1-4ED5-1F8C9212D893}"/>
              </a:ext>
            </a:extLst>
          </p:cNvPr>
          <p:cNvSpPr/>
          <p:nvPr/>
        </p:nvSpPr>
        <p:spPr>
          <a:xfrm>
            <a:off x="1432560" y="4366768"/>
            <a:ext cx="4500880" cy="1261872"/>
          </a:xfrm>
          <a:prstGeom prst="rect">
            <a:avLst/>
          </a:prstGeom>
          <a:solidFill>
            <a:srgbClr val="FFFFFF"/>
          </a:solidFill>
          <a:ln w="19050">
            <a:solidFill>
              <a:srgbClr val="2877A0"/>
            </a:solidFill>
            <a:prstDash val="solid"/>
          </a:ln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35" name="Shape 29">
            <a:extLst>
              <a:ext uri="{FF2B5EF4-FFF2-40B4-BE49-F238E27FC236}">
                <a16:creationId xmlns:a16="http://schemas.microsoft.com/office/drawing/2014/main" id="{08083953-BFC9-A9F8-0153-C9AA907EF4E5}"/>
              </a:ext>
            </a:extLst>
          </p:cNvPr>
          <p:cNvSpPr/>
          <p:nvPr/>
        </p:nvSpPr>
        <p:spPr>
          <a:xfrm>
            <a:off x="1432560" y="4366768"/>
            <a:ext cx="4500880" cy="320040"/>
          </a:xfrm>
          <a:prstGeom prst="rect">
            <a:avLst/>
          </a:prstGeom>
          <a:solidFill>
            <a:srgbClr val="2877A0"/>
          </a:solidFill>
          <a:ln w="12700">
            <a:solidFill>
              <a:srgbClr val="2877A0"/>
            </a:solidFill>
            <a:prstDash val="solid"/>
          </a:ln>
        </p:spPr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0988C504-3301-6327-A2A0-B9DC6B13C0F9}"/>
              </a:ext>
            </a:extLst>
          </p:cNvPr>
          <p:cNvSpPr/>
          <p:nvPr/>
        </p:nvSpPr>
        <p:spPr>
          <a:xfrm>
            <a:off x="1524000" y="4403344"/>
            <a:ext cx="40690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SUM + GROUP BY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37" name="Shape 31">
            <a:extLst>
              <a:ext uri="{FF2B5EF4-FFF2-40B4-BE49-F238E27FC236}">
                <a16:creationId xmlns:a16="http://schemas.microsoft.com/office/drawing/2014/main" id="{6D3BC6D7-DF4E-AD96-CBB8-F0EA3F548E74}"/>
              </a:ext>
            </a:extLst>
          </p:cNvPr>
          <p:cNvSpPr/>
          <p:nvPr/>
        </p:nvSpPr>
        <p:spPr>
          <a:xfrm>
            <a:off x="1560576" y="4750816"/>
            <a:ext cx="4179824" cy="384048"/>
          </a:xfrm>
          <a:prstGeom prst="rect">
            <a:avLst/>
          </a:prstGeom>
          <a:solidFill>
            <a:srgbClr val="EBF8F9"/>
          </a:solidFill>
          <a:ln w="6350">
            <a:solidFill>
              <a:srgbClr val="2877A0"/>
            </a:solidFill>
            <a:prstDash val="solid"/>
          </a:ln>
        </p:spPr>
      </p:sp>
      <p:sp>
        <p:nvSpPr>
          <p:cNvPr id="38" name="Text 32">
            <a:extLst>
              <a:ext uri="{FF2B5EF4-FFF2-40B4-BE49-F238E27FC236}">
                <a16:creationId xmlns:a16="http://schemas.microsoft.com/office/drawing/2014/main" id="{0D936DBC-161B-4B38-BEDB-75EF9275ED6E}"/>
              </a:ext>
            </a:extLst>
          </p:cNvPr>
          <p:cNvSpPr/>
          <p:nvPr/>
        </p:nvSpPr>
        <p:spPr>
          <a:xfrm>
            <a:off x="1560576" y="4769104"/>
            <a:ext cx="39959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3344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SUM(emission) ... GROUP BY country, year</a:t>
            </a:r>
            <a:endParaRPr lang="en-US" sz="1100" dirty="0">
              <a:latin typeface="Aptos Display" panose="020B0004020202020204" pitchFamily="34" charset="0"/>
            </a:endParaRPr>
          </a:p>
        </p:txBody>
      </p:sp>
      <p:sp>
        <p:nvSpPr>
          <p:cNvPr id="39" name="Text 33">
            <a:extLst>
              <a:ext uri="{FF2B5EF4-FFF2-40B4-BE49-F238E27FC236}">
                <a16:creationId xmlns:a16="http://schemas.microsoft.com/office/drawing/2014/main" id="{D0FECF1D-AB7C-4E17-933F-1D4159C25FD9}"/>
              </a:ext>
            </a:extLst>
          </p:cNvPr>
          <p:cNvSpPr/>
          <p:nvPr/>
        </p:nvSpPr>
        <p:spPr>
          <a:xfrm>
            <a:off x="1560576" y="5189728"/>
            <a:ext cx="41798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455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Aggregates multi-row energy data per entity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40" name="Shape 34">
            <a:extLst>
              <a:ext uri="{FF2B5EF4-FFF2-40B4-BE49-F238E27FC236}">
                <a16:creationId xmlns:a16="http://schemas.microsoft.com/office/drawing/2014/main" id="{03A2C603-52F2-A495-0ADA-F92111EB4555}"/>
              </a:ext>
            </a:extLst>
          </p:cNvPr>
          <p:cNvSpPr/>
          <p:nvPr/>
        </p:nvSpPr>
        <p:spPr>
          <a:xfrm>
            <a:off x="6278880" y="4366768"/>
            <a:ext cx="4500880" cy="1261872"/>
          </a:xfrm>
          <a:prstGeom prst="rect">
            <a:avLst/>
          </a:prstGeom>
          <a:solidFill>
            <a:srgbClr val="FFFFFF"/>
          </a:solidFill>
          <a:ln w="19050">
            <a:solidFill>
              <a:srgbClr val="357A7A"/>
            </a:solidFill>
            <a:prstDash val="solid"/>
          </a:ln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41" name="Shape 35">
            <a:extLst>
              <a:ext uri="{FF2B5EF4-FFF2-40B4-BE49-F238E27FC236}">
                <a16:creationId xmlns:a16="http://schemas.microsoft.com/office/drawing/2014/main" id="{C4D79975-1AE8-FDBD-E1D8-FB18ADC9A8A0}"/>
              </a:ext>
            </a:extLst>
          </p:cNvPr>
          <p:cNvSpPr/>
          <p:nvPr/>
        </p:nvSpPr>
        <p:spPr>
          <a:xfrm>
            <a:off x="6278880" y="4366768"/>
            <a:ext cx="4500880" cy="320040"/>
          </a:xfrm>
          <a:prstGeom prst="rect">
            <a:avLst/>
          </a:prstGeom>
          <a:solidFill>
            <a:srgbClr val="357A7A"/>
          </a:solidFill>
          <a:ln w="12700">
            <a:solidFill>
              <a:srgbClr val="357A7A"/>
            </a:solidFill>
            <a:prstDash val="solid"/>
          </a:ln>
        </p:spPr>
      </p:sp>
      <p:sp>
        <p:nvSpPr>
          <p:cNvPr id="42" name="Text 36">
            <a:extLst>
              <a:ext uri="{FF2B5EF4-FFF2-40B4-BE49-F238E27FC236}">
                <a16:creationId xmlns:a16="http://schemas.microsoft.com/office/drawing/2014/main" id="{50FA2C2B-2ED7-FCC1-1F5E-679FD7091551}"/>
              </a:ext>
            </a:extLst>
          </p:cNvPr>
          <p:cNvSpPr/>
          <p:nvPr/>
        </p:nvSpPr>
        <p:spPr>
          <a:xfrm>
            <a:off x="6350000" y="4403344"/>
            <a:ext cx="433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Window Function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43" name="Shape 37">
            <a:extLst>
              <a:ext uri="{FF2B5EF4-FFF2-40B4-BE49-F238E27FC236}">
                <a16:creationId xmlns:a16="http://schemas.microsoft.com/office/drawing/2014/main" id="{9125618D-A4AB-7813-8CB0-3570D0A63FBB}"/>
              </a:ext>
            </a:extLst>
          </p:cNvPr>
          <p:cNvSpPr/>
          <p:nvPr/>
        </p:nvSpPr>
        <p:spPr>
          <a:xfrm>
            <a:off x="6451600" y="4750816"/>
            <a:ext cx="4179824" cy="384048"/>
          </a:xfrm>
          <a:prstGeom prst="rect">
            <a:avLst/>
          </a:prstGeom>
          <a:solidFill>
            <a:srgbClr val="EBF8F9"/>
          </a:solidFill>
          <a:ln w="6350">
            <a:solidFill>
              <a:srgbClr val="357A7A"/>
            </a:solidFill>
            <a:prstDash val="solid"/>
          </a:ln>
        </p:spPr>
      </p:sp>
      <p:sp>
        <p:nvSpPr>
          <p:cNvPr id="44" name="Text 38">
            <a:extLst>
              <a:ext uri="{FF2B5EF4-FFF2-40B4-BE49-F238E27FC236}">
                <a16:creationId xmlns:a16="http://schemas.microsoft.com/office/drawing/2014/main" id="{6B07D539-FAE9-657E-C43B-7C72BB924F20}"/>
              </a:ext>
            </a:extLst>
          </p:cNvPr>
          <p:cNvSpPr/>
          <p:nvPr/>
        </p:nvSpPr>
        <p:spPr>
          <a:xfrm>
            <a:off x="6655816" y="4769104"/>
            <a:ext cx="39959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3344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SUM(emission)*100 / SUM(SUM(emission)) OVER ()</a:t>
            </a:r>
            <a:endParaRPr lang="en-US" sz="1100" dirty="0">
              <a:latin typeface="Aptos Display" panose="020B0004020202020204" pitchFamily="34" charset="0"/>
            </a:endParaRPr>
          </a:p>
        </p:txBody>
      </p:sp>
      <p:sp>
        <p:nvSpPr>
          <p:cNvPr id="45" name="Text 39">
            <a:extLst>
              <a:ext uri="{FF2B5EF4-FFF2-40B4-BE49-F238E27FC236}">
                <a16:creationId xmlns:a16="http://schemas.microsoft.com/office/drawing/2014/main" id="{B3884D4C-962D-9689-2A57-30E0ADFD3890}"/>
              </a:ext>
            </a:extLst>
          </p:cNvPr>
          <p:cNvSpPr/>
          <p:nvPr/>
        </p:nvSpPr>
        <p:spPr>
          <a:xfrm>
            <a:off x="6451600" y="5189728"/>
            <a:ext cx="41798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455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Global % share without a self-join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46" name="Shape 0">
            <a:extLst>
              <a:ext uri="{FF2B5EF4-FFF2-40B4-BE49-F238E27FC236}">
                <a16:creationId xmlns:a16="http://schemas.microsoft.com/office/drawing/2014/main" id="{C2BB5D66-BED0-9549-D72C-AC4B613313B5}"/>
              </a:ext>
            </a:extLst>
          </p:cNvPr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FF0000"/>
          </a:solidFill>
          <a:ln w="1270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38558880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>
          <a:extLst>
            <a:ext uri="{FF2B5EF4-FFF2-40B4-BE49-F238E27FC236}">
              <a16:creationId xmlns:a16="http://schemas.microsoft.com/office/drawing/2014/main" id="{AE16E1C9-A8EE-B25A-173C-6216B943F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3">
            <a:extLst>
              <a:ext uri="{FF2B5EF4-FFF2-40B4-BE49-F238E27FC236}">
                <a16:creationId xmlns:a16="http://schemas.microsoft.com/office/drawing/2014/main" id="{64644BF2-E706-B899-AF65-62E9EF8BC82E}"/>
              </a:ext>
            </a:extLst>
          </p:cNvPr>
          <p:cNvSpPr/>
          <p:nvPr/>
        </p:nvSpPr>
        <p:spPr>
          <a:xfrm>
            <a:off x="1422400" y="502920"/>
            <a:ext cx="9357360" cy="1291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tx1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Alternative Approaches &amp; When to Choose</a:t>
            </a:r>
            <a:endParaRPr lang="en-US" sz="4400" dirty="0">
              <a:solidFill>
                <a:schemeClr val="tx1"/>
              </a:solidFill>
              <a:latin typeface="Aptos Display" panose="020B0004020202020204" pitchFamily="34" charset="0"/>
            </a:endParaRPr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85925AE9-30A3-EC94-672D-29F13470E886}"/>
              </a:ext>
            </a:extLst>
          </p:cNvPr>
          <p:cNvSpPr/>
          <p:nvPr/>
        </p:nvSpPr>
        <p:spPr>
          <a:xfrm>
            <a:off x="1367249" y="2044192"/>
            <a:ext cx="9412511" cy="1234440"/>
          </a:xfrm>
          <a:prstGeom prst="rect">
            <a:avLst/>
          </a:prstGeom>
          <a:solidFill>
            <a:schemeClr val="tx2"/>
          </a:solidFill>
          <a:ln w="15240">
            <a:solidFill>
              <a:srgbClr val="2D8B8B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0DF243E3-0F0B-5E6D-D034-806363FCBC86}"/>
              </a:ext>
            </a:extLst>
          </p:cNvPr>
          <p:cNvSpPr/>
          <p:nvPr/>
        </p:nvSpPr>
        <p:spPr>
          <a:xfrm>
            <a:off x="1367249" y="2044192"/>
            <a:ext cx="2442751" cy="1234440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F7745A70-C110-11E8-8695-4430E231D467}"/>
              </a:ext>
            </a:extLst>
          </p:cNvPr>
          <p:cNvSpPr/>
          <p:nvPr/>
        </p:nvSpPr>
        <p:spPr>
          <a:xfrm>
            <a:off x="1412240" y="2227072"/>
            <a:ext cx="23235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CTE  (WITH clause)</a:t>
            </a:r>
            <a:endParaRPr lang="en-US" sz="1600" dirty="0">
              <a:latin typeface="Aptos Display" panose="020B0004020202020204" pitchFamily="34" charset="0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800AA2F8-F866-D39A-36C6-F7C5001CBC12}"/>
              </a:ext>
            </a:extLst>
          </p:cNvPr>
          <p:cNvSpPr/>
          <p:nvPr/>
        </p:nvSpPr>
        <p:spPr>
          <a:xfrm>
            <a:off x="1412240" y="2794000"/>
            <a:ext cx="23235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DADC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vs  Subquery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2F7ECAE8-C91B-C4FA-7CAE-39F5C33A2552}"/>
              </a:ext>
            </a:extLst>
          </p:cNvPr>
          <p:cNvSpPr/>
          <p:nvPr/>
        </p:nvSpPr>
        <p:spPr>
          <a:xfrm>
            <a:off x="3864863" y="2117344"/>
            <a:ext cx="77405" cy="1078992"/>
          </a:xfrm>
          <a:prstGeom prst="rect">
            <a:avLst/>
          </a:prstGeom>
          <a:solidFill>
            <a:srgbClr val="002060"/>
          </a:solidFill>
          <a:ln w="12700">
            <a:solidFill>
              <a:srgbClr val="A8DADC"/>
            </a:solidFill>
            <a:prstDash val="solid"/>
          </a:ln>
        </p:spPr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EA08D4EB-B891-6CBF-B770-28ACDB0C821A}"/>
              </a:ext>
            </a:extLst>
          </p:cNvPr>
          <p:cNvSpPr/>
          <p:nvPr/>
        </p:nvSpPr>
        <p:spPr>
          <a:xfrm>
            <a:off x="4011168" y="2135632"/>
            <a:ext cx="6656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060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✓  When to choose:</a:t>
            </a:r>
            <a:endParaRPr lang="en-US" sz="1100" dirty="0">
              <a:solidFill>
                <a:srgbClr val="002060"/>
              </a:solidFill>
              <a:latin typeface="Aptos Display" panose="020B0004020202020204" pitchFamily="34" charset="0"/>
            </a:endParaRPr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932C3F5A-B812-2D08-6FD1-CA8F95E29988}"/>
              </a:ext>
            </a:extLst>
          </p:cNvPr>
          <p:cNvSpPr/>
          <p:nvPr/>
        </p:nvSpPr>
        <p:spPr>
          <a:xfrm>
            <a:off x="4011168" y="2373376"/>
            <a:ext cx="6656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Use when the same derived result is needed multiple times in one query, or for improved readability.</a:t>
            </a:r>
            <a:endParaRPr lang="en-US" sz="1200" dirty="0">
              <a:solidFill>
                <a:schemeClr val="bg2">
                  <a:lumMod val="50000"/>
                </a:schemeClr>
              </a:solidFill>
              <a:latin typeface="Aptos Display" panose="020B0004020202020204" pitchFamily="34" charset="0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11FD470C-5D1C-5C18-BA0F-0014B2F808AF}"/>
              </a:ext>
            </a:extLst>
          </p:cNvPr>
          <p:cNvSpPr/>
          <p:nvPr/>
        </p:nvSpPr>
        <p:spPr>
          <a:xfrm>
            <a:off x="4011168" y="2757424"/>
            <a:ext cx="6656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06060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✗  When to avoid:</a:t>
            </a:r>
            <a:endParaRPr lang="en-US" sz="1100" dirty="0">
              <a:latin typeface="Aptos Display" panose="020B0004020202020204" pitchFamily="34" charset="0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60C970B1-F6AD-971E-1E65-9CE6F2041234}"/>
              </a:ext>
            </a:extLst>
          </p:cNvPr>
          <p:cNvSpPr/>
          <p:nvPr/>
        </p:nvSpPr>
        <p:spPr>
          <a:xfrm>
            <a:off x="4011168" y="2995168"/>
            <a:ext cx="6656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Avoid for simple one-time lookups — a subquery is shorter and equally fast.</a:t>
            </a:r>
            <a:endParaRPr lang="en-US" sz="1200" dirty="0">
              <a:solidFill>
                <a:schemeClr val="bg2">
                  <a:lumMod val="50000"/>
                </a:schemeClr>
              </a:solidFill>
              <a:latin typeface="Aptos Display" panose="020B0004020202020204" pitchFamily="34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7DA2C601-13B2-0442-431E-5A49DAC506F1}"/>
              </a:ext>
            </a:extLst>
          </p:cNvPr>
          <p:cNvSpPr/>
          <p:nvPr/>
        </p:nvSpPr>
        <p:spPr>
          <a:xfrm>
            <a:off x="1367249" y="3397504"/>
            <a:ext cx="9412511" cy="1234440"/>
          </a:xfrm>
          <a:prstGeom prst="rect">
            <a:avLst/>
          </a:prstGeom>
          <a:solidFill>
            <a:schemeClr val="tx2"/>
          </a:solidFill>
          <a:ln w="15240">
            <a:solidFill>
              <a:srgbClr val="2D8B8B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27CBAE1B-C5DC-737D-36C4-BAF22B5E8EDE}"/>
              </a:ext>
            </a:extLst>
          </p:cNvPr>
          <p:cNvSpPr/>
          <p:nvPr/>
        </p:nvSpPr>
        <p:spPr>
          <a:xfrm>
            <a:off x="1367249" y="3397504"/>
            <a:ext cx="2442751" cy="1234440"/>
          </a:xfrm>
          <a:prstGeom prst="rect">
            <a:avLst/>
          </a:prstGeom>
          <a:solidFill>
            <a:srgbClr val="2877A0"/>
          </a:solidFill>
          <a:ln w="12700">
            <a:solidFill>
              <a:srgbClr val="2877A0"/>
            </a:solidFill>
            <a:prstDash val="solid"/>
          </a:ln>
        </p:spPr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83A588E1-3C07-5FD5-105D-C39128ECB72E}"/>
              </a:ext>
            </a:extLst>
          </p:cNvPr>
          <p:cNvSpPr/>
          <p:nvPr/>
        </p:nvSpPr>
        <p:spPr>
          <a:xfrm>
            <a:off x="1412240" y="3580384"/>
            <a:ext cx="23235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Self-JOIN</a:t>
            </a:r>
            <a:endParaRPr lang="en-US" sz="1600" dirty="0">
              <a:latin typeface="Aptos Display" panose="020B0004020202020204" pitchFamily="34" charset="0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FD0470A0-1921-9DC0-1A7E-5DBF6726DEB4}"/>
              </a:ext>
            </a:extLst>
          </p:cNvPr>
          <p:cNvSpPr/>
          <p:nvPr/>
        </p:nvSpPr>
        <p:spPr>
          <a:xfrm>
            <a:off x="1412240" y="4147312"/>
            <a:ext cx="23235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DADC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vs  LAG() Window Function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C6F57010-882A-B982-EFAB-85EA30A15960}"/>
              </a:ext>
            </a:extLst>
          </p:cNvPr>
          <p:cNvSpPr/>
          <p:nvPr/>
        </p:nvSpPr>
        <p:spPr>
          <a:xfrm>
            <a:off x="3864863" y="3470656"/>
            <a:ext cx="77405" cy="1078992"/>
          </a:xfrm>
          <a:prstGeom prst="rect">
            <a:avLst/>
          </a:prstGeom>
          <a:solidFill>
            <a:srgbClr val="002060"/>
          </a:solidFill>
          <a:ln w="12700">
            <a:solidFill>
              <a:srgbClr val="A8DADC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42F7CCD0-8913-3082-A1E1-8D8E9D31B8EA}"/>
              </a:ext>
            </a:extLst>
          </p:cNvPr>
          <p:cNvSpPr/>
          <p:nvPr/>
        </p:nvSpPr>
        <p:spPr>
          <a:xfrm>
            <a:off x="4011168" y="3488944"/>
            <a:ext cx="6656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060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✓  When to choose:</a:t>
            </a:r>
            <a:endParaRPr lang="en-US" sz="1100" dirty="0">
              <a:solidFill>
                <a:srgbClr val="002060"/>
              </a:solidFill>
              <a:latin typeface="Aptos Display" panose="020B0004020202020204" pitchFamily="34" charset="0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CF528FDC-CA56-ECB6-23FF-953485092263}"/>
              </a:ext>
            </a:extLst>
          </p:cNvPr>
          <p:cNvSpPr/>
          <p:nvPr/>
        </p:nvSpPr>
        <p:spPr>
          <a:xfrm>
            <a:off x="4011168" y="3726688"/>
            <a:ext cx="6656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Use on MySQL versions below 8.0 where LAG() is unavailable.</a:t>
            </a:r>
            <a:endParaRPr lang="en-US" sz="1200" dirty="0">
              <a:solidFill>
                <a:schemeClr val="bg2">
                  <a:lumMod val="50000"/>
                </a:schemeClr>
              </a:solidFill>
              <a:latin typeface="Aptos Display" panose="020B0004020202020204" pitchFamily="34" charset="0"/>
            </a:endParaRP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5B3FECF8-9C89-527D-0649-7D4B4B70BD54}"/>
              </a:ext>
            </a:extLst>
          </p:cNvPr>
          <p:cNvSpPr/>
          <p:nvPr/>
        </p:nvSpPr>
        <p:spPr>
          <a:xfrm>
            <a:off x="4011168" y="4110736"/>
            <a:ext cx="6656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06060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✗  When to avoid:</a:t>
            </a:r>
            <a:endParaRPr lang="en-US" sz="1100" dirty="0">
              <a:latin typeface="Aptos Display" panose="020B0004020202020204" pitchFamily="34" charset="0"/>
            </a:endParaRP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6AE9CD38-8502-11A2-BFBE-A563FB75E066}"/>
              </a:ext>
            </a:extLst>
          </p:cNvPr>
          <p:cNvSpPr/>
          <p:nvPr/>
        </p:nvSpPr>
        <p:spPr>
          <a:xfrm>
            <a:off x="4011168" y="4348480"/>
            <a:ext cx="6656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Avoid on MySQL 8.0+ — LAG() is faster (single scan) and far more readable.</a:t>
            </a:r>
            <a:endParaRPr lang="en-US" sz="1200" dirty="0">
              <a:solidFill>
                <a:schemeClr val="bg2">
                  <a:lumMod val="50000"/>
                </a:schemeClr>
              </a:solidFill>
              <a:latin typeface="Aptos Display" panose="020B0004020202020204" pitchFamily="34" charset="0"/>
            </a:endParaRPr>
          </a:p>
        </p:txBody>
      </p:sp>
      <p:sp>
        <p:nvSpPr>
          <p:cNvPr id="26" name="Shape 22">
            <a:extLst>
              <a:ext uri="{FF2B5EF4-FFF2-40B4-BE49-F238E27FC236}">
                <a16:creationId xmlns:a16="http://schemas.microsoft.com/office/drawing/2014/main" id="{582E34E7-1664-8E45-72C9-EA6CDD00C3D1}"/>
              </a:ext>
            </a:extLst>
          </p:cNvPr>
          <p:cNvSpPr/>
          <p:nvPr/>
        </p:nvSpPr>
        <p:spPr>
          <a:xfrm>
            <a:off x="1367249" y="4750816"/>
            <a:ext cx="9412511" cy="1234440"/>
          </a:xfrm>
          <a:prstGeom prst="rect">
            <a:avLst/>
          </a:prstGeom>
          <a:solidFill>
            <a:schemeClr val="tx2"/>
          </a:solidFill>
          <a:ln w="15240">
            <a:solidFill>
              <a:srgbClr val="2D8B8B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95FC1D9A-18E0-5CB4-F59B-F2D74DF066CD}"/>
              </a:ext>
            </a:extLst>
          </p:cNvPr>
          <p:cNvSpPr/>
          <p:nvPr/>
        </p:nvSpPr>
        <p:spPr>
          <a:xfrm>
            <a:off x="1367249" y="4750816"/>
            <a:ext cx="2442751" cy="1234440"/>
          </a:xfrm>
          <a:prstGeom prst="rect">
            <a:avLst/>
          </a:prstGeom>
          <a:solidFill>
            <a:srgbClr val="357A7A"/>
          </a:solidFill>
          <a:ln w="12700">
            <a:solidFill>
              <a:srgbClr val="357A7A"/>
            </a:solidFill>
            <a:prstDash val="solid"/>
          </a:ln>
        </p:spPr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ADAF3994-24E4-70F0-2306-D72C4374F584}"/>
              </a:ext>
            </a:extLst>
          </p:cNvPr>
          <p:cNvSpPr/>
          <p:nvPr/>
        </p:nvSpPr>
        <p:spPr>
          <a:xfrm>
            <a:off x="1412240" y="4933696"/>
            <a:ext cx="23235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Correlated Subquery</a:t>
            </a:r>
            <a:endParaRPr lang="en-US" sz="1600" dirty="0">
              <a:latin typeface="Aptos Display" panose="020B0004020202020204" pitchFamily="34" charset="0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D861328D-326E-42C8-5022-4843356C733D}"/>
              </a:ext>
            </a:extLst>
          </p:cNvPr>
          <p:cNvSpPr/>
          <p:nvPr/>
        </p:nvSpPr>
        <p:spPr>
          <a:xfrm>
            <a:off x="1412240" y="5500624"/>
            <a:ext cx="23235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DADC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vs  MIN/MAX Aggregation</a:t>
            </a:r>
            <a:endParaRPr lang="en-US" sz="1200" dirty="0">
              <a:latin typeface="Aptos Display" panose="020B0004020202020204" pitchFamily="34" charset="0"/>
            </a:endParaRPr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0168D8CE-3E5C-94F8-DB71-8191D8591F20}"/>
              </a:ext>
            </a:extLst>
          </p:cNvPr>
          <p:cNvSpPr/>
          <p:nvPr/>
        </p:nvSpPr>
        <p:spPr>
          <a:xfrm>
            <a:off x="3864863" y="4823968"/>
            <a:ext cx="77405" cy="1078992"/>
          </a:xfrm>
          <a:prstGeom prst="rect">
            <a:avLst/>
          </a:prstGeom>
          <a:solidFill>
            <a:srgbClr val="002060"/>
          </a:solidFill>
          <a:ln w="12700">
            <a:solidFill>
              <a:srgbClr val="A8DADC"/>
            </a:solidFill>
            <a:prstDash val="solid"/>
          </a:ln>
        </p:spPr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A5642317-72CC-AFAD-DFC1-DE54A5CC484F}"/>
              </a:ext>
            </a:extLst>
          </p:cNvPr>
          <p:cNvSpPr/>
          <p:nvPr/>
        </p:nvSpPr>
        <p:spPr>
          <a:xfrm>
            <a:off x="4011168" y="4842256"/>
            <a:ext cx="6656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060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✓  When to choose:</a:t>
            </a:r>
            <a:endParaRPr lang="en-US" sz="1100" dirty="0">
              <a:solidFill>
                <a:srgbClr val="002060"/>
              </a:solidFill>
              <a:latin typeface="Aptos Display" panose="020B0004020202020204" pitchFamily="34" charset="0"/>
            </a:endParaRPr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68D5767A-A9F1-1651-84A9-41A846D2D284}"/>
              </a:ext>
            </a:extLst>
          </p:cNvPr>
          <p:cNvSpPr/>
          <p:nvPr/>
        </p:nvSpPr>
        <p:spPr>
          <a:xfrm>
            <a:off x="4011168" y="5080000"/>
            <a:ext cx="6656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Use when you need to explicitly pin exact first/last year values per country for precision.</a:t>
            </a:r>
            <a:endParaRPr lang="en-US" sz="1200" dirty="0">
              <a:solidFill>
                <a:schemeClr val="bg2">
                  <a:lumMod val="50000"/>
                </a:schemeClr>
              </a:solidFill>
              <a:latin typeface="Aptos Display" panose="020B0004020202020204" pitchFamily="34" charset="0"/>
            </a:endParaRPr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36C5D78C-CC08-1397-5EEB-88B3A5178E2D}"/>
              </a:ext>
            </a:extLst>
          </p:cNvPr>
          <p:cNvSpPr/>
          <p:nvPr/>
        </p:nvSpPr>
        <p:spPr>
          <a:xfrm>
            <a:off x="4011168" y="5464048"/>
            <a:ext cx="6656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06060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✗  When to avoid:</a:t>
            </a:r>
            <a:endParaRPr lang="en-US" sz="1100" dirty="0">
              <a:latin typeface="Aptos Display" panose="020B0004020202020204" pitchFamily="34" charset="0"/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FDC5187B-3433-2AE4-DBF1-EB7280B5FE35}"/>
              </a:ext>
            </a:extLst>
          </p:cNvPr>
          <p:cNvSpPr/>
          <p:nvPr/>
        </p:nvSpPr>
        <p:spPr>
          <a:xfrm>
            <a:off x="4011168" y="5701792"/>
            <a:ext cx="6656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Avoid if data is clean and MIN/MAX ranges are reliable — correlated subqueries are slower.</a:t>
            </a:r>
            <a:endParaRPr lang="en-US" sz="1200" dirty="0">
              <a:solidFill>
                <a:schemeClr val="bg2">
                  <a:lumMod val="50000"/>
                </a:schemeClr>
              </a:solidFill>
              <a:latin typeface="Aptos Display" panose="020B0004020202020204" pitchFamily="34" charset="0"/>
            </a:endParaRPr>
          </a:p>
        </p:txBody>
      </p:sp>
      <p:sp>
        <p:nvSpPr>
          <p:cNvPr id="35" name="Shape 0">
            <a:extLst>
              <a:ext uri="{FF2B5EF4-FFF2-40B4-BE49-F238E27FC236}">
                <a16:creationId xmlns:a16="http://schemas.microsoft.com/office/drawing/2014/main" id="{58666C24-FFAA-134C-E031-F625B900EDDE}"/>
              </a:ext>
            </a:extLst>
          </p:cNvPr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FF0000"/>
          </a:solidFill>
          <a:ln w="1270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32488809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>
          <a:extLst>
            <a:ext uri="{FF2B5EF4-FFF2-40B4-BE49-F238E27FC236}">
              <a16:creationId xmlns:a16="http://schemas.microsoft.com/office/drawing/2014/main" id="{201E2ECB-C213-8F6A-6423-046598E90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3">
            <a:extLst>
              <a:ext uri="{FF2B5EF4-FFF2-40B4-BE49-F238E27FC236}">
                <a16:creationId xmlns:a16="http://schemas.microsoft.com/office/drawing/2014/main" id="{28C51A60-1596-4A0E-9030-BD61829D90DC}"/>
              </a:ext>
            </a:extLst>
          </p:cNvPr>
          <p:cNvSpPr/>
          <p:nvPr/>
        </p:nvSpPr>
        <p:spPr>
          <a:xfrm>
            <a:off x="1427480" y="502920"/>
            <a:ext cx="9337042" cy="753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tx1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Key Insights &amp; Findings</a:t>
            </a:r>
            <a:endParaRPr lang="en-US" sz="4400" dirty="0">
              <a:solidFill>
                <a:schemeClr val="tx1"/>
              </a:solidFill>
              <a:latin typeface="Aptos Display" panose="020B0004020202020204" pitchFamily="34" charset="0"/>
            </a:endParaRPr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0CDBCDAF-802E-E820-6F64-04EB67D3AAB3}"/>
              </a:ext>
            </a:extLst>
          </p:cNvPr>
          <p:cNvSpPr/>
          <p:nvPr/>
        </p:nvSpPr>
        <p:spPr>
          <a:xfrm>
            <a:off x="1427480" y="1750568"/>
            <a:ext cx="2850894" cy="1828800"/>
          </a:xfrm>
          <a:prstGeom prst="rect">
            <a:avLst/>
          </a:prstGeom>
          <a:solidFill>
            <a:schemeClr val="tx2"/>
          </a:solidFill>
          <a:ln w="15240">
            <a:solidFill>
              <a:srgbClr val="2D8B8B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</p:sp>
      <p:pic>
        <p:nvPicPr>
          <p:cNvPr id="11" name="Image 0" descr="preencoded.png">
            <a:extLst>
              <a:ext uri="{FF2B5EF4-FFF2-40B4-BE49-F238E27FC236}">
                <a16:creationId xmlns:a16="http://schemas.microsoft.com/office/drawing/2014/main" id="{23326904-EF77-1DDB-F5C9-B5682FD6B1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7208" y="1860296"/>
            <a:ext cx="427634" cy="411480"/>
          </a:xfrm>
          <a:prstGeom prst="rect">
            <a:avLst/>
          </a:prstGeom>
          <a:solidFill>
            <a:schemeClr val="tx2"/>
          </a:solidFill>
        </p:spPr>
      </p:pic>
      <p:sp>
        <p:nvSpPr>
          <p:cNvPr id="12" name="Text 5">
            <a:extLst>
              <a:ext uri="{FF2B5EF4-FFF2-40B4-BE49-F238E27FC236}">
                <a16:creationId xmlns:a16="http://schemas.microsoft.com/office/drawing/2014/main" id="{2F16BFC5-3D80-052B-F4B5-2A7F35CD3311}"/>
              </a:ext>
            </a:extLst>
          </p:cNvPr>
          <p:cNvSpPr/>
          <p:nvPr/>
        </p:nvSpPr>
        <p:spPr>
          <a:xfrm>
            <a:off x="2070506" y="1842008"/>
            <a:ext cx="2089504" cy="4114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2060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~41%</a:t>
            </a:r>
            <a:endParaRPr lang="en-US" sz="1800" dirty="0">
              <a:solidFill>
                <a:srgbClr val="002060"/>
              </a:solidFill>
              <a:latin typeface="Aptos Display" panose="020B0004020202020204" pitchFamily="34" charset="0"/>
            </a:endParaRPr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07A8A0F5-295D-086A-46E1-6C25ABEFAF95}"/>
              </a:ext>
            </a:extLst>
          </p:cNvPr>
          <p:cNvSpPr/>
          <p:nvPr/>
        </p:nvSpPr>
        <p:spPr>
          <a:xfrm>
            <a:off x="1518920" y="2381504"/>
            <a:ext cx="2660834" cy="274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2060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Coal's Emission Share</a:t>
            </a:r>
            <a:endParaRPr lang="en-US" sz="1200" dirty="0">
              <a:solidFill>
                <a:srgbClr val="002060"/>
              </a:solidFill>
              <a:latin typeface="Aptos Display" panose="020B0004020202020204" pitchFamily="34" charset="0"/>
            </a:endParaRPr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A69767E4-1E69-FD1E-FB7A-EA87C616C3AD}"/>
              </a:ext>
            </a:extLst>
          </p:cNvPr>
          <p:cNvSpPr/>
          <p:nvPr/>
        </p:nvSpPr>
        <p:spPr>
          <a:xfrm>
            <a:off x="1518920" y="2610104"/>
            <a:ext cx="2660834" cy="877824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Coal is the single largest CO₂ source globally, driven by Asia-Pacific industrial growth.</a:t>
            </a:r>
            <a:endParaRPr lang="en-US" dirty="0">
              <a:solidFill>
                <a:schemeClr val="bg2">
                  <a:lumMod val="50000"/>
                </a:schemeClr>
              </a:solidFill>
              <a:latin typeface="Aptos Display" panose="020B0004020202020204" pitchFamily="34" charset="0"/>
            </a:endParaRPr>
          </a:p>
        </p:txBody>
      </p:sp>
      <p:sp>
        <p:nvSpPr>
          <p:cNvPr id="15" name="Shape 8">
            <a:extLst>
              <a:ext uri="{FF2B5EF4-FFF2-40B4-BE49-F238E27FC236}">
                <a16:creationId xmlns:a16="http://schemas.microsoft.com/office/drawing/2014/main" id="{819CCE7C-98F5-3455-D4C1-3464069FD7BD}"/>
              </a:ext>
            </a:extLst>
          </p:cNvPr>
          <p:cNvSpPr/>
          <p:nvPr/>
        </p:nvSpPr>
        <p:spPr>
          <a:xfrm>
            <a:off x="4670554" y="1750568"/>
            <a:ext cx="2850894" cy="1828800"/>
          </a:xfrm>
          <a:prstGeom prst="rect">
            <a:avLst/>
          </a:prstGeom>
          <a:solidFill>
            <a:schemeClr val="tx2"/>
          </a:solidFill>
          <a:ln w="15240">
            <a:solidFill>
              <a:srgbClr val="2D8B8B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</p:sp>
      <p:pic>
        <p:nvPicPr>
          <p:cNvPr id="16" name="Image 1" descr="preencoded.png">
            <a:extLst>
              <a:ext uri="{FF2B5EF4-FFF2-40B4-BE49-F238E27FC236}">
                <a16:creationId xmlns:a16="http://schemas.microsoft.com/office/drawing/2014/main" id="{88B2BD00-F8F9-88C0-B549-FDB0281DA3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1822" y="1860296"/>
            <a:ext cx="427634" cy="411480"/>
          </a:xfrm>
          <a:prstGeom prst="rect">
            <a:avLst/>
          </a:prstGeom>
          <a:solidFill>
            <a:schemeClr val="tx2"/>
          </a:solidFill>
        </p:spPr>
      </p:pic>
      <p:sp>
        <p:nvSpPr>
          <p:cNvPr id="17" name="Text 9">
            <a:extLst>
              <a:ext uri="{FF2B5EF4-FFF2-40B4-BE49-F238E27FC236}">
                <a16:creationId xmlns:a16="http://schemas.microsoft.com/office/drawing/2014/main" id="{74E92882-91D7-D858-98FA-7526719817EA}"/>
              </a:ext>
            </a:extLst>
          </p:cNvPr>
          <p:cNvSpPr/>
          <p:nvPr/>
        </p:nvSpPr>
        <p:spPr>
          <a:xfrm>
            <a:off x="5405120" y="1842008"/>
            <a:ext cx="2024888" cy="4114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2060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Top 3</a:t>
            </a:r>
            <a:endParaRPr lang="en-US" sz="1800" dirty="0">
              <a:solidFill>
                <a:srgbClr val="002060"/>
              </a:solidFill>
              <a:latin typeface="Aptos Display" panose="020B0004020202020204" pitchFamily="34" charset="0"/>
            </a:endParaRPr>
          </a:p>
        </p:txBody>
      </p:sp>
      <p:sp>
        <p:nvSpPr>
          <p:cNvPr id="18" name="Text 10">
            <a:extLst>
              <a:ext uri="{FF2B5EF4-FFF2-40B4-BE49-F238E27FC236}">
                <a16:creationId xmlns:a16="http://schemas.microsoft.com/office/drawing/2014/main" id="{4B388F33-7462-8D53-EDC4-CAC1AC896235}"/>
              </a:ext>
            </a:extLst>
          </p:cNvPr>
          <p:cNvSpPr/>
          <p:nvPr/>
        </p:nvSpPr>
        <p:spPr>
          <a:xfrm>
            <a:off x="4769174" y="2381504"/>
            <a:ext cx="2660834" cy="274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2060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Highest Emitters</a:t>
            </a:r>
            <a:endParaRPr lang="en-US" sz="1200" dirty="0">
              <a:solidFill>
                <a:srgbClr val="002060"/>
              </a:solidFill>
              <a:latin typeface="Aptos Display" panose="020B0004020202020204" pitchFamily="34" charset="0"/>
            </a:endParaRPr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BB857571-5F32-98E8-5F25-82502760D439}"/>
              </a:ext>
            </a:extLst>
          </p:cNvPr>
          <p:cNvSpPr/>
          <p:nvPr/>
        </p:nvSpPr>
        <p:spPr>
          <a:xfrm>
            <a:off x="4769174" y="2610104"/>
            <a:ext cx="2660834" cy="877824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chemeClr val="bg2">
                    <a:lumMod val="50000"/>
                  </a:schemeClr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China, USA &amp; India account for 50%+ of global emissions consistently across all recent years.</a:t>
            </a:r>
            <a:endParaRPr lang="en-US" sz="1350" dirty="0">
              <a:solidFill>
                <a:schemeClr val="bg2">
                  <a:lumMod val="50000"/>
                </a:schemeClr>
              </a:solidFill>
              <a:latin typeface="Aptos Display" panose="020B0004020202020204" pitchFamily="34" charset="0"/>
            </a:endParaRPr>
          </a:p>
        </p:txBody>
      </p:sp>
      <p:sp>
        <p:nvSpPr>
          <p:cNvPr id="20" name="Shape 12">
            <a:extLst>
              <a:ext uri="{FF2B5EF4-FFF2-40B4-BE49-F238E27FC236}">
                <a16:creationId xmlns:a16="http://schemas.microsoft.com/office/drawing/2014/main" id="{885CD746-2A5F-5B8F-26A1-08781FC5009F}"/>
              </a:ext>
            </a:extLst>
          </p:cNvPr>
          <p:cNvSpPr/>
          <p:nvPr/>
        </p:nvSpPr>
        <p:spPr>
          <a:xfrm>
            <a:off x="7913628" y="1735328"/>
            <a:ext cx="2850894" cy="1828800"/>
          </a:xfrm>
          <a:prstGeom prst="rect">
            <a:avLst/>
          </a:prstGeom>
          <a:solidFill>
            <a:schemeClr val="tx2"/>
          </a:solidFill>
          <a:ln w="15240">
            <a:solidFill>
              <a:srgbClr val="2D8B8B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</p:sp>
      <p:pic>
        <p:nvPicPr>
          <p:cNvPr id="21" name="Image 2" descr="preencoded.png">
            <a:extLst>
              <a:ext uri="{FF2B5EF4-FFF2-40B4-BE49-F238E27FC236}">
                <a16:creationId xmlns:a16="http://schemas.microsoft.com/office/drawing/2014/main" id="{5BE44C73-0A10-B8C6-5FBD-CFE73F1779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4896" y="1845056"/>
            <a:ext cx="427634" cy="411480"/>
          </a:xfrm>
          <a:prstGeom prst="rect">
            <a:avLst/>
          </a:prstGeom>
          <a:solidFill>
            <a:schemeClr val="tx2"/>
          </a:solidFill>
        </p:spPr>
      </p:pic>
      <p:sp>
        <p:nvSpPr>
          <p:cNvPr id="22" name="Text 13">
            <a:extLst>
              <a:ext uri="{FF2B5EF4-FFF2-40B4-BE49-F238E27FC236}">
                <a16:creationId xmlns:a16="http://schemas.microsoft.com/office/drawing/2014/main" id="{23C36F24-01F2-CCD8-FA12-D20919D31936}"/>
              </a:ext>
            </a:extLst>
          </p:cNvPr>
          <p:cNvSpPr/>
          <p:nvPr/>
        </p:nvSpPr>
        <p:spPr>
          <a:xfrm>
            <a:off x="8636000" y="1826768"/>
            <a:ext cx="2037082" cy="4114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2060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↓ Trend</a:t>
            </a:r>
            <a:endParaRPr lang="en-US" sz="1800" dirty="0">
              <a:solidFill>
                <a:srgbClr val="002060"/>
              </a:solidFill>
              <a:latin typeface="Aptos Display" panose="020B0004020202020204" pitchFamily="34" charset="0"/>
            </a:endParaRPr>
          </a:p>
        </p:txBody>
      </p:sp>
      <p:sp>
        <p:nvSpPr>
          <p:cNvPr id="23" name="Text 14">
            <a:extLst>
              <a:ext uri="{FF2B5EF4-FFF2-40B4-BE49-F238E27FC236}">
                <a16:creationId xmlns:a16="http://schemas.microsoft.com/office/drawing/2014/main" id="{C72167C7-8248-4B76-D524-21E8D03CD083}"/>
              </a:ext>
            </a:extLst>
          </p:cNvPr>
          <p:cNvSpPr/>
          <p:nvPr/>
        </p:nvSpPr>
        <p:spPr>
          <a:xfrm>
            <a:off x="8012248" y="2366264"/>
            <a:ext cx="2660834" cy="274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2060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European Per-Capita</a:t>
            </a:r>
            <a:endParaRPr lang="en-US" sz="1200" dirty="0">
              <a:solidFill>
                <a:srgbClr val="002060"/>
              </a:solidFill>
              <a:latin typeface="Aptos Display" panose="020B0004020202020204" pitchFamily="34" charset="0"/>
            </a:endParaRPr>
          </a:p>
        </p:txBody>
      </p:sp>
      <p:sp>
        <p:nvSpPr>
          <p:cNvPr id="24" name="Text 15">
            <a:extLst>
              <a:ext uri="{FF2B5EF4-FFF2-40B4-BE49-F238E27FC236}">
                <a16:creationId xmlns:a16="http://schemas.microsoft.com/office/drawing/2014/main" id="{095AC2F1-F3F8-C228-B146-1A5AA718B8D7}"/>
              </a:ext>
            </a:extLst>
          </p:cNvPr>
          <p:cNvSpPr/>
          <p:nvPr/>
        </p:nvSpPr>
        <p:spPr>
          <a:xfrm>
            <a:off x="8012248" y="2594864"/>
            <a:ext cx="2660834" cy="877824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Several EU countries steadily reduced per-capita emissions despite continued GDP growth.</a:t>
            </a:r>
            <a:endParaRPr lang="en-US" dirty="0">
              <a:solidFill>
                <a:schemeClr val="bg2">
                  <a:lumMod val="50000"/>
                </a:schemeClr>
              </a:solidFill>
              <a:latin typeface="Aptos Display" panose="020B0004020202020204" pitchFamily="34" charset="0"/>
            </a:endParaRPr>
          </a:p>
        </p:txBody>
      </p:sp>
      <p:sp>
        <p:nvSpPr>
          <p:cNvPr id="25" name="Shape 16">
            <a:extLst>
              <a:ext uri="{FF2B5EF4-FFF2-40B4-BE49-F238E27FC236}">
                <a16:creationId xmlns:a16="http://schemas.microsoft.com/office/drawing/2014/main" id="{3E1CB668-2F6D-ABEE-F260-A0D921E473BA}"/>
              </a:ext>
            </a:extLst>
          </p:cNvPr>
          <p:cNvSpPr/>
          <p:nvPr/>
        </p:nvSpPr>
        <p:spPr>
          <a:xfrm>
            <a:off x="1427480" y="4057904"/>
            <a:ext cx="2850894" cy="1828800"/>
          </a:xfrm>
          <a:prstGeom prst="rect">
            <a:avLst/>
          </a:prstGeom>
          <a:solidFill>
            <a:schemeClr val="tx2"/>
          </a:solidFill>
          <a:ln w="15240">
            <a:solidFill>
              <a:srgbClr val="2D8B8B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</p:sp>
      <p:pic>
        <p:nvPicPr>
          <p:cNvPr id="26" name="Image 3" descr="preencoded.png">
            <a:extLst>
              <a:ext uri="{FF2B5EF4-FFF2-40B4-BE49-F238E27FC236}">
                <a16:creationId xmlns:a16="http://schemas.microsoft.com/office/drawing/2014/main" id="{6F2244C3-7FCF-D475-4FAB-B893AA1C18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37208" y="4167632"/>
            <a:ext cx="427634" cy="411480"/>
          </a:xfrm>
          <a:prstGeom prst="rect">
            <a:avLst/>
          </a:prstGeom>
          <a:solidFill>
            <a:schemeClr val="tx2"/>
          </a:solidFill>
        </p:spPr>
      </p:pic>
      <p:sp>
        <p:nvSpPr>
          <p:cNvPr id="27" name="Text 17">
            <a:extLst>
              <a:ext uri="{FF2B5EF4-FFF2-40B4-BE49-F238E27FC236}">
                <a16:creationId xmlns:a16="http://schemas.microsoft.com/office/drawing/2014/main" id="{ED92D459-A8A0-E46C-AA5D-D2CF454495DD}"/>
              </a:ext>
            </a:extLst>
          </p:cNvPr>
          <p:cNvSpPr/>
          <p:nvPr/>
        </p:nvSpPr>
        <p:spPr>
          <a:xfrm>
            <a:off x="2058312" y="4149344"/>
            <a:ext cx="2101698" cy="4114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2060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2020 Dip</a:t>
            </a:r>
            <a:endParaRPr lang="en-US" sz="1800" dirty="0">
              <a:solidFill>
                <a:srgbClr val="002060"/>
              </a:solidFill>
              <a:latin typeface="Aptos Display" panose="020B0004020202020204" pitchFamily="34" charset="0"/>
            </a:endParaRPr>
          </a:p>
        </p:txBody>
      </p:sp>
      <p:sp>
        <p:nvSpPr>
          <p:cNvPr id="28" name="Text 18">
            <a:extLst>
              <a:ext uri="{FF2B5EF4-FFF2-40B4-BE49-F238E27FC236}">
                <a16:creationId xmlns:a16="http://schemas.microsoft.com/office/drawing/2014/main" id="{5E9A95DB-D7DD-4969-3C60-35F05C506E82}"/>
              </a:ext>
            </a:extLst>
          </p:cNvPr>
          <p:cNvSpPr/>
          <p:nvPr/>
        </p:nvSpPr>
        <p:spPr>
          <a:xfrm>
            <a:off x="1518920" y="4688840"/>
            <a:ext cx="2660834" cy="274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2060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COVID Impact Visible</a:t>
            </a:r>
            <a:endParaRPr lang="en-US" sz="1200" dirty="0">
              <a:solidFill>
                <a:srgbClr val="002060"/>
              </a:solidFill>
              <a:latin typeface="Aptos Display" panose="020B0004020202020204" pitchFamily="34" charset="0"/>
            </a:endParaRPr>
          </a:p>
        </p:txBody>
      </p:sp>
      <p:sp>
        <p:nvSpPr>
          <p:cNvPr id="29" name="Text 19">
            <a:extLst>
              <a:ext uri="{FF2B5EF4-FFF2-40B4-BE49-F238E27FC236}">
                <a16:creationId xmlns:a16="http://schemas.microsoft.com/office/drawing/2014/main" id="{F6DBBA70-49CA-E51D-82DB-2123B3DEB109}"/>
              </a:ext>
            </a:extLst>
          </p:cNvPr>
          <p:cNvSpPr/>
          <p:nvPr/>
        </p:nvSpPr>
        <p:spPr>
          <a:xfrm>
            <a:off x="1518920" y="4917440"/>
            <a:ext cx="2660834" cy="877824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Measurable drop in consumption &amp; emissions in 2020 — sharp recovery by 2022 confirmed.</a:t>
            </a:r>
            <a:endParaRPr lang="en-US" dirty="0">
              <a:solidFill>
                <a:schemeClr val="bg2">
                  <a:lumMod val="50000"/>
                </a:schemeClr>
              </a:solidFill>
              <a:latin typeface="Aptos Display" panose="020B0004020202020204" pitchFamily="34" charset="0"/>
            </a:endParaRPr>
          </a:p>
        </p:txBody>
      </p:sp>
      <p:sp>
        <p:nvSpPr>
          <p:cNvPr id="30" name="Shape 20">
            <a:extLst>
              <a:ext uri="{FF2B5EF4-FFF2-40B4-BE49-F238E27FC236}">
                <a16:creationId xmlns:a16="http://schemas.microsoft.com/office/drawing/2014/main" id="{B2294466-0A6E-9B2E-C769-8ECB12297B2E}"/>
              </a:ext>
            </a:extLst>
          </p:cNvPr>
          <p:cNvSpPr/>
          <p:nvPr/>
        </p:nvSpPr>
        <p:spPr>
          <a:xfrm>
            <a:off x="4670554" y="4057904"/>
            <a:ext cx="2850894" cy="1828800"/>
          </a:xfrm>
          <a:prstGeom prst="rect">
            <a:avLst/>
          </a:prstGeom>
          <a:solidFill>
            <a:schemeClr val="tx2"/>
          </a:solidFill>
          <a:ln w="15240">
            <a:solidFill>
              <a:srgbClr val="2D8B8B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</p:sp>
      <p:pic>
        <p:nvPicPr>
          <p:cNvPr id="31" name="Image 4" descr="preencoded.png">
            <a:extLst>
              <a:ext uri="{FF2B5EF4-FFF2-40B4-BE49-F238E27FC236}">
                <a16:creationId xmlns:a16="http://schemas.microsoft.com/office/drawing/2014/main" id="{774C178E-5343-C585-C91C-DCB5E7E265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71822" y="4167632"/>
            <a:ext cx="427634" cy="411480"/>
          </a:xfrm>
          <a:prstGeom prst="rect">
            <a:avLst/>
          </a:prstGeom>
          <a:solidFill>
            <a:schemeClr val="tx2"/>
          </a:solidFill>
        </p:spPr>
      </p:pic>
      <p:sp>
        <p:nvSpPr>
          <p:cNvPr id="32" name="Text 21">
            <a:extLst>
              <a:ext uri="{FF2B5EF4-FFF2-40B4-BE49-F238E27FC236}">
                <a16:creationId xmlns:a16="http://schemas.microsoft.com/office/drawing/2014/main" id="{7C0CE926-31B0-D719-BDC6-DE1930D88A4B}"/>
              </a:ext>
            </a:extLst>
          </p:cNvPr>
          <p:cNvSpPr/>
          <p:nvPr/>
        </p:nvSpPr>
        <p:spPr>
          <a:xfrm>
            <a:off x="5405120" y="4149344"/>
            <a:ext cx="2024888" cy="4114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2060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5×+</a:t>
            </a:r>
            <a:endParaRPr lang="en-US" sz="1800" dirty="0">
              <a:solidFill>
                <a:srgbClr val="002060"/>
              </a:solidFill>
              <a:latin typeface="Aptos Display" panose="020B0004020202020204" pitchFamily="34" charset="0"/>
            </a:endParaRPr>
          </a:p>
        </p:txBody>
      </p:sp>
      <p:sp>
        <p:nvSpPr>
          <p:cNvPr id="33" name="Text 22">
            <a:extLst>
              <a:ext uri="{FF2B5EF4-FFF2-40B4-BE49-F238E27FC236}">
                <a16:creationId xmlns:a16="http://schemas.microsoft.com/office/drawing/2014/main" id="{8A246C4D-EDA4-D034-3BB0-2FA215714D00}"/>
              </a:ext>
            </a:extLst>
          </p:cNvPr>
          <p:cNvSpPr/>
          <p:nvPr/>
        </p:nvSpPr>
        <p:spPr>
          <a:xfrm>
            <a:off x="4769174" y="4688840"/>
            <a:ext cx="2660834" cy="274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2060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Production &gt; Consumption</a:t>
            </a:r>
            <a:endParaRPr lang="en-US" sz="1200" dirty="0">
              <a:solidFill>
                <a:srgbClr val="002060"/>
              </a:solidFill>
              <a:latin typeface="Aptos Display" panose="020B0004020202020204" pitchFamily="34" charset="0"/>
            </a:endParaRPr>
          </a:p>
        </p:txBody>
      </p:sp>
      <p:sp>
        <p:nvSpPr>
          <p:cNvPr id="34" name="Text 23">
            <a:extLst>
              <a:ext uri="{FF2B5EF4-FFF2-40B4-BE49-F238E27FC236}">
                <a16:creationId xmlns:a16="http://schemas.microsoft.com/office/drawing/2014/main" id="{FCF47DFC-25BF-CACB-3039-BE95E4334B01}"/>
              </a:ext>
            </a:extLst>
          </p:cNvPr>
          <p:cNvSpPr/>
          <p:nvPr/>
        </p:nvSpPr>
        <p:spPr>
          <a:xfrm>
            <a:off x="4769174" y="4917440"/>
            <a:ext cx="2660834" cy="877824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Major oil-producing nations export far more than they consume domestically.</a:t>
            </a:r>
            <a:endParaRPr lang="en-US" dirty="0">
              <a:solidFill>
                <a:schemeClr val="bg2">
                  <a:lumMod val="50000"/>
                </a:schemeClr>
              </a:solidFill>
              <a:latin typeface="Aptos Display" panose="020B0004020202020204" pitchFamily="34" charset="0"/>
            </a:endParaRPr>
          </a:p>
        </p:txBody>
      </p:sp>
      <p:sp>
        <p:nvSpPr>
          <p:cNvPr id="35" name="Shape 24">
            <a:extLst>
              <a:ext uri="{FF2B5EF4-FFF2-40B4-BE49-F238E27FC236}">
                <a16:creationId xmlns:a16="http://schemas.microsoft.com/office/drawing/2014/main" id="{64ECD8E0-6EED-7815-B225-61E8D1B0D828}"/>
              </a:ext>
            </a:extLst>
          </p:cNvPr>
          <p:cNvSpPr/>
          <p:nvPr/>
        </p:nvSpPr>
        <p:spPr>
          <a:xfrm>
            <a:off x="7913628" y="4042664"/>
            <a:ext cx="2850894" cy="1828800"/>
          </a:xfrm>
          <a:prstGeom prst="rect">
            <a:avLst/>
          </a:prstGeom>
          <a:solidFill>
            <a:schemeClr val="tx2"/>
          </a:solidFill>
          <a:ln w="15240">
            <a:solidFill>
              <a:srgbClr val="2D8B8B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</p:sp>
      <p:pic>
        <p:nvPicPr>
          <p:cNvPr id="36" name="Image 5" descr="preencoded.png">
            <a:extLst>
              <a:ext uri="{FF2B5EF4-FFF2-40B4-BE49-F238E27FC236}">
                <a16:creationId xmlns:a16="http://schemas.microsoft.com/office/drawing/2014/main" id="{B5452A25-34DC-7122-28FB-6C2D1806A61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4896" y="4152392"/>
            <a:ext cx="427634" cy="411480"/>
          </a:xfrm>
          <a:prstGeom prst="rect">
            <a:avLst/>
          </a:prstGeom>
          <a:solidFill>
            <a:schemeClr val="tx2"/>
          </a:solidFill>
        </p:spPr>
      </p:pic>
      <p:sp>
        <p:nvSpPr>
          <p:cNvPr id="37" name="Text 25">
            <a:extLst>
              <a:ext uri="{FF2B5EF4-FFF2-40B4-BE49-F238E27FC236}">
                <a16:creationId xmlns:a16="http://schemas.microsoft.com/office/drawing/2014/main" id="{10F64659-FB4C-13B2-6CB5-119F3909D9DB}"/>
              </a:ext>
            </a:extLst>
          </p:cNvPr>
          <p:cNvSpPr/>
          <p:nvPr/>
        </p:nvSpPr>
        <p:spPr>
          <a:xfrm>
            <a:off x="8636000" y="4134104"/>
            <a:ext cx="2037082" cy="4114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2060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GDP ≠</a:t>
            </a:r>
            <a:endParaRPr lang="en-US" sz="1800" dirty="0">
              <a:solidFill>
                <a:srgbClr val="002060"/>
              </a:solidFill>
              <a:latin typeface="Aptos Display" panose="020B0004020202020204" pitchFamily="34" charset="0"/>
            </a:endParaRPr>
          </a:p>
        </p:txBody>
      </p:sp>
      <p:sp>
        <p:nvSpPr>
          <p:cNvPr id="38" name="Text 26">
            <a:extLst>
              <a:ext uri="{FF2B5EF4-FFF2-40B4-BE49-F238E27FC236}">
                <a16:creationId xmlns:a16="http://schemas.microsoft.com/office/drawing/2014/main" id="{3364627C-A4B3-602E-04DB-8DC7F95E2D00}"/>
              </a:ext>
            </a:extLst>
          </p:cNvPr>
          <p:cNvSpPr/>
          <p:nvPr/>
        </p:nvSpPr>
        <p:spPr>
          <a:xfrm>
            <a:off x="8012248" y="4673600"/>
            <a:ext cx="2660834" cy="274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2060"/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Decoupling Observed</a:t>
            </a:r>
            <a:endParaRPr lang="en-US" sz="1200" dirty="0">
              <a:solidFill>
                <a:srgbClr val="002060"/>
              </a:solidFill>
              <a:latin typeface="Aptos Display" panose="020B0004020202020204" pitchFamily="34" charset="0"/>
            </a:endParaRPr>
          </a:p>
        </p:txBody>
      </p:sp>
      <p:sp>
        <p:nvSpPr>
          <p:cNvPr id="39" name="Text 27">
            <a:extLst>
              <a:ext uri="{FF2B5EF4-FFF2-40B4-BE49-F238E27FC236}">
                <a16:creationId xmlns:a16="http://schemas.microsoft.com/office/drawing/2014/main" id="{025E1D11-E0E4-94AB-78C0-09FE1E5230A7}"/>
              </a:ext>
            </a:extLst>
          </p:cNvPr>
          <p:cNvSpPr/>
          <p:nvPr/>
        </p:nvSpPr>
        <p:spPr>
          <a:xfrm>
            <a:off x="8012248" y="4902200"/>
            <a:ext cx="2660834" cy="877824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Aptos Display" panose="020B0004020202020204" pitchFamily="34" charset="0"/>
                <a:ea typeface="DejaVu Sans" pitchFamily="34" charset="-122"/>
                <a:cs typeface="DejaVu Sans" pitchFamily="34" charset="-120"/>
              </a:rPr>
              <a:t>High-GDP economies (Germany, Japan) show falling emission-to-GDP ratios — growth decoupling.</a:t>
            </a:r>
            <a:endParaRPr lang="en-US" dirty="0">
              <a:solidFill>
                <a:schemeClr val="bg2">
                  <a:lumMod val="50000"/>
                </a:schemeClr>
              </a:solidFill>
              <a:latin typeface="Aptos Display" panose="020B0004020202020204" pitchFamily="34" charset="0"/>
            </a:endParaRPr>
          </a:p>
        </p:txBody>
      </p:sp>
      <p:sp>
        <p:nvSpPr>
          <p:cNvPr id="40" name="Shape 0">
            <a:extLst>
              <a:ext uri="{FF2B5EF4-FFF2-40B4-BE49-F238E27FC236}">
                <a16:creationId xmlns:a16="http://schemas.microsoft.com/office/drawing/2014/main" id="{26145D4C-BB6D-1EC3-04FC-6B36E2AE2F95}"/>
              </a:ext>
            </a:extLst>
          </p:cNvPr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FF0000"/>
          </a:solidFill>
          <a:ln w="1270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38835484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81760" y="1789789"/>
            <a:ext cx="4465643" cy="2834317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5"/>
          <p:cNvSpPr txBox="1"/>
          <p:nvPr/>
        </p:nvSpPr>
        <p:spPr>
          <a:xfrm>
            <a:off x="1244600" y="2834640"/>
            <a:ext cx="4465642" cy="1229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4400"/>
              <a:buFont typeface="Libre Baskerville"/>
              <a:buNone/>
            </a:pPr>
            <a:r>
              <a:rPr lang="en-IN" sz="4400" b="0" i="0" u="none" strike="noStrike" cap="none" dirty="0">
                <a:solidFill>
                  <a:srgbClr val="C0000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THANK YOU!!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398</TotalTime>
  <Words>1450</Words>
  <Application>Microsoft Office PowerPoint</Application>
  <PresentationFormat>Widescreen</PresentationFormat>
  <Paragraphs>209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 Display</vt:lpstr>
      <vt:lpstr>Libre Baskerville</vt:lpstr>
      <vt:lpstr>Arial</vt:lpstr>
      <vt:lpstr>Courier New</vt:lpstr>
      <vt:lpstr>Calibri</vt:lpstr>
      <vt:lpstr>Office Theme</vt:lpstr>
      <vt:lpstr>PowerPoint Presentation</vt:lpstr>
      <vt:lpstr>Project Overview &amp; Objectives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Raghu Ram Aduri</dc:creator>
  <cp:lastModifiedBy>Sushanth Bongarala</cp:lastModifiedBy>
  <cp:revision>6</cp:revision>
  <dcterms:created xsi:type="dcterms:W3CDTF">2021-02-16T05:19:01Z</dcterms:created>
  <dcterms:modified xsi:type="dcterms:W3CDTF">2026-04-14T11:31:10Z</dcterms:modified>
</cp:coreProperties>
</file>